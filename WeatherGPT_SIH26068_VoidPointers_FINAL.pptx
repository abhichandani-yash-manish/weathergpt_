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 · SIH26068 · WeatherGPT · Team Void Pointers (118709)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hyperlink" Target="https://youtu.be/NVT6EnklEVQ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14.png"/><Relationship Id="rId17" Type="http://schemas.openxmlformats.org/officeDocument/2006/relationships/image" Target="../media/image17.png"/><Relationship Id="rId18" Type="http://schemas.openxmlformats.org/officeDocument/2006/relationships/image" Target="../media/image34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35.png"/><Relationship Id="rId22" Type="http://schemas.openxmlformats.org/officeDocument/2006/relationships/image" Target="../media/image13.png"/><Relationship Id="rId23" Type="http://schemas.openxmlformats.org/officeDocument/2006/relationships/image" Target="../media/image36.png"/><Relationship Id="rId24" Type="http://schemas.openxmlformats.org/officeDocument/2006/relationships/image" Target="../media/image37.png"/><Relationship Id="rId25" Type="http://schemas.openxmlformats.org/officeDocument/2006/relationships/image" Target="../media/image38.png"/><Relationship Id="rId26" Type="http://schemas.openxmlformats.org/officeDocument/2006/relationships/image" Target="../media/image12.png"/><Relationship Id="rId27" Type="http://schemas.openxmlformats.org/officeDocument/2006/relationships/image" Target="../media/image7.png"/><Relationship Id="rId28" Type="http://schemas.openxmlformats.org/officeDocument/2006/relationships/image" Target="../media/image39.png"/><Relationship Id="rId29" Type="http://schemas.openxmlformats.org/officeDocument/2006/relationships/image" Target="../media/image40.png"/><Relationship Id="rId30" Type="http://schemas.openxmlformats.org/officeDocument/2006/relationships/image" Target="../media/image41.png"/><Relationship Id="rId31" Type="http://schemas.openxmlformats.org/officeDocument/2006/relationships/image" Target="../media/image42.png"/><Relationship Id="rId32" Type="http://schemas.openxmlformats.org/officeDocument/2006/relationships/image" Target="../media/image43.png"/><Relationship Id="rId33" Type="http://schemas.openxmlformats.org/officeDocument/2006/relationships/image" Target="../media/image44.png"/><Relationship Id="rId34" Type="http://schemas.openxmlformats.org/officeDocument/2006/relationships/image" Target="../media/image45.png"/><Relationship Id="rId35" Type="http://schemas.openxmlformats.org/officeDocument/2006/relationships/image" Target="../media/image46.png"/><Relationship Id="rId36" Type="http://schemas.openxmlformats.org/officeDocument/2006/relationships/image" Target="../media/image47.png"/><Relationship Id="rId37" Type="http://schemas.openxmlformats.org/officeDocument/2006/relationships/image" Target="../media/image48.png"/><Relationship Id="rId38" Type="http://schemas.openxmlformats.org/officeDocument/2006/relationships/image" Target="../media/image49.png"/><Relationship Id="rId39" Type="http://schemas.openxmlformats.org/officeDocument/2006/relationships/image" Target="../media/image5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image" Target="../media/image5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cseindia.org/climate-india-2025-an-assessment-of-extreme-weather-events-12927" TargetMode="External"/><Relationship Id="rId6" Type="http://schemas.openxmlformats.org/officeDocument/2006/relationships/hyperlink" Target="https://rsmcnewdelhi.imd.gov.in/uploads/survey/NCAER2020.pdf" TargetMode="External"/><Relationship Id="rId7" Type="http://schemas.openxmlformats.org/officeDocument/2006/relationships/image" Target="../media/image20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60.png"/><Relationship Id="rId12" Type="http://schemas.openxmlformats.org/officeDocument/2006/relationships/image" Target="../media/image27.png"/><Relationship Id="rId13" Type="http://schemas.openxmlformats.org/officeDocument/2006/relationships/image" Target="../media/image61.png"/><Relationship Id="rId14" Type="http://schemas.openxmlformats.org/officeDocument/2006/relationships/image" Target="../media/image28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17.png"/><Relationship Id="rId19" Type="http://schemas.openxmlformats.org/officeDocument/2006/relationships/image" Target="../media/image65.png"/><Relationship Id="rId20" Type="http://schemas.openxmlformats.org/officeDocument/2006/relationships/image" Target="../media/image6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5.png"/><Relationship Id="rId8" Type="http://schemas.openxmlformats.org/officeDocument/2006/relationships/hyperlink" Target="https://play.google.com/store/apps/details?id=com.imd.masuam" TargetMode="External"/><Relationship Id="rId9" Type="http://schemas.openxmlformats.org/officeDocument/2006/relationships/hyperlink" Target="https://play.google.com/store/apps/details?id=com.aas.meghdoot" TargetMode="External"/><Relationship Id="rId10" Type="http://schemas.openxmlformats.org/officeDocument/2006/relationships/hyperlink" Target="https://mausamgram.imd.gov.in/" TargetMode="External"/><Relationship Id="rId11" Type="http://schemas.openxmlformats.org/officeDocument/2006/relationships/hyperlink" Target="https://sih.gov.in/sih2026PS" TargetMode="External"/><Relationship Id="rId12" Type="http://schemas.openxmlformats.org/officeDocument/2006/relationships/hyperlink" Target="https://mausam.imd.gov.in" TargetMode="External"/><Relationship Id="rId13" Type="http://schemas.openxmlformats.org/officeDocument/2006/relationships/hyperlink" Target="https://reactjs.imd.gov.in/geoserver" TargetMode="External"/><Relationship Id="rId14" Type="http://schemas.openxmlformats.org/officeDocument/2006/relationships/hyperlink" Target="https://www.pib.gov.in/PressReleasePage.aspx?PRID=2054427" TargetMode="External"/><Relationship Id="rId15" Type="http://schemas.openxmlformats.org/officeDocument/2006/relationships/hyperlink" Target="https://community.wmo.int/site/knowledge-hub/programmes-and-initiatives/wmo-information-system-wis/wis2-overview" TargetMode="External"/><Relationship Id="rId16" Type="http://schemas.openxmlformats.org/officeDocument/2006/relationships/hyperlink" Target="https://sachet.ndma.gov.in" TargetMode="External"/><Relationship Id="rId17" Type="http://schemas.openxmlformats.org/officeDocument/2006/relationships/hyperlink" Target="https://dsp.imdpune.gov.in" TargetMode="External"/><Relationship Id="rId18" Type="http://schemas.openxmlformats.org/officeDocument/2006/relationships/hyperlink" Target="https://www.data.gov.in" TargetMode="External"/><Relationship Id="rId19" Type="http://schemas.openxmlformats.org/officeDocument/2006/relationships/hyperlink" Target="https://open-meteo.com" TargetMode="External"/><Relationship Id="rId20" Type="http://schemas.openxmlformats.org/officeDocument/2006/relationships/hyperlink" Target="https://arxiv.org/abs/2005.11401" TargetMode="External"/><Relationship Id="rId21" Type="http://schemas.openxmlformats.org/officeDocument/2006/relationships/hyperlink" Target="https://arxiv.org/abs/2202.03629" TargetMode="External"/><Relationship Id="rId22" Type="http://schemas.openxmlformats.org/officeDocument/2006/relationships/hyperlink" Target="https://rsmcnewdelhi.imd.gov.in/uploads/survey/NCAER2020.pdf" TargetMode="External"/><Relationship Id="rId23" Type="http://schemas.openxmlformats.org/officeDocument/2006/relationships/hyperlink" Target="https://www.cseindia.org/climate-india-2025-an-assessment-of-extreme-weather-events-12927" TargetMode="External"/><Relationship Id="rId24" Type="http://schemas.openxmlformats.org/officeDocument/2006/relationships/hyperlink" Target="https://www.sarvam.ai/models" TargetMode="External"/><Relationship Id="rId25" Type="http://schemas.openxmlformats.org/officeDocument/2006/relationships/hyperlink" Target="https://indiaai.gov.in" TargetMode="External"/><Relationship Id="rId26" Type="http://schemas.openxmlformats.org/officeDocument/2006/relationships/image" Target="../media/image22.png"/><Relationship Id="rId27" Type="http://schemas.openxmlformats.org/officeDocument/2006/relationships/hyperlink" Target="https://github.com/Abhichandani-Yash-Manish/WeatherGPT_" TargetMode="External"/><Relationship Id="rId28" Type="http://schemas.openxmlformats.org/officeDocument/2006/relationships/hyperlink" Target="https://youtu.be/NVT6EnklEV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11680"/>
            <a:ext cx="5924550" cy="365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endParaRPr lang="en-US" dirty="0"/>
          </a:p>
          <a:p>
            <a:pPr marL="285750" indent="-285750" algn="l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SIH26068</a:t>
            </a:r>
          </a:p>
          <a:p>
            <a:pPr marL="285750" indent="-285750" algn="l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WeatherGPT: Conversational AI for Weather Forecasting, Alerts, and Climate Information</a:t>
            </a:r>
          </a:p>
          <a:p>
            <a:pPr marL="285750" indent="-285750" algn="l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Disaster Management</a:t>
            </a:r>
          </a:p>
          <a:p>
            <a:pPr marL="285750" indent="-285750" algn="l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l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ID- 118709</a:t>
            </a:r>
          </a:p>
          <a:p>
            <a:pPr marL="285750" indent="-285750" algn="l">
              <a:lnSpc>
                <a:spcPct val="108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Name- Void Pointers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WeatherGPT app logo: a sun at its meridian above the horiz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632704"/>
            <a:ext cx="658368" cy="6583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53312" y="5623560"/>
            <a:ext cx="5120640" cy="6858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F6E9A"/>
                </a:solidFill>
                <a:latin typeface="Times New Roman"/>
              </a:rPr>
              <a:t>WeatherGPT</a:t>
            </a:r>
            <a:r>
              <a:rPr sz="1700" b="1" i="0">
                <a:solidFill>
                  <a:srgbClr val="0B2239"/>
                </a:solidFill>
                <a:latin typeface="Times New Roman"/>
              </a:rPr>
              <a:t>: ask the sky, trust the answer.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1">
                <a:solidFill>
                  <a:srgbClr val="55666E"/>
                </a:solidFill>
                <a:latin typeface="Arial"/>
              </a:rPr>
              <a:t>IMD's forecasts in every Indian language, answered from servers in India.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02920" y="18288"/>
            <a:ext cx="10972800" cy="713232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WEATHERGPT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651760" y="6356353"/>
            <a:ext cx="7223760" cy="365125"/>
          </a:xfrm>
        </p:spPr>
        <p:txBody>
          <a:bodyPr wrap="none"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 · SIH26068 · WeatherGPT · Team Void Pointers (118709)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/>
          <a:lstStyle/>
          <a:p>
            <a:pPr algn="ctr"/>
            <a:r>
              <a:rPr lang="en-US" dirty="0" sz="1200"/>
              <a:t>Void Pointers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WeatherGPT logo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428232"/>
            <a:ext cx="334959" cy="219456"/>
          </a:xfrm>
          <a:prstGeom prst="rect">
            <a:avLst/>
          </a:prstGeom>
        </p:spPr>
      </p:pic>
      <p:pic>
        <p:nvPicPr>
          <p:cNvPr id="15363" name="Picture 15362" descr="WeatherGPT app logo: a sun at its meridian above the horiz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18872"/>
            <a:ext cx="512064" cy="512064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1737360" y="676656"/>
            <a:ext cx="7955279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0B2239"/>
                </a:solidFill>
                <a:latin typeface="Times New Roman"/>
              </a:rPr>
              <a:t>IMD's forecasts, in your language.</a:t>
            </a:r>
            <a:r>
              <a:rPr sz="1500" b="0" i="0">
                <a:solidFill>
                  <a:srgbClr val="0B2239"/>
                </a:solidFill>
                <a:latin typeface="Times New Roman"/>
              </a:rPr>
              <a:t>  </a:t>
            </a:r>
            <a:r>
              <a:rPr sz="1500" b="1" i="0">
                <a:solidFill>
                  <a:srgbClr val="0A4F70"/>
                </a:solidFill>
                <a:latin typeface="Times New Roman"/>
              </a:rPr>
              <a:t>Every number comes with a receipt.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274320" y="1097280"/>
            <a:ext cx="960120" cy="640080"/>
          </a:xfrm>
          <a:prstGeom prst="roundRect">
            <a:avLst>
              <a:gd name="adj" fmla="val 14285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C766"/>
                </a:solidFill>
                <a:latin typeface="Times New Roman"/>
              </a:rPr>
              <a:t>How it addresses the problem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1307592" y="1097280"/>
            <a:ext cx="1627632" cy="640080"/>
          </a:xfrm>
          <a:prstGeom prst="roundRect">
            <a:avLst>
              <a:gd name="adj" fmla="val 14285"/>
            </a:avLst>
          </a:prstGeom>
          <a:solidFill>
            <a:srgbClr val="FDE9E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67" name="Oval 15366"/>
          <p:cNvSpPr/>
          <p:nvPr/>
        </p:nvSpPr>
        <p:spPr>
          <a:xfrm>
            <a:off x="1353312" y="1152144"/>
            <a:ext cx="201168" cy="201168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68" name="Picture 15367" descr="no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7627" y="1206459"/>
            <a:ext cx="92537" cy="92537"/>
          </a:xfrm>
          <a:prstGeom prst="rect">
            <a:avLst/>
          </a:prstGeom>
        </p:spPr>
      </p:pic>
      <p:sp>
        <p:nvSpPr>
          <p:cNvPr id="15369" name="TextBox 15368"/>
          <p:cNvSpPr txBox="1"/>
          <p:nvPr/>
        </p:nvSpPr>
        <p:spPr>
          <a:xfrm>
            <a:off x="1581912" y="1097280"/>
            <a:ext cx="1335024" cy="6400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Weather data is scattered across portals, bulletins, satellite products &amp; forecast systems</a:t>
            </a:r>
          </a:p>
        </p:txBody>
      </p:sp>
      <p:sp>
        <p:nvSpPr>
          <p:cNvPr id="15370" name="Isosceles Triangle 15369"/>
          <p:cNvSpPr/>
          <p:nvPr/>
        </p:nvSpPr>
        <p:spPr>
          <a:xfrm rot="5400000">
            <a:off x="2953512" y="1353311"/>
            <a:ext cx="128016" cy="128016"/>
          </a:xfrm>
          <a:prstGeom prst="triangle">
            <a:avLst/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1" name="Rounded Rectangle 15370"/>
          <p:cNvSpPr/>
          <p:nvPr/>
        </p:nvSpPr>
        <p:spPr>
          <a:xfrm>
            <a:off x="3108960" y="1097280"/>
            <a:ext cx="1648968" cy="640080"/>
          </a:xfrm>
          <a:prstGeom prst="roundRect">
            <a:avLst>
              <a:gd name="adj" fmla="val 14285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2" name="Oval 15371"/>
          <p:cNvSpPr/>
          <p:nvPr/>
        </p:nvSpPr>
        <p:spPr>
          <a:xfrm>
            <a:off x="3154680" y="1271016"/>
            <a:ext cx="292608" cy="29260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73" name="Picture 15372" descr="unified platform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9053" y="1335389"/>
            <a:ext cx="163860" cy="163860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3483863" y="1097280"/>
            <a:ext cx="1237488" cy="6400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4683E"/>
                </a:solidFill>
                <a:latin typeface="Arial"/>
              </a:rPr>
              <a:t>One conversational interface: actionable insight in seconds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885944" y="1097280"/>
            <a:ext cx="1627632" cy="640080"/>
          </a:xfrm>
          <a:prstGeom prst="roundRect">
            <a:avLst>
              <a:gd name="adj" fmla="val 14285"/>
            </a:avLst>
          </a:prstGeom>
          <a:solidFill>
            <a:srgbClr val="FDE9E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76" name="Oval 15375"/>
          <p:cNvSpPr/>
          <p:nvPr/>
        </p:nvSpPr>
        <p:spPr>
          <a:xfrm>
            <a:off x="4931664" y="1152144"/>
            <a:ext cx="201168" cy="201168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77" name="Picture 15376" descr="no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5979" y="1206459"/>
            <a:ext cx="92537" cy="92537"/>
          </a:xfrm>
          <a:prstGeom prst="rect">
            <a:avLst/>
          </a:prstGeom>
        </p:spPr>
      </p:pic>
      <p:sp>
        <p:nvSpPr>
          <p:cNvPr id="15378" name="TextBox 15377"/>
          <p:cNvSpPr txBox="1"/>
          <p:nvPr/>
        </p:nvSpPr>
        <p:spPr>
          <a:xfrm>
            <a:off x="5160264" y="1097280"/>
            <a:ext cx="1335024" cy="6400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Generic AI chatbots invent forecasts, even warnings</a:t>
            </a:r>
          </a:p>
        </p:txBody>
      </p:sp>
      <p:sp>
        <p:nvSpPr>
          <p:cNvPr id="15379" name="Isosceles Triangle 15378"/>
          <p:cNvSpPr/>
          <p:nvPr/>
        </p:nvSpPr>
        <p:spPr>
          <a:xfrm rot="5400000">
            <a:off x="6531864" y="1353311"/>
            <a:ext cx="128016" cy="128016"/>
          </a:xfrm>
          <a:prstGeom prst="triangle">
            <a:avLst/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0" name="Rounded Rectangle 15379"/>
          <p:cNvSpPr/>
          <p:nvPr/>
        </p:nvSpPr>
        <p:spPr>
          <a:xfrm>
            <a:off x="6687312" y="1097280"/>
            <a:ext cx="1648968" cy="640080"/>
          </a:xfrm>
          <a:prstGeom prst="roundRect">
            <a:avLst>
              <a:gd name="adj" fmla="val 14285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1" name="Oval 15380"/>
          <p:cNvSpPr/>
          <p:nvPr/>
        </p:nvSpPr>
        <p:spPr>
          <a:xfrm>
            <a:off x="6733032" y="1271016"/>
            <a:ext cx="292608" cy="29260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82" name="Picture 15381" descr="Satya Gate verifi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7405" y="1335389"/>
            <a:ext cx="163860" cy="163860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7062216" y="1097280"/>
            <a:ext cx="1237488" cy="6400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4683E"/>
                </a:solidFill>
                <a:latin typeface="Arial"/>
              </a:rPr>
              <a:t>Accurate: every value verified against IMD &amp; NWP records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464296" y="1097280"/>
            <a:ext cx="1627632" cy="640080"/>
          </a:xfrm>
          <a:prstGeom prst="roundRect">
            <a:avLst>
              <a:gd name="adj" fmla="val 14285"/>
            </a:avLst>
          </a:prstGeom>
          <a:solidFill>
            <a:srgbClr val="FDE9E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5" name="Oval 15384"/>
          <p:cNvSpPr/>
          <p:nvPr/>
        </p:nvSpPr>
        <p:spPr>
          <a:xfrm>
            <a:off x="8510016" y="1152144"/>
            <a:ext cx="201168" cy="201168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86" name="Picture 15385" descr="no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4331" y="1206459"/>
            <a:ext cx="92537" cy="92537"/>
          </a:xfrm>
          <a:prstGeom prst="rect">
            <a:avLst/>
          </a:prstGeom>
        </p:spPr>
      </p:pic>
      <p:sp>
        <p:nvSpPr>
          <p:cNvPr id="15387" name="TextBox 15386"/>
          <p:cNvSpPr txBox="1"/>
          <p:nvPr/>
        </p:nvSpPr>
        <p:spPr>
          <a:xfrm>
            <a:off x="8738616" y="1097280"/>
            <a:ext cx="1335024" cy="6400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English-only, text-heavy portals shut out rural India</a:t>
            </a:r>
          </a:p>
        </p:txBody>
      </p:sp>
      <p:sp>
        <p:nvSpPr>
          <p:cNvPr id="15388" name="Isosceles Triangle 15387"/>
          <p:cNvSpPr/>
          <p:nvPr/>
        </p:nvSpPr>
        <p:spPr>
          <a:xfrm rot="5400000">
            <a:off x="10110216" y="1353311"/>
            <a:ext cx="128016" cy="128016"/>
          </a:xfrm>
          <a:prstGeom prst="triangle">
            <a:avLst/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89" name="Rounded Rectangle 15388"/>
          <p:cNvSpPr/>
          <p:nvPr/>
        </p:nvSpPr>
        <p:spPr>
          <a:xfrm>
            <a:off x="10265664" y="1097280"/>
            <a:ext cx="1648968" cy="640080"/>
          </a:xfrm>
          <a:prstGeom prst="roundRect">
            <a:avLst>
              <a:gd name="adj" fmla="val 14285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90" name="Oval 15389"/>
          <p:cNvSpPr/>
          <p:nvPr/>
        </p:nvSpPr>
        <p:spPr>
          <a:xfrm>
            <a:off x="10311384" y="1271016"/>
            <a:ext cx="292608" cy="29260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91" name="Picture 15390" descr="voice inpu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5757" y="1335389"/>
            <a:ext cx="163860" cy="163860"/>
          </a:xfrm>
          <a:prstGeom prst="rect">
            <a:avLst/>
          </a:prstGeom>
        </p:spPr>
      </p:pic>
      <p:sp>
        <p:nvSpPr>
          <p:cNvPr id="15392" name="TextBox 15391"/>
          <p:cNvSpPr txBox="1"/>
          <p:nvPr/>
        </p:nvSpPr>
        <p:spPr>
          <a:xfrm>
            <a:off x="10640568" y="1097280"/>
            <a:ext cx="1237488" cy="6400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4683E"/>
                </a:solidFill>
                <a:latin typeface="Arial"/>
              </a:rPr>
              <a:t>Voice-enabled &amp; multilingual via Sarvam AI: 22 Indian languages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274320" y="1792224"/>
            <a:ext cx="2194560" cy="4242816"/>
          </a:xfrm>
          <a:prstGeom prst="roundRect">
            <a:avLst>
              <a:gd name="adj" fmla="val 12500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94" name="Rounded Rectangle 15393"/>
          <p:cNvSpPr/>
          <p:nvPr/>
        </p:nvSpPr>
        <p:spPr>
          <a:xfrm>
            <a:off x="356616" y="1874519"/>
            <a:ext cx="2029967" cy="4078224"/>
          </a:xfrm>
          <a:prstGeom prst="roundRect">
            <a:avLst>
              <a:gd name="adj" fmla="val 9909"/>
            </a:avLst>
          </a:prstGeom>
          <a:gradFill rotWithShape="1">
            <a:gsLst>
              <a:gs pos="0">
                <a:srgbClr val="D6E8F7"/>
              </a:gs>
              <a:gs pos="100000">
                <a:srgbClr val="FFFFFF"/>
              </a:gs>
            </a:gsLst>
            <a:lin scaled="0" ang="540000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95" name="Rounded Rectangle 15394"/>
          <p:cNvSpPr/>
          <p:nvPr/>
        </p:nvSpPr>
        <p:spPr>
          <a:xfrm>
            <a:off x="1097280" y="1911095"/>
            <a:ext cx="548640" cy="91440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396" name="Picture 15395" descr="WeatherGPT app logo: a sun at its meridian above the horiz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2148839"/>
            <a:ext cx="292608" cy="292608"/>
          </a:xfrm>
          <a:prstGeom prst="rect">
            <a:avLst/>
          </a:prstGeom>
        </p:spPr>
      </p:pic>
      <p:sp>
        <p:nvSpPr>
          <p:cNvPr id="15397" name="TextBox 15396"/>
          <p:cNvSpPr txBox="1"/>
          <p:nvPr/>
        </p:nvSpPr>
        <p:spPr>
          <a:xfrm>
            <a:off x="795528" y="2130551"/>
            <a:ext cx="100584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2239"/>
                </a:solidFill>
                <a:latin typeface="Times New Roman"/>
              </a:rPr>
              <a:t>WeatherGPT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1709928" y="2194559"/>
            <a:ext cx="58521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A4F70"/>
                </a:solidFill>
                <a:latin typeface="Noto Sans Gujarati"/>
                <a:cs typeface="Noto Sans Gujarati"/>
              </a:rPr>
              <a:t>ગુજરાતી</a:t>
            </a:r>
          </a:p>
        </p:txBody>
      </p:sp>
      <p:pic>
        <p:nvPicPr>
          <p:cNvPr id="15399" name="Picture 15398" descr="district warning map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" y="2542032"/>
            <a:ext cx="118872" cy="118872"/>
          </a:xfrm>
          <a:prstGeom prst="rect">
            <a:avLst/>
          </a:prstGeom>
        </p:spPr>
      </p:pic>
      <p:sp>
        <p:nvSpPr>
          <p:cNvPr id="15400" name="TextBox 15399"/>
          <p:cNvSpPr txBox="1"/>
          <p:nvPr/>
        </p:nvSpPr>
        <p:spPr>
          <a:xfrm>
            <a:off x="630936" y="2496311"/>
            <a:ext cx="1463040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Surat, Gujarat</a:t>
            </a:r>
          </a:p>
        </p:txBody>
      </p:sp>
      <p:sp>
        <p:nvSpPr>
          <p:cNvPr id="15401" name="Rounded Rectangle 15400"/>
          <p:cNvSpPr/>
          <p:nvPr/>
        </p:nvSpPr>
        <p:spPr>
          <a:xfrm>
            <a:off x="685799" y="2788920"/>
            <a:ext cx="1609344" cy="457200"/>
          </a:xfrm>
          <a:prstGeom prst="roundRect">
            <a:avLst>
              <a:gd name="adj" fmla="val 32000"/>
            </a:avLst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02" name="Picture 15401" descr="voice inpu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3" y="2935224"/>
            <a:ext cx="155448" cy="155448"/>
          </a:xfrm>
          <a:prstGeom prst="rect">
            <a:avLst/>
          </a:prstGeom>
        </p:spPr>
      </p:pic>
      <p:sp>
        <p:nvSpPr>
          <p:cNvPr id="15403" name="TextBox 15402"/>
          <p:cNvSpPr txBox="1"/>
          <p:nvPr/>
        </p:nvSpPr>
        <p:spPr>
          <a:xfrm>
            <a:off x="923543" y="2788920"/>
            <a:ext cx="1353312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Noto Sans Gujarati"/>
                <a:cs typeface="Noto Sans Gujarati"/>
              </a:rPr>
              <a:t>કાલે સવારે સુરતમાં વરસાદ પડશે?</a:t>
            </a:r>
          </a:p>
        </p:txBody>
      </p:sp>
      <p:sp>
        <p:nvSpPr>
          <p:cNvPr id="15404" name="Rounded Rectangle 15403"/>
          <p:cNvSpPr/>
          <p:nvPr/>
        </p:nvSpPr>
        <p:spPr>
          <a:xfrm>
            <a:off x="448056" y="3355848"/>
            <a:ext cx="1847087" cy="179222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405" name="TextBox 15404"/>
          <p:cNvSpPr txBox="1"/>
          <p:nvPr/>
        </p:nvSpPr>
        <p:spPr>
          <a:xfrm>
            <a:off x="521207" y="3401568"/>
            <a:ext cx="1371600" cy="16459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55666E"/>
                </a:solidFill>
                <a:latin typeface="Arial"/>
              </a:rPr>
              <a:t>FORECAST RAINFALL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502920" y="3538728"/>
            <a:ext cx="1280160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B2239"/>
                </a:solidFill>
                <a:latin typeface="Times New Roman"/>
              </a:rPr>
              <a:t>0.4 mm</a:t>
            </a:r>
          </a:p>
        </p:txBody>
      </p:sp>
      <p:sp>
        <p:nvSpPr>
          <p:cNvPr id="15407" name="Oval 15406"/>
          <p:cNvSpPr/>
          <p:nvPr/>
        </p:nvSpPr>
        <p:spPr>
          <a:xfrm>
            <a:off x="1819655" y="3538728"/>
            <a:ext cx="384048" cy="384048"/>
          </a:xfrm>
          <a:prstGeom prst="ellipse">
            <a:avLst/>
          </a:prstGeom>
          <a:solidFill>
            <a:srgbClr val="E1F1F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08" name="Picture 15407" descr="weather forecast, NWP model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2807" y="3611880"/>
            <a:ext cx="237744" cy="237744"/>
          </a:xfrm>
          <a:prstGeom prst="rect">
            <a:avLst/>
          </a:prstGeom>
        </p:spPr>
      </p:pic>
      <p:sp>
        <p:nvSpPr>
          <p:cNvPr id="15409" name="TextBox 15408"/>
          <p:cNvSpPr txBox="1"/>
          <p:nvPr/>
        </p:nvSpPr>
        <p:spPr>
          <a:xfrm>
            <a:off x="521207" y="3959352"/>
            <a:ext cx="1700783" cy="1828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B2A30"/>
                </a:solidFill>
                <a:latin typeface="Arial"/>
                <a:cs typeface="Noto Sans Gujarati"/>
              </a:rPr>
              <a:t>સુરત · કાલે 09:30–12:30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539496" y="4206240"/>
            <a:ext cx="1664207" cy="73152"/>
          </a:xfrm>
          <a:prstGeom prst="roundRect">
            <a:avLst>
              <a:gd name="adj" fmla="val 50000"/>
            </a:avLst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1" name="Rectangle 15410"/>
          <p:cNvSpPr/>
          <p:nvPr/>
        </p:nvSpPr>
        <p:spPr>
          <a:xfrm>
            <a:off x="534009" y="4178808"/>
            <a:ext cx="10972" cy="128016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2" name="Rectangle 15411"/>
          <p:cNvSpPr/>
          <p:nvPr/>
        </p:nvSpPr>
        <p:spPr>
          <a:xfrm>
            <a:off x="1366113" y="4178808"/>
            <a:ext cx="10972" cy="128016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3" name="Rectangle 15412"/>
          <p:cNvSpPr/>
          <p:nvPr/>
        </p:nvSpPr>
        <p:spPr>
          <a:xfrm>
            <a:off x="2198217" y="4178808"/>
            <a:ext cx="10972" cy="128016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4" name="TextBox 15413"/>
          <p:cNvSpPr txBox="1"/>
          <p:nvPr/>
        </p:nvSpPr>
        <p:spPr>
          <a:xfrm>
            <a:off x="502920" y="4306824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55666E"/>
                </a:solidFill>
                <a:latin typeface="Arial"/>
              </a:rPr>
              <a:t>09:30</a:t>
            </a:r>
          </a:p>
        </p:txBody>
      </p:sp>
      <p:sp>
        <p:nvSpPr>
          <p:cNvPr id="15415" name="TextBox 15414"/>
          <p:cNvSpPr txBox="1"/>
          <p:nvPr/>
        </p:nvSpPr>
        <p:spPr>
          <a:xfrm>
            <a:off x="1691639" y="4306824"/>
            <a:ext cx="548640" cy="1371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55666E"/>
                </a:solidFill>
                <a:latin typeface="Arial"/>
              </a:rPr>
              <a:t>12:30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905256" y="4306824"/>
            <a:ext cx="932687" cy="13716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55666E"/>
                </a:solidFill>
                <a:latin typeface="Arial"/>
              </a:rPr>
              <a:t>evidence covers window</a:t>
            </a:r>
          </a:p>
        </p:txBody>
      </p:sp>
      <p:sp>
        <p:nvSpPr>
          <p:cNvPr id="15417" name="Rounded Rectangle 15416"/>
          <p:cNvSpPr/>
          <p:nvPr/>
        </p:nvSpPr>
        <p:spPr>
          <a:xfrm>
            <a:off x="539496" y="4489704"/>
            <a:ext cx="1298448" cy="182880"/>
          </a:xfrm>
          <a:prstGeom prst="roundRect">
            <a:avLst>
              <a:gd name="adj" fmla="val 50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8" name="Oval 15417"/>
          <p:cNvSpPr/>
          <p:nvPr/>
        </p:nvSpPr>
        <p:spPr>
          <a:xfrm>
            <a:off x="585216" y="4530852"/>
            <a:ext cx="100584" cy="10058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19" name="TextBox 15418"/>
          <p:cNvSpPr txBox="1"/>
          <p:nvPr/>
        </p:nvSpPr>
        <p:spPr>
          <a:xfrm>
            <a:off x="704088" y="4489704"/>
            <a:ext cx="1133856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1" i="0">
                <a:solidFill>
                  <a:srgbClr val="14683E"/>
                </a:solidFill>
                <a:latin typeface="Arial"/>
              </a:rPr>
              <a:t>IMD · Green: no warning</a:t>
            </a:r>
          </a:p>
        </p:txBody>
      </p:sp>
      <p:sp>
        <p:nvSpPr>
          <p:cNvPr id="15420" name="Rounded Rectangle 15419"/>
          <p:cNvSpPr/>
          <p:nvPr/>
        </p:nvSpPr>
        <p:spPr>
          <a:xfrm>
            <a:off x="521207" y="4745736"/>
            <a:ext cx="1700783" cy="329184"/>
          </a:xfrm>
          <a:prstGeom prst="roundRect">
            <a:avLst>
              <a:gd name="adj" fmla="val 16666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 wrap="square" lIns="54864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8AD8F5"/>
                </a:solidFill>
                <a:latin typeface="Courier New"/>
              </a:rPr>
              <a:t>PRAMAAN · GFS 12Z · f+18–21 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8AD8F5"/>
                </a:solidFill>
                <a:latin typeface="Courier New"/>
              </a:rPr>
              <a:t>cell 21.25N 72.75E · 23:03 IST</a:t>
            </a:r>
          </a:p>
        </p:txBody>
      </p:sp>
      <p:sp>
        <p:nvSpPr>
          <p:cNvPr id="15421" name="Rounded Rectangle 15420"/>
          <p:cNvSpPr/>
          <p:nvPr/>
        </p:nvSpPr>
        <p:spPr>
          <a:xfrm>
            <a:off x="448056" y="5239512"/>
            <a:ext cx="51206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A4F70"/>
                </a:solidFill>
                <a:latin typeface="Noto Sans Gujarati"/>
                <a:cs typeface="Noto Sans Gujarati"/>
              </a:rPr>
              <a:t>સાંજે?</a:t>
            </a:r>
          </a:p>
        </p:txBody>
      </p:sp>
      <p:sp>
        <p:nvSpPr>
          <p:cNvPr id="15422" name="Rounded Rectangle 15421"/>
          <p:cNvSpPr/>
          <p:nvPr/>
        </p:nvSpPr>
        <p:spPr>
          <a:xfrm>
            <a:off x="1014983" y="5239512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A4F70"/>
                </a:solidFill>
                <a:latin typeface="Noto Sans Gujarati"/>
                <a:cs typeface="Noto Sans Gujarati"/>
              </a:rPr>
              <a:t>કોઈ ચેતવણી?</a:t>
            </a:r>
          </a:p>
        </p:txBody>
      </p:sp>
      <p:sp>
        <p:nvSpPr>
          <p:cNvPr id="15423" name="Oval 15422"/>
          <p:cNvSpPr/>
          <p:nvPr/>
        </p:nvSpPr>
        <p:spPr>
          <a:xfrm>
            <a:off x="2020824" y="5221224"/>
            <a:ext cx="237744" cy="237744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24" name="Picture 15423" descr="speech output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71115" y="5271516"/>
            <a:ext cx="137160" cy="137160"/>
          </a:xfrm>
          <a:prstGeom prst="rect">
            <a:avLst/>
          </a:prstGeom>
        </p:spPr>
      </p:pic>
      <p:sp>
        <p:nvSpPr>
          <p:cNvPr id="15425" name="Rounded Rectangle 15424"/>
          <p:cNvSpPr/>
          <p:nvPr/>
        </p:nvSpPr>
        <p:spPr>
          <a:xfrm>
            <a:off x="448056" y="5495544"/>
            <a:ext cx="149961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426" name="TextBox 15425"/>
          <p:cNvSpPr txBox="1"/>
          <p:nvPr/>
        </p:nvSpPr>
        <p:spPr>
          <a:xfrm>
            <a:off x="539496" y="5495544"/>
            <a:ext cx="1344167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5666E"/>
                </a:solidFill>
                <a:latin typeface="Noto Sans Gujarati"/>
                <a:cs typeface="Noto Sans Gujarati"/>
              </a:rPr>
              <a:t>તમારો પ્રશ્ન પૂછો…</a:t>
            </a:r>
          </a:p>
        </p:txBody>
      </p:sp>
      <p:sp>
        <p:nvSpPr>
          <p:cNvPr id="15427" name="Oval 15426"/>
          <p:cNvSpPr/>
          <p:nvPr/>
        </p:nvSpPr>
        <p:spPr>
          <a:xfrm>
            <a:off x="1984248" y="5495544"/>
            <a:ext cx="310896" cy="310896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28" name="Picture 15427" descr="voice inpu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57400" y="5568696"/>
            <a:ext cx="164592" cy="164592"/>
          </a:xfrm>
          <a:prstGeom prst="rect">
            <a:avLst/>
          </a:prstGeom>
        </p:spPr>
      </p:pic>
      <p:sp>
        <p:nvSpPr>
          <p:cNvPr id="15429" name="TextBox 15428"/>
          <p:cNvSpPr txBox="1"/>
          <p:nvPr/>
        </p:nvSpPr>
        <p:spPr>
          <a:xfrm>
            <a:off x="274320" y="6053328"/>
            <a:ext cx="2194560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55666E"/>
                </a:solidFill>
                <a:latin typeface="Arial"/>
              </a:rPr>
              <a:t>Concept screen · Gujarati in, Gujarati out</a:t>
            </a:r>
          </a:p>
        </p:txBody>
      </p:sp>
      <p:sp>
        <p:nvSpPr>
          <p:cNvPr id="15430" name="Rounded Rectangle 15429"/>
          <p:cNvSpPr/>
          <p:nvPr/>
        </p:nvSpPr>
        <p:spPr>
          <a:xfrm>
            <a:off x="2606040" y="1792224"/>
            <a:ext cx="9308592" cy="1975104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5875">
            <a:solidFill>
              <a:srgbClr val="0B223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431" name="TextBox 15430"/>
          <p:cNvSpPr txBox="1"/>
          <p:nvPr/>
        </p:nvSpPr>
        <p:spPr>
          <a:xfrm>
            <a:off x="2734056" y="1819656"/>
            <a:ext cx="32918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2239"/>
                </a:solidFill>
                <a:latin typeface="Times New Roman"/>
              </a:rPr>
              <a:t>How every answer is made</a:t>
            </a:r>
          </a:p>
        </p:txBody>
      </p:sp>
      <p:sp>
        <p:nvSpPr>
          <p:cNvPr id="15432" name="Rounded Rectangle 15431"/>
          <p:cNvSpPr/>
          <p:nvPr/>
        </p:nvSpPr>
        <p:spPr>
          <a:xfrm>
            <a:off x="8165592" y="1856231"/>
            <a:ext cx="3621024" cy="210312"/>
          </a:xfrm>
          <a:prstGeom prst="roundRect">
            <a:avLst>
              <a:gd name="adj" fmla="val 30434"/>
            </a:avLst>
          </a:prstGeom>
          <a:solidFill>
            <a:srgbClr val="FFF0D1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A4A00"/>
                </a:solidFill>
                <a:latin typeface="Arial"/>
              </a:rPr>
              <a:t>IMD first: warnings · nowcast · Mausamgram · stations · bulletins</a:t>
            </a:r>
          </a:p>
        </p:txBody>
      </p:sp>
      <p:sp>
        <p:nvSpPr>
          <p:cNvPr id="15433" name="Terminator 15432"/>
          <p:cNvSpPr/>
          <p:nvPr/>
        </p:nvSpPr>
        <p:spPr>
          <a:xfrm>
            <a:off x="2734056" y="2368296"/>
            <a:ext cx="1042415" cy="731520"/>
          </a:xfrm>
          <a:prstGeom prst="flowChartTerminator">
            <a:avLst/>
          </a:prstGeom>
          <a:solidFill>
            <a:srgbClr val="0B2239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You ask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FE0F2"/>
                </a:solidFill>
                <a:latin typeface="Arial"/>
              </a:rPr>
              <a:t>voice or text · 22 languages · Sarvam AI</a:t>
            </a:r>
          </a:p>
        </p:txBody>
      </p:sp>
      <p:cxnSp>
        <p:nvCxnSpPr>
          <p:cNvPr id="15434" name="Connector 15433"/>
          <p:cNvCxnSpPr/>
          <p:nvPr/>
        </p:nvCxnSpPr>
        <p:spPr>
          <a:xfrm>
            <a:off x="3776472" y="2734056"/>
            <a:ext cx="210311" cy="0"/>
          </a:xfrm>
          <a:prstGeom prst="line">
            <a:avLst/>
          </a:prstGeom>
          <a:ln w="25400">
            <a:solidFill>
              <a:srgbClr val="0B2239"/>
            </a:solidFill>
            <a:tailEnd type="triangle" w="med" len="med"/>
          </a:ln>
        </p:spPr>
      </p:cxnSp>
      <p:sp>
        <p:nvSpPr>
          <p:cNvPr id="15435" name="Oval 15434"/>
          <p:cNvSpPr/>
          <p:nvPr/>
        </p:nvSpPr>
        <p:spPr>
          <a:xfrm>
            <a:off x="4023359" y="2368296"/>
            <a:ext cx="731520" cy="731520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36" name="Picture 15435" descr="plan and fetch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8924" y="2543860"/>
            <a:ext cx="380390" cy="380390"/>
          </a:xfrm>
          <a:prstGeom prst="rect">
            <a:avLst/>
          </a:prstGeom>
        </p:spPr>
      </p:pic>
      <p:sp>
        <p:nvSpPr>
          <p:cNvPr id="15437" name="TextBox 15436"/>
          <p:cNvSpPr txBox="1"/>
          <p:nvPr/>
        </p:nvSpPr>
        <p:spPr>
          <a:xfrm>
            <a:off x="3730752" y="3118104"/>
            <a:ext cx="1316736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B2239"/>
                </a:solidFill>
                <a:latin typeface="Arial"/>
              </a:rPr>
              <a:t>1 · PLAN</a:t>
            </a:r>
          </a:p>
        </p:txBody>
      </p:sp>
      <p:sp>
        <p:nvSpPr>
          <p:cNvPr id="15438" name="TextBox 15437"/>
          <p:cNvSpPr txBox="1"/>
          <p:nvPr/>
        </p:nvSpPr>
        <p:spPr>
          <a:xfrm>
            <a:off x="3730752" y="3337560"/>
            <a:ext cx="1316736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Contextual plan: intent, place, time, who asks</a:t>
            </a:r>
          </a:p>
        </p:txBody>
      </p:sp>
      <p:cxnSp>
        <p:nvCxnSpPr>
          <p:cNvPr id="15439" name="Connector 15438"/>
          <p:cNvCxnSpPr/>
          <p:nvPr/>
        </p:nvCxnSpPr>
        <p:spPr>
          <a:xfrm>
            <a:off x="4791456" y="2734056"/>
            <a:ext cx="539495" cy="0"/>
          </a:xfrm>
          <a:prstGeom prst="line">
            <a:avLst/>
          </a:prstGeom>
          <a:ln w="25400">
            <a:solidFill>
              <a:srgbClr val="0B2239"/>
            </a:solidFill>
            <a:tailEnd type="triangle" w="med" len="med"/>
          </a:ln>
        </p:spPr>
      </p:cxnSp>
      <p:sp>
        <p:nvSpPr>
          <p:cNvPr id="15440" name="Oval 15439"/>
          <p:cNvSpPr/>
          <p:nvPr/>
        </p:nvSpPr>
        <p:spPr>
          <a:xfrm>
            <a:off x="5367527" y="2368296"/>
            <a:ext cx="731520" cy="731520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41" name="Picture 15440" descr="IMD real-time data feed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43092" y="2543860"/>
            <a:ext cx="380390" cy="380390"/>
          </a:xfrm>
          <a:prstGeom prst="rect">
            <a:avLst/>
          </a:prstGeom>
        </p:spPr>
      </p:pic>
      <p:sp>
        <p:nvSpPr>
          <p:cNvPr id="15442" name="TextBox 15441"/>
          <p:cNvSpPr txBox="1"/>
          <p:nvPr/>
        </p:nvSpPr>
        <p:spPr>
          <a:xfrm>
            <a:off x="5074920" y="3118104"/>
            <a:ext cx="1316736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B2239"/>
                </a:solidFill>
                <a:latin typeface="Arial"/>
              </a:rPr>
              <a:t>2 · RETRIEVE</a:t>
            </a:r>
          </a:p>
        </p:txBody>
      </p:sp>
      <p:sp>
        <p:nvSpPr>
          <p:cNvPr id="15443" name="TextBox 15442"/>
          <p:cNvSpPr txBox="1"/>
          <p:nvPr/>
        </p:nvSpPr>
        <p:spPr>
          <a:xfrm>
            <a:off x="5074920" y="3337560"/>
            <a:ext cx="1316736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IMD first, then global models</a:t>
            </a:r>
          </a:p>
        </p:txBody>
      </p:sp>
      <p:cxnSp>
        <p:nvCxnSpPr>
          <p:cNvPr id="15444" name="Connector 15443"/>
          <p:cNvCxnSpPr/>
          <p:nvPr/>
        </p:nvCxnSpPr>
        <p:spPr>
          <a:xfrm>
            <a:off x="6135624" y="2734056"/>
            <a:ext cx="539495" cy="0"/>
          </a:xfrm>
          <a:prstGeom prst="line">
            <a:avLst/>
          </a:prstGeom>
          <a:ln w="25400">
            <a:solidFill>
              <a:srgbClr val="0B2239"/>
            </a:solidFill>
            <a:tailEnd type="triangle" w="med" len="med"/>
          </a:ln>
        </p:spPr>
      </p:cxnSp>
      <p:sp>
        <p:nvSpPr>
          <p:cNvPr id="15445" name="Oval 15444"/>
          <p:cNvSpPr/>
          <p:nvPr/>
        </p:nvSpPr>
        <p:spPr>
          <a:xfrm>
            <a:off x="6711696" y="2368296"/>
            <a:ext cx="731520" cy="731520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46" name="Picture 15445" descr="unified platform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7260" y="2543860"/>
            <a:ext cx="380390" cy="380390"/>
          </a:xfrm>
          <a:prstGeom prst="rect">
            <a:avLst/>
          </a:prstGeom>
        </p:spPr>
      </p:pic>
      <p:sp>
        <p:nvSpPr>
          <p:cNvPr id="15447" name="TextBox 15446"/>
          <p:cNvSpPr txBox="1"/>
          <p:nvPr/>
        </p:nvSpPr>
        <p:spPr>
          <a:xfrm>
            <a:off x="6419088" y="3118104"/>
            <a:ext cx="1316736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B2239"/>
                </a:solidFill>
                <a:latin typeface="Arial"/>
              </a:rPr>
              <a:t>3 · WEIGH</a:t>
            </a:r>
          </a:p>
        </p:txBody>
      </p:sp>
      <p:sp>
        <p:nvSpPr>
          <p:cNvPr id="15448" name="TextBox 15447"/>
          <p:cNvSpPr txBox="1"/>
          <p:nvPr/>
        </p:nvSpPr>
        <p:spPr>
          <a:xfrm>
            <a:off x="6419088" y="3337560"/>
            <a:ext cx="1316736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sources compared, never averaged</a:t>
            </a:r>
          </a:p>
        </p:txBody>
      </p:sp>
      <p:cxnSp>
        <p:nvCxnSpPr>
          <p:cNvPr id="15449" name="Connector 15448"/>
          <p:cNvCxnSpPr/>
          <p:nvPr/>
        </p:nvCxnSpPr>
        <p:spPr>
          <a:xfrm>
            <a:off x="7479792" y="2734056"/>
            <a:ext cx="539496" cy="0"/>
          </a:xfrm>
          <a:prstGeom prst="line">
            <a:avLst/>
          </a:prstGeom>
          <a:ln w="25400">
            <a:solidFill>
              <a:srgbClr val="0B2239"/>
            </a:solidFill>
            <a:tailEnd type="triangle" w="med" len="med"/>
          </a:ln>
        </p:spPr>
      </p:cxnSp>
      <p:sp>
        <p:nvSpPr>
          <p:cNvPr id="15450" name="Oval 15449"/>
          <p:cNvSpPr/>
          <p:nvPr/>
        </p:nvSpPr>
        <p:spPr>
          <a:xfrm>
            <a:off x="8055864" y="2368296"/>
            <a:ext cx="731520" cy="7315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51" name="Picture 15450" descr="conversational chat 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31428" y="2543860"/>
            <a:ext cx="380390" cy="380390"/>
          </a:xfrm>
          <a:prstGeom prst="rect">
            <a:avLst/>
          </a:prstGeom>
        </p:spPr>
      </p:pic>
      <p:sp>
        <p:nvSpPr>
          <p:cNvPr id="15452" name="TextBox 15451"/>
          <p:cNvSpPr txBox="1"/>
          <p:nvPr/>
        </p:nvSpPr>
        <p:spPr>
          <a:xfrm>
            <a:off x="7763256" y="3118104"/>
            <a:ext cx="1316736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B2239"/>
                </a:solidFill>
                <a:latin typeface="Arial"/>
              </a:rPr>
              <a:t>4 · COMPOSE</a:t>
            </a:r>
          </a:p>
        </p:txBody>
      </p:sp>
      <p:sp>
        <p:nvSpPr>
          <p:cNvPr id="15453" name="TextBox 15452"/>
          <p:cNvSpPr txBox="1"/>
          <p:nvPr/>
        </p:nvSpPr>
        <p:spPr>
          <a:xfrm>
            <a:off x="7763256" y="3337560"/>
            <a:ext cx="1316736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LLM writes from the evidence</a:t>
            </a:r>
          </a:p>
        </p:txBody>
      </p:sp>
      <p:cxnSp>
        <p:nvCxnSpPr>
          <p:cNvPr id="15454" name="Connector 15453"/>
          <p:cNvCxnSpPr/>
          <p:nvPr/>
        </p:nvCxnSpPr>
        <p:spPr>
          <a:xfrm>
            <a:off x="8823960" y="2734056"/>
            <a:ext cx="539496" cy="0"/>
          </a:xfrm>
          <a:prstGeom prst="line">
            <a:avLst/>
          </a:prstGeom>
          <a:ln w="25400">
            <a:solidFill>
              <a:srgbClr val="0B2239"/>
            </a:solidFill>
            <a:tailEnd type="triangle" w="med" len="med"/>
          </a:ln>
        </p:spPr>
      </p:cxnSp>
      <p:sp>
        <p:nvSpPr>
          <p:cNvPr id="15455" name="Oval 15454"/>
          <p:cNvSpPr/>
          <p:nvPr/>
        </p:nvSpPr>
        <p:spPr>
          <a:xfrm>
            <a:off x="9400032" y="2368296"/>
            <a:ext cx="731520" cy="731520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56" name="Picture 15455" descr="Satya Gate verifi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5596" y="2543860"/>
            <a:ext cx="380390" cy="380390"/>
          </a:xfrm>
          <a:prstGeom prst="rect">
            <a:avLst/>
          </a:prstGeom>
        </p:spPr>
      </p:pic>
      <p:sp>
        <p:nvSpPr>
          <p:cNvPr id="15457" name="TextBox 15456"/>
          <p:cNvSpPr txBox="1"/>
          <p:nvPr/>
        </p:nvSpPr>
        <p:spPr>
          <a:xfrm>
            <a:off x="9107424" y="3118104"/>
            <a:ext cx="1316736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9A5B00"/>
                </a:solidFill>
                <a:latin typeface="Arial"/>
              </a:rPr>
              <a:t>5 · VERIFY</a:t>
            </a:r>
          </a:p>
        </p:txBody>
      </p:sp>
      <p:sp>
        <p:nvSpPr>
          <p:cNvPr id="15458" name="TextBox 15457"/>
          <p:cNvSpPr txBox="1"/>
          <p:nvPr/>
        </p:nvSpPr>
        <p:spPr>
          <a:xfrm>
            <a:off x="9107424" y="3337560"/>
            <a:ext cx="1316736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Satya Gate checks every number</a:t>
            </a:r>
          </a:p>
        </p:txBody>
      </p:sp>
      <p:sp>
        <p:nvSpPr>
          <p:cNvPr id="15459" name="Rounded Rectangle 15458"/>
          <p:cNvSpPr/>
          <p:nvPr/>
        </p:nvSpPr>
        <p:spPr>
          <a:xfrm>
            <a:off x="10314432" y="2331720"/>
            <a:ext cx="1472183" cy="804672"/>
          </a:xfrm>
          <a:prstGeom prst="roundRect">
            <a:avLst>
              <a:gd name="adj" fmla="val 7954"/>
            </a:avLst>
          </a:prstGeom>
          <a:solidFill>
            <a:srgbClr val="DDF3E6"/>
          </a:solidFill>
          <a:ln w="12700">
            <a:solidFill>
              <a:srgbClr val="2E9E5B"/>
            </a:solidFill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683E"/>
                </a:solidFill>
                <a:latin typeface="Arial"/>
              </a:rPr>
              <a:t>Answer + Pramaan Receipt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App · Web · Push · SMS / IVR</a:t>
            </a:r>
          </a:p>
        </p:txBody>
      </p:sp>
      <p:cxnSp>
        <p:nvCxnSpPr>
          <p:cNvPr id="15460" name="Connector 15459"/>
          <p:cNvCxnSpPr/>
          <p:nvPr/>
        </p:nvCxnSpPr>
        <p:spPr>
          <a:xfrm>
            <a:off x="10168128" y="2734056"/>
            <a:ext cx="146304" cy="0"/>
          </a:xfrm>
          <a:prstGeom prst="line">
            <a:avLst/>
          </a:prstGeom>
          <a:ln w="25400">
            <a:solidFill>
              <a:srgbClr val="0B2239"/>
            </a:solidFill>
            <a:tailEnd type="triangle" w="med" len="med"/>
          </a:ln>
        </p:spPr>
      </p:cxnSp>
      <p:cxnSp>
        <p:nvCxnSpPr>
          <p:cNvPr id="15461" name="Connector 15460"/>
          <p:cNvCxnSpPr/>
          <p:nvPr/>
        </p:nvCxnSpPr>
        <p:spPr>
          <a:xfrm flipV="1">
            <a:off x="5733288" y="2185416"/>
            <a:ext cx="0" cy="182880"/>
          </a:xfrm>
          <a:prstGeom prst="line">
            <a:avLst/>
          </a:prstGeom>
          <a:ln w="19050">
            <a:solidFill>
              <a:srgbClr val="D97A06"/>
            </a:solidFill>
            <a:prstDash val="dash"/>
          </a:ln>
        </p:spPr>
      </p:cxnSp>
      <p:cxnSp>
        <p:nvCxnSpPr>
          <p:cNvPr id="15462" name="Connector 15461"/>
          <p:cNvCxnSpPr/>
          <p:nvPr/>
        </p:nvCxnSpPr>
        <p:spPr>
          <a:xfrm flipH="1">
            <a:off x="4389120" y="2185416"/>
            <a:ext cx="1344168" cy="0"/>
          </a:xfrm>
          <a:prstGeom prst="line">
            <a:avLst/>
          </a:prstGeom>
          <a:ln w="19050">
            <a:solidFill>
              <a:srgbClr val="D97A06"/>
            </a:solidFill>
            <a:prstDash val="dash"/>
          </a:ln>
        </p:spPr>
      </p:cxnSp>
      <p:cxnSp>
        <p:nvCxnSpPr>
          <p:cNvPr id="15463" name="Connector 15462"/>
          <p:cNvCxnSpPr/>
          <p:nvPr/>
        </p:nvCxnSpPr>
        <p:spPr>
          <a:xfrm>
            <a:off x="4389120" y="2185416"/>
            <a:ext cx="0" cy="182880"/>
          </a:xfrm>
          <a:prstGeom prst="line">
            <a:avLst/>
          </a:prstGeom>
          <a:ln w="19050">
            <a:solidFill>
              <a:srgbClr val="D97A06"/>
            </a:solidFill>
            <a:prstDash val="dash"/>
            <a:tailEnd type="triangle" w="med" len="med"/>
          </a:ln>
        </p:spPr>
      </p:cxnSp>
      <p:sp>
        <p:nvSpPr>
          <p:cNvPr id="15464" name="Rounded Rectangle 15463"/>
          <p:cNvSpPr/>
          <p:nvPr/>
        </p:nvSpPr>
        <p:spPr>
          <a:xfrm>
            <a:off x="4494276" y="2084832"/>
            <a:ext cx="1133856" cy="201168"/>
          </a:xfrm>
          <a:prstGeom prst="roundRect">
            <a:avLst>
              <a:gd name="adj" fmla="val 31818"/>
            </a:avLst>
          </a:prstGeom>
          <a:solidFill>
            <a:srgbClr val="FFF0D1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7A4A00"/>
                </a:solidFill>
                <a:latin typeface="Arial"/>
              </a:rPr>
              <a:t>empty? re-plan once</a:t>
            </a:r>
          </a:p>
        </p:txBody>
      </p:sp>
      <p:cxnSp>
        <p:nvCxnSpPr>
          <p:cNvPr id="15465" name="Connector 15464"/>
          <p:cNvCxnSpPr/>
          <p:nvPr/>
        </p:nvCxnSpPr>
        <p:spPr>
          <a:xfrm flipV="1">
            <a:off x="9765792" y="2185416"/>
            <a:ext cx="0" cy="182880"/>
          </a:xfrm>
          <a:prstGeom prst="line">
            <a:avLst/>
          </a:prstGeom>
          <a:ln w="19050">
            <a:solidFill>
              <a:srgbClr val="D1423F"/>
            </a:solidFill>
            <a:prstDash val="dash"/>
          </a:ln>
        </p:spPr>
      </p:cxnSp>
      <p:cxnSp>
        <p:nvCxnSpPr>
          <p:cNvPr id="15466" name="Connector 15465"/>
          <p:cNvCxnSpPr/>
          <p:nvPr/>
        </p:nvCxnSpPr>
        <p:spPr>
          <a:xfrm flipH="1">
            <a:off x="8421624" y="2185416"/>
            <a:ext cx="1344168" cy="0"/>
          </a:xfrm>
          <a:prstGeom prst="line">
            <a:avLst/>
          </a:prstGeom>
          <a:ln w="19050">
            <a:solidFill>
              <a:srgbClr val="D1423F"/>
            </a:solidFill>
            <a:prstDash val="dash"/>
          </a:ln>
        </p:spPr>
      </p:cxnSp>
      <p:cxnSp>
        <p:nvCxnSpPr>
          <p:cNvPr id="15467" name="Connector 15466"/>
          <p:cNvCxnSpPr/>
          <p:nvPr/>
        </p:nvCxnSpPr>
        <p:spPr>
          <a:xfrm>
            <a:off x="8421624" y="2185416"/>
            <a:ext cx="0" cy="182880"/>
          </a:xfrm>
          <a:prstGeom prst="line">
            <a:avLst/>
          </a:prstGeom>
          <a:ln w="19050">
            <a:solidFill>
              <a:srgbClr val="D1423F"/>
            </a:solidFill>
            <a:prstDash val="dash"/>
            <a:tailEnd type="triangle" w="med" len="med"/>
          </a:ln>
        </p:spPr>
      </p:cxnSp>
      <p:sp>
        <p:nvSpPr>
          <p:cNvPr id="15468" name="Rounded Rectangle 15467"/>
          <p:cNvSpPr/>
          <p:nvPr/>
        </p:nvSpPr>
        <p:spPr>
          <a:xfrm>
            <a:off x="8526780" y="2084832"/>
            <a:ext cx="1133856" cy="201168"/>
          </a:xfrm>
          <a:prstGeom prst="roundRect">
            <a:avLst>
              <a:gd name="adj" fmla="val 31818"/>
            </a:avLst>
          </a:prstGeom>
          <a:solidFill>
            <a:srgbClr val="FDE9E7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1C1C"/>
                </a:solidFill>
                <a:latin typeface="Arial"/>
              </a:rPr>
              <a:t>fails? re-compose</a:t>
            </a:r>
          </a:p>
        </p:txBody>
      </p:sp>
      <p:sp>
        <p:nvSpPr>
          <p:cNvPr id="15469" name="Rounded Rectangle 15468"/>
          <p:cNvSpPr/>
          <p:nvPr/>
        </p:nvSpPr>
        <p:spPr>
          <a:xfrm>
            <a:off x="2606040" y="3840480"/>
            <a:ext cx="9308592" cy="292608"/>
          </a:xfrm>
          <a:prstGeom prst="roundRect">
            <a:avLst>
              <a:gd name="adj" fmla="val 25000"/>
            </a:avLst>
          </a:prstGeom>
          <a:solidFill>
            <a:srgbClr val="0F6E9A"/>
          </a:solidFill>
          <a:ln>
            <a:noFill/>
          </a:ln>
          <a:effectLst/>
        </p:spPr>
        <p:txBody>
          <a:bodyPr rtlCol="0" anchor="ctr" wrap="square" lIns="420624" tIns="0" rIns="73152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Proposed Solution: seven modules, one conversation</a:t>
            </a:r>
          </a:p>
        </p:txBody>
      </p:sp>
      <p:pic>
        <p:nvPicPr>
          <p:cNvPr id="15470" name="Picture 15469" descr="proposed solution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15768" y="3877056"/>
            <a:ext cx="219456" cy="219456"/>
          </a:xfrm>
          <a:prstGeom prst="rect">
            <a:avLst/>
          </a:prstGeom>
        </p:spPr>
      </p:pic>
      <p:sp>
        <p:nvSpPr>
          <p:cNvPr id="15471" name="Rounded Rectangle 15470"/>
          <p:cNvSpPr/>
          <p:nvPr/>
        </p:nvSpPr>
        <p:spPr>
          <a:xfrm>
            <a:off x="2606040" y="4187952"/>
            <a:ext cx="1267097" cy="91440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472" name="Oval 15471"/>
          <p:cNvSpPr/>
          <p:nvPr/>
        </p:nvSpPr>
        <p:spPr>
          <a:xfrm>
            <a:off x="3056708" y="4233672"/>
            <a:ext cx="365760" cy="365760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73" name="Picture 15472" descr="IMD real-time data feed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29860" y="4306824"/>
            <a:ext cx="219456" cy="219456"/>
          </a:xfrm>
          <a:prstGeom prst="rect">
            <a:avLst/>
          </a:prstGeom>
        </p:spPr>
      </p:pic>
      <p:sp>
        <p:nvSpPr>
          <p:cNvPr id="15474" name="TextBox 15473"/>
          <p:cNvSpPr txBox="1"/>
          <p:nvPr/>
        </p:nvSpPr>
        <p:spPr>
          <a:xfrm>
            <a:off x="2633472" y="4617720"/>
            <a:ext cx="1212233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F6E9A"/>
                </a:solidFill>
                <a:latin typeface="Arial"/>
              </a:rPr>
              <a:t>Mausam Setu</a:t>
            </a:r>
          </a:p>
        </p:txBody>
      </p:sp>
      <p:sp>
        <p:nvSpPr>
          <p:cNvPr id="15475" name="TextBox 15474"/>
          <p:cNvSpPr txBox="1"/>
          <p:nvPr/>
        </p:nvSpPr>
        <p:spPr>
          <a:xfrm>
            <a:off x="2651760" y="4818888"/>
            <a:ext cx="1175657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IMD-first real-time data</a:t>
            </a:r>
          </a:p>
        </p:txBody>
      </p:sp>
      <p:sp>
        <p:nvSpPr>
          <p:cNvPr id="15476" name="Rounded Rectangle 15475"/>
          <p:cNvSpPr/>
          <p:nvPr/>
        </p:nvSpPr>
        <p:spPr>
          <a:xfrm>
            <a:off x="3946289" y="4187952"/>
            <a:ext cx="1267097" cy="91440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477" name="Oval 15476"/>
          <p:cNvSpPr/>
          <p:nvPr/>
        </p:nvSpPr>
        <p:spPr>
          <a:xfrm>
            <a:off x="4396957" y="4233672"/>
            <a:ext cx="365760" cy="365760"/>
          </a:xfrm>
          <a:prstGeom prst="ellipse">
            <a:avLst/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78" name="Picture 15477" descr="Satya Gate verifi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0109" y="4306824"/>
            <a:ext cx="219456" cy="219456"/>
          </a:xfrm>
          <a:prstGeom prst="rect">
            <a:avLst/>
          </a:prstGeom>
        </p:spPr>
      </p:pic>
      <p:sp>
        <p:nvSpPr>
          <p:cNvPr id="15479" name="TextBox 15478"/>
          <p:cNvSpPr txBox="1"/>
          <p:nvPr/>
        </p:nvSpPr>
        <p:spPr>
          <a:xfrm>
            <a:off x="3973721" y="4617720"/>
            <a:ext cx="1212233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B2239"/>
                </a:solidFill>
                <a:latin typeface="Arial"/>
              </a:rPr>
              <a:t>Satya Gate</a:t>
            </a:r>
          </a:p>
        </p:txBody>
      </p:sp>
      <p:sp>
        <p:nvSpPr>
          <p:cNvPr id="15480" name="TextBox 15479"/>
          <p:cNvSpPr txBox="1"/>
          <p:nvPr/>
        </p:nvSpPr>
        <p:spPr>
          <a:xfrm>
            <a:off x="3992009" y="4818888"/>
            <a:ext cx="1175657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zero-hallucination verifier</a:t>
            </a:r>
          </a:p>
        </p:txBody>
      </p:sp>
      <p:sp>
        <p:nvSpPr>
          <p:cNvPr id="15481" name="Rounded Rectangle 15480"/>
          <p:cNvSpPr/>
          <p:nvPr/>
        </p:nvSpPr>
        <p:spPr>
          <a:xfrm>
            <a:off x="5286538" y="4187952"/>
            <a:ext cx="1267097" cy="91440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482" name="Oval 15481"/>
          <p:cNvSpPr/>
          <p:nvPr/>
        </p:nvSpPr>
        <p:spPr>
          <a:xfrm>
            <a:off x="5737206" y="4233672"/>
            <a:ext cx="365760" cy="365760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83" name="Picture 15482" descr="Pramaan evidence receipt 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10358" y="4306824"/>
            <a:ext cx="219456" cy="219456"/>
          </a:xfrm>
          <a:prstGeom prst="rect">
            <a:avLst/>
          </a:prstGeom>
        </p:spPr>
      </p:pic>
      <p:sp>
        <p:nvSpPr>
          <p:cNvPr id="15484" name="TextBox 15483"/>
          <p:cNvSpPr txBox="1"/>
          <p:nvPr/>
        </p:nvSpPr>
        <p:spPr>
          <a:xfrm>
            <a:off x="5313970" y="4617720"/>
            <a:ext cx="1212233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3D8FD1"/>
                </a:solidFill>
                <a:latin typeface="Arial"/>
              </a:rPr>
              <a:t>Pramaan Receipt</a:t>
            </a:r>
          </a:p>
        </p:txBody>
      </p:sp>
      <p:sp>
        <p:nvSpPr>
          <p:cNvPr id="15485" name="TextBox 15484"/>
          <p:cNvSpPr txBox="1"/>
          <p:nvPr/>
        </p:nvSpPr>
        <p:spPr>
          <a:xfrm>
            <a:off x="5332258" y="4818888"/>
            <a:ext cx="1175657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proof on every answer</a:t>
            </a:r>
          </a:p>
        </p:txBody>
      </p:sp>
      <p:sp>
        <p:nvSpPr>
          <p:cNvPr id="15486" name="Rounded Rectangle 15485"/>
          <p:cNvSpPr/>
          <p:nvPr/>
        </p:nvSpPr>
        <p:spPr>
          <a:xfrm>
            <a:off x="6626787" y="4187952"/>
            <a:ext cx="1267097" cy="91440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487" name="Oval 15486"/>
          <p:cNvSpPr/>
          <p:nvPr/>
        </p:nvSpPr>
        <p:spPr>
          <a:xfrm>
            <a:off x="7077455" y="4233672"/>
            <a:ext cx="365760" cy="365760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88" name="Picture 15487" descr="voice inpu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0607" y="4306824"/>
            <a:ext cx="219456" cy="219456"/>
          </a:xfrm>
          <a:prstGeom prst="rect">
            <a:avLst/>
          </a:prstGeom>
        </p:spPr>
      </p:pic>
      <p:sp>
        <p:nvSpPr>
          <p:cNvPr id="15489" name="TextBox 15488"/>
          <p:cNvSpPr txBox="1"/>
          <p:nvPr/>
        </p:nvSpPr>
        <p:spPr>
          <a:xfrm>
            <a:off x="6654219" y="4617720"/>
            <a:ext cx="1212233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1423F"/>
                </a:solidFill>
                <a:latin typeface="Arial"/>
              </a:rPr>
              <a:t>Vaani</a:t>
            </a:r>
          </a:p>
        </p:txBody>
      </p:sp>
      <p:sp>
        <p:nvSpPr>
          <p:cNvPr id="15490" name="TextBox 15489"/>
          <p:cNvSpPr txBox="1"/>
          <p:nvPr/>
        </p:nvSpPr>
        <p:spPr>
          <a:xfrm>
            <a:off x="6672507" y="4818888"/>
            <a:ext cx="1175657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Sarvam AI: 22 languages, voice</a:t>
            </a:r>
          </a:p>
        </p:txBody>
      </p:sp>
      <p:sp>
        <p:nvSpPr>
          <p:cNvPr id="15491" name="Rounded Rectangle 15490"/>
          <p:cNvSpPr/>
          <p:nvPr/>
        </p:nvSpPr>
        <p:spPr>
          <a:xfrm>
            <a:off x="7967036" y="4187952"/>
            <a:ext cx="1267097" cy="91440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492" name="Oval 15491"/>
          <p:cNvSpPr/>
          <p:nvPr/>
        </p:nvSpPr>
        <p:spPr>
          <a:xfrm>
            <a:off x="8417705" y="4233672"/>
            <a:ext cx="365760" cy="365760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93" name="Picture 15492" descr="alert notification 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90857" y="4306824"/>
            <a:ext cx="219456" cy="219456"/>
          </a:xfrm>
          <a:prstGeom prst="rect">
            <a:avLst/>
          </a:prstGeom>
        </p:spPr>
      </p:pic>
      <p:sp>
        <p:nvSpPr>
          <p:cNvPr id="15494" name="TextBox 15493"/>
          <p:cNvSpPr txBox="1"/>
          <p:nvPr/>
        </p:nvSpPr>
        <p:spPr>
          <a:xfrm>
            <a:off x="7994468" y="4617720"/>
            <a:ext cx="1212233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D97A06"/>
                </a:solidFill>
                <a:latin typeface="Arial"/>
              </a:rPr>
              <a:t>Chetavani Relay</a:t>
            </a:r>
          </a:p>
        </p:txBody>
      </p:sp>
      <p:sp>
        <p:nvSpPr>
          <p:cNvPr id="15495" name="TextBox 15494"/>
          <p:cNvSpPr txBox="1"/>
          <p:nvPr/>
        </p:nvSpPr>
        <p:spPr>
          <a:xfrm>
            <a:off x="8012756" y="4818888"/>
            <a:ext cx="1175657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early warning dissemination</a:t>
            </a:r>
          </a:p>
        </p:txBody>
      </p:sp>
      <p:sp>
        <p:nvSpPr>
          <p:cNvPr id="15496" name="Rounded Rectangle 15495"/>
          <p:cNvSpPr/>
          <p:nvPr/>
        </p:nvSpPr>
        <p:spPr>
          <a:xfrm>
            <a:off x="9307285" y="4187952"/>
            <a:ext cx="1267097" cy="91440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497" name="Oval 15496"/>
          <p:cNvSpPr/>
          <p:nvPr/>
        </p:nvSpPr>
        <p:spPr>
          <a:xfrm>
            <a:off x="9757954" y="4233672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498" name="Picture 15497" descr="crop-weather advisory 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31106" y="4306824"/>
            <a:ext cx="219456" cy="219456"/>
          </a:xfrm>
          <a:prstGeom prst="rect">
            <a:avLst/>
          </a:prstGeom>
        </p:spPr>
      </p:pic>
      <p:sp>
        <p:nvSpPr>
          <p:cNvPr id="15499" name="TextBox 15498"/>
          <p:cNvSpPr txBox="1"/>
          <p:nvPr/>
        </p:nvSpPr>
        <p:spPr>
          <a:xfrm>
            <a:off x="9334717" y="4617720"/>
            <a:ext cx="1212233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E9E5B"/>
                </a:solidFill>
                <a:latin typeface="Arial"/>
              </a:rPr>
              <a:t>Krishi Salah</a:t>
            </a:r>
          </a:p>
        </p:txBody>
      </p:sp>
      <p:sp>
        <p:nvSpPr>
          <p:cNvPr id="15500" name="TextBox 15499"/>
          <p:cNvSpPr txBox="1"/>
          <p:nvPr/>
        </p:nvSpPr>
        <p:spPr>
          <a:xfrm>
            <a:off x="9353005" y="4818888"/>
            <a:ext cx="1175657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location-based advisory</a:t>
            </a:r>
          </a:p>
        </p:txBody>
      </p:sp>
      <p:sp>
        <p:nvSpPr>
          <p:cNvPr id="15501" name="Rounded Rectangle 15500"/>
          <p:cNvSpPr/>
          <p:nvPr/>
        </p:nvSpPr>
        <p:spPr>
          <a:xfrm>
            <a:off x="10647534" y="4187952"/>
            <a:ext cx="1267097" cy="914400"/>
          </a:xfrm>
          <a:prstGeom prst="roundRect">
            <a:avLst>
              <a:gd name="adj" fmla="val 10000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502" name="Oval 15501"/>
          <p:cNvSpPr/>
          <p:nvPr/>
        </p:nvSpPr>
        <p:spPr>
          <a:xfrm>
            <a:off x="11098203" y="4233672"/>
            <a:ext cx="365760" cy="365760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03" name="Picture 15502" descr="climate trend analysis 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71355" y="4306824"/>
            <a:ext cx="219456" cy="219456"/>
          </a:xfrm>
          <a:prstGeom prst="rect">
            <a:avLst/>
          </a:prstGeom>
        </p:spPr>
      </p:pic>
      <p:sp>
        <p:nvSpPr>
          <p:cNvPr id="15504" name="TextBox 15503"/>
          <p:cNvSpPr txBox="1"/>
          <p:nvPr/>
        </p:nvSpPr>
        <p:spPr>
          <a:xfrm>
            <a:off x="10674966" y="4617720"/>
            <a:ext cx="1212233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5BC2"/>
                </a:solidFill>
                <a:latin typeface="Arial"/>
              </a:rPr>
              <a:t>Jalvayu Lens</a:t>
            </a:r>
          </a:p>
        </p:txBody>
      </p:sp>
      <p:sp>
        <p:nvSpPr>
          <p:cNvPr id="15505" name="TextBox 15504"/>
          <p:cNvSpPr txBox="1"/>
          <p:nvPr/>
        </p:nvSpPr>
        <p:spPr>
          <a:xfrm>
            <a:off x="10693254" y="4818888"/>
            <a:ext cx="1175657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climate trend &amp; historical analysis</a:t>
            </a:r>
          </a:p>
        </p:txBody>
      </p:sp>
      <p:sp>
        <p:nvSpPr>
          <p:cNvPr id="15506" name="Rounded Rectangle 15505"/>
          <p:cNvSpPr/>
          <p:nvPr/>
        </p:nvSpPr>
        <p:spPr>
          <a:xfrm>
            <a:off x="2606040" y="5175504"/>
            <a:ext cx="3611880" cy="274320"/>
          </a:xfrm>
          <a:prstGeom prst="roundRect">
            <a:avLst>
              <a:gd name="adj" fmla="val 23333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C766"/>
                </a:solidFill>
                <a:latin typeface="Arial"/>
              </a:rPr>
              <a:t>PS SIH26068 · 8 / 8 KEY FEATURES COVERED</a:t>
            </a:r>
          </a:p>
        </p:txBody>
      </p:sp>
      <p:sp>
        <p:nvSpPr>
          <p:cNvPr id="15507" name="Rounded Rectangle 15506"/>
          <p:cNvSpPr/>
          <p:nvPr/>
        </p:nvSpPr>
        <p:spPr>
          <a:xfrm>
            <a:off x="2606040" y="5504688"/>
            <a:ext cx="861822" cy="347472"/>
          </a:xfrm>
          <a:prstGeom prst="roundRect">
            <a:avLst>
              <a:gd name="adj" fmla="val 18421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08" name="Picture 15507" descr="yes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60904" y="5609844"/>
            <a:ext cx="137160" cy="137160"/>
          </a:xfrm>
          <a:prstGeom prst="rect">
            <a:avLst/>
          </a:prstGeom>
        </p:spPr>
      </p:pic>
      <p:sp>
        <p:nvSpPr>
          <p:cNvPr id="15509" name="TextBox 15508"/>
          <p:cNvSpPr txBox="1"/>
          <p:nvPr/>
        </p:nvSpPr>
        <p:spPr>
          <a:xfrm>
            <a:off x="2816352" y="5504688"/>
            <a:ext cx="63322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4683E"/>
                </a:solidFill>
                <a:latin typeface="Arial"/>
              </a:rPr>
              <a:t>Real-time</a:t>
            </a:r>
          </a:p>
        </p:txBody>
      </p:sp>
      <p:sp>
        <p:nvSpPr>
          <p:cNvPr id="15510" name="Rounded Rectangle 15509"/>
          <p:cNvSpPr/>
          <p:nvPr/>
        </p:nvSpPr>
        <p:spPr>
          <a:xfrm>
            <a:off x="3522726" y="5504688"/>
            <a:ext cx="861822" cy="347472"/>
          </a:xfrm>
          <a:prstGeom prst="roundRect">
            <a:avLst>
              <a:gd name="adj" fmla="val 18421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11" name="Picture 15510" descr="yes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77590" y="5609844"/>
            <a:ext cx="137160" cy="137160"/>
          </a:xfrm>
          <a:prstGeom prst="rect">
            <a:avLst/>
          </a:prstGeom>
        </p:spPr>
      </p:pic>
      <p:sp>
        <p:nvSpPr>
          <p:cNvPr id="15512" name="TextBox 15511"/>
          <p:cNvSpPr txBox="1"/>
          <p:nvPr/>
        </p:nvSpPr>
        <p:spPr>
          <a:xfrm>
            <a:off x="3733038" y="5504688"/>
            <a:ext cx="63322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4683E"/>
                </a:solidFill>
                <a:latin typeface="Arial"/>
              </a:rPr>
              <a:t>NL querying</a:t>
            </a:r>
          </a:p>
        </p:txBody>
      </p:sp>
      <p:sp>
        <p:nvSpPr>
          <p:cNvPr id="15513" name="Rounded Rectangle 15512"/>
          <p:cNvSpPr/>
          <p:nvPr/>
        </p:nvSpPr>
        <p:spPr>
          <a:xfrm>
            <a:off x="4439412" y="5504688"/>
            <a:ext cx="861822" cy="347472"/>
          </a:xfrm>
          <a:prstGeom prst="roundRect">
            <a:avLst>
              <a:gd name="adj" fmla="val 18421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14" name="Picture 15513" descr="yes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94276" y="5609844"/>
            <a:ext cx="137160" cy="137160"/>
          </a:xfrm>
          <a:prstGeom prst="rect">
            <a:avLst/>
          </a:prstGeom>
        </p:spPr>
      </p:pic>
      <p:sp>
        <p:nvSpPr>
          <p:cNvPr id="15515" name="TextBox 15514"/>
          <p:cNvSpPr txBox="1"/>
          <p:nvPr/>
        </p:nvSpPr>
        <p:spPr>
          <a:xfrm>
            <a:off x="4649724" y="5504688"/>
            <a:ext cx="63322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4683E"/>
                </a:solidFill>
                <a:latin typeface="Arial"/>
              </a:rPr>
              <a:t>GFS / WRF</a:t>
            </a:r>
          </a:p>
        </p:txBody>
      </p:sp>
      <p:sp>
        <p:nvSpPr>
          <p:cNvPr id="15516" name="Rounded Rectangle 15515"/>
          <p:cNvSpPr/>
          <p:nvPr/>
        </p:nvSpPr>
        <p:spPr>
          <a:xfrm>
            <a:off x="5356098" y="5504688"/>
            <a:ext cx="861822" cy="347472"/>
          </a:xfrm>
          <a:prstGeom prst="roundRect">
            <a:avLst>
              <a:gd name="adj" fmla="val 18421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17" name="Picture 15516" descr="yes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10962" y="5609844"/>
            <a:ext cx="137160" cy="137160"/>
          </a:xfrm>
          <a:prstGeom prst="rect">
            <a:avLst/>
          </a:prstGeom>
        </p:spPr>
      </p:pic>
      <p:sp>
        <p:nvSpPr>
          <p:cNvPr id="15518" name="TextBox 15517"/>
          <p:cNvSpPr txBox="1"/>
          <p:nvPr/>
        </p:nvSpPr>
        <p:spPr>
          <a:xfrm>
            <a:off x="5566410" y="5504688"/>
            <a:ext cx="63322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4683E"/>
                </a:solidFill>
                <a:latin typeface="Arial"/>
              </a:rPr>
              <a:t>Early warning</a:t>
            </a:r>
          </a:p>
        </p:txBody>
      </p:sp>
      <p:sp>
        <p:nvSpPr>
          <p:cNvPr id="15519" name="Rounded Rectangle 15518"/>
          <p:cNvSpPr/>
          <p:nvPr/>
        </p:nvSpPr>
        <p:spPr>
          <a:xfrm>
            <a:off x="2606040" y="5897880"/>
            <a:ext cx="861822" cy="347472"/>
          </a:xfrm>
          <a:prstGeom prst="roundRect">
            <a:avLst>
              <a:gd name="adj" fmla="val 18421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20" name="Picture 15519" descr="yes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60904" y="6003036"/>
            <a:ext cx="137160" cy="137160"/>
          </a:xfrm>
          <a:prstGeom prst="rect">
            <a:avLst/>
          </a:prstGeom>
        </p:spPr>
      </p:pic>
      <p:sp>
        <p:nvSpPr>
          <p:cNvPr id="15521" name="TextBox 15520"/>
          <p:cNvSpPr txBox="1"/>
          <p:nvPr/>
        </p:nvSpPr>
        <p:spPr>
          <a:xfrm>
            <a:off x="2816352" y="5897880"/>
            <a:ext cx="63322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4683E"/>
                </a:solidFill>
                <a:latin typeface="Arial"/>
              </a:rPr>
              <a:t>Location</a:t>
            </a:r>
          </a:p>
        </p:txBody>
      </p:sp>
      <p:sp>
        <p:nvSpPr>
          <p:cNvPr id="15522" name="Rounded Rectangle 15521"/>
          <p:cNvSpPr/>
          <p:nvPr/>
        </p:nvSpPr>
        <p:spPr>
          <a:xfrm>
            <a:off x="3522726" y="5897880"/>
            <a:ext cx="861822" cy="347472"/>
          </a:xfrm>
          <a:prstGeom prst="roundRect">
            <a:avLst>
              <a:gd name="adj" fmla="val 18421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23" name="Picture 15522" descr="yes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77590" y="6003036"/>
            <a:ext cx="137160" cy="137160"/>
          </a:xfrm>
          <a:prstGeom prst="rect">
            <a:avLst/>
          </a:prstGeom>
        </p:spPr>
      </p:pic>
      <p:sp>
        <p:nvSpPr>
          <p:cNvPr id="15524" name="TextBox 15523"/>
          <p:cNvSpPr txBox="1"/>
          <p:nvPr/>
        </p:nvSpPr>
        <p:spPr>
          <a:xfrm>
            <a:off x="3733038" y="5897880"/>
            <a:ext cx="63322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4683E"/>
                </a:solidFill>
                <a:latin typeface="Arial"/>
              </a:rPr>
              <a:t>22 languages</a:t>
            </a:r>
          </a:p>
        </p:txBody>
      </p:sp>
      <p:sp>
        <p:nvSpPr>
          <p:cNvPr id="15525" name="Rounded Rectangle 15524"/>
          <p:cNvSpPr/>
          <p:nvPr/>
        </p:nvSpPr>
        <p:spPr>
          <a:xfrm>
            <a:off x="4439412" y="5897880"/>
            <a:ext cx="861822" cy="347472"/>
          </a:xfrm>
          <a:prstGeom prst="roundRect">
            <a:avLst>
              <a:gd name="adj" fmla="val 18421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26" name="Picture 15525" descr="yes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94276" y="6003036"/>
            <a:ext cx="137160" cy="137160"/>
          </a:xfrm>
          <a:prstGeom prst="rect">
            <a:avLst/>
          </a:prstGeom>
        </p:spPr>
      </p:pic>
      <p:sp>
        <p:nvSpPr>
          <p:cNvPr id="15527" name="TextBox 15526"/>
          <p:cNvSpPr txBox="1"/>
          <p:nvPr/>
        </p:nvSpPr>
        <p:spPr>
          <a:xfrm>
            <a:off x="4649724" y="5897880"/>
            <a:ext cx="63322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4683E"/>
                </a:solidFill>
                <a:latin typeface="Arial"/>
              </a:rPr>
              <a:t>Climate trend</a:t>
            </a:r>
          </a:p>
        </p:txBody>
      </p:sp>
      <p:sp>
        <p:nvSpPr>
          <p:cNvPr id="15528" name="Rounded Rectangle 15527"/>
          <p:cNvSpPr/>
          <p:nvPr/>
        </p:nvSpPr>
        <p:spPr>
          <a:xfrm>
            <a:off x="5356098" y="5897880"/>
            <a:ext cx="861822" cy="347472"/>
          </a:xfrm>
          <a:prstGeom prst="roundRect">
            <a:avLst>
              <a:gd name="adj" fmla="val 18421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29" name="Picture 15528" descr="yes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10962" y="6003036"/>
            <a:ext cx="137160" cy="137160"/>
          </a:xfrm>
          <a:prstGeom prst="rect">
            <a:avLst/>
          </a:prstGeom>
        </p:spPr>
      </p:pic>
      <p:sp>
        <p:nvSpPr>
          <p:cNvPr id="15530" name="TextBox 15529"/>
          <p:cNvSpPr txBox="1"/>
          <p:nvPr/>
        </p:nvSpPr>
        <p:spPr>
          <a:xfrm>
            <a:off x="5566410" y="5897880"/>
            <a:ext cx="63322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4683E"/>
                </a:solidFill>
                <a:latin typeface="Arial"/>
              </a:rPr>
              <a:t>Voice</a:t>
            </a:r>
          </a:p>
        </p:txBody>
      </p:sp>
      <p:sp>
        <p:nvSpPr>
          <p:cNvPr id="15531" name="Rounded Rectangle 15530"/>
          <p:cNvSpPr/>
          <p:nvPr/>
        </p:nvSpPr>
        <p:spPr>
          <a:xfrm>
            <a:off x="6309360" y="5175504"/>
            <a:ext cx="4526280" cy="274320"/>
          </a:xfrm>
          <a:prstGeom prst="roundRect">
            <a:avLst>
              <a:gd name="adj" fmla="val 23333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C766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532" name="Rounded Rectangle 15531"/>
          <p:cNvSpPr/>
          <p:nvPr/>
        </p:nvSpPr>
        <p:spPr>
          <a:xfrm>
            <a:off x="6309360" y="5504688"/>
            <a:ext cx="4526280" cy="758952"/>
          </a:xfrm>
          <a:prstGeom prst="roundRect">
            <a:avLst>
              <a:gd name="adj" fmla="val 9638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533" name="Oval 15532"/>
          <p:cNvSpPr/>
          <p:nvPr/>
        </p:nvSpPr>
        <p:spPr>
          <a:xfrm>
            <a:off x="6382512" y="5559552"/>
            <a:ext cx="192024" cy="192024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34" name="Picture 15533" descr="Satya Gate verifi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0916" y="5597956"/>
            <a:ext cx="115214" cy="115214"/>
          </a:xfrm>
          <a:prstGeom prst="rect">
            <a:avLst/>
          </a:prstGeom>
        </p:spPr>
      </p:pic>
      <p:sp>
        <p:nvSpPr>
          <p:cNvPr id="15535" name="TextBox 15534"/>
          <p:cNvSpPr txBox="1"/>
          <p:nvPr/>
        </p:nvSpPr>
        <p:spPr>
          <a:xfrm>
            <a:off x="6620256" y="5541264"/>
            <a:ext cx="4160520" cy="228600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A4F70"/>
                </a:solidFill>
                <a:latin typeface="Arial"/>
              </a:rPr>
              <a:t>Zero invented values: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Satya Gate checks every number first.</a:t>
            </a:r>
          </a:p>
        </p:txBody>
      </p:sp>
      <p:sp>
        <p:nvSpPr>
          <p:cNvPr id="15536" name="Oval 15535"/>
          <p:cNvSpPr/>
          <p:nvPr/>
        </p:nvSpPr>
        <p:spPr>
          <a:xfrm>
            <a:off x="6382512" y="5797296"/>
            <a:ext cx="192024" cy="192024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37" name="Picture 15536" descr="IMD real-time data feed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0916" y="5835700"/>
            <a:ext cx="115214" cy="115214"/>
          </a:xfrm>
          <a:prstGeom prst="rect">
            <a:avLst/>
          </a:prstGeom>
        </p:spPr>
      </p:pic>
      <p:sp>
        <p:nvSpPr>
          <p:cNvPr id="15538" name="TextBox 15537"/>
          <p:cNvSpPr txBox="1"/>
          <p:nvPr/>
        </p:nvSpPr>
        <p:spPr>
          <a:xfrm>
            <a:off x="6620256" y="5779008"/>
            <a:ext cx="4160520" cy="228600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A4F70"/>
                </a:solidFill>
                <a:latin typeface="Arial"/>
              </a:rPr>
              <a:t>IMD first: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IMD's warnings, nowcasts &amp; Mausamgram, beside global models.</a:t>
            </a:r>
          </a:p>
        </p:txBody>
      </p:sp>
      <p:sp>
        <p:nvSpPr>
          <p:cNvPr id="15539" name="Oval 15538"/>
          <p:cNvSpPr/>
          <p:nvPr/>
        </p:nvSpPr>
        <p:spPr>
          <a:xfrm>
            <a:off x="6382512" y="6035040"/>
            <a:ext cx="192024" cy="192024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540" name="Picture 15539" descr="government 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20916" y="6073444"/>
            <a:ext cx="115214" cy="115214"/>
          </a:xfrm>
          <a:prstGeom prst="rect">
            <a:avLst/>
          </a:prstGeom>
        </p:spPr>
      </p:pic>
      <p:sp>
        <p:nvSpPr>
          <p:cNvPr id="15541" name="TextBox 15540"/>
          <p:cNvSpPr txBox="1"/>
          <p:nvPr/>
        </p:nvSpPr>
        <p:spPr>
          <a:xfrm>
            <a:off x="6620256" y="6016752"/>
            <a:ext cx="4160520" cy="228600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0A4F70"/>
                </a:solidFill>
                <a:latin typeface="Arial"/>
              </a:rPr>
              <a:t>Sovereign by design: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open models, Indian servers; no question leaves India.</a:t>
            </a:r>
          </a:p>
        </p:txBody>
      </p:sp>
      <p:sp>
        <p:nvSpPr>
          <p:cNvPr id="15542" name="Rounded Rectangle 15541"/>
          <p:cNvSpPr/>
          <p:nvPr/>
        </p:nvSpPr>
        <p:spPr>
          <a:xfrm>
            <a:off x="10927080" y="5175504"/>
            <a:ext cx="987551" cy="10881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B223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543" name="TextBox 15542"/>
          <p:cNvSpPr txBox="1"/>
          <p:nvPr/>
        </p:nvSpPr>
        <p:spPr>
          <a:xfrm>
            <a:off x="10927080" y="5193792"/>
            <a:ext cx="987551" cy="1828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D1423F"/>
                </a:solidFill>
                <a:latin typeface="Arial"/>
              </a:rPr>
              <a:t>SEE IT LIVE</a:t>
            </a:r>
          </a:p>
        </p:txBody>
      </p:sp>
      <p:pic>
        <p:nvPicPr>
          <p:cNvPr id="15544" name="Picture 15543" descr="QR code to the WeatherGPT demo and prototype: https://youtu.be/NVT6EnklEVQ">
            <a:hlinkClick r:id="rId24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91672" y="5376672"/>
            <a:ext cx="658368" cy="658368"/>
          </a:xfrm>
          <a:prstGeom prst="rect">
            <a:avLst/>
          </a:prstGeom>
        </p:spPr>
      </p:pic>
      <p:sp>
        <p:nvSpPr>
          <p:cNvPr id="15545" name="TextBox 15544">
            <a:hlinkClick r:id="rId24" tooltip="Watch the submission demo"/>
          </p:cNvPr>
          <p:cNvSpPr txBox="1"/>
          <p:nvPr/>
        </p:nvSpPr>
        <p:spPr>
          <a:xfrm>
            <a:off x="10927080" y="6044184"/>
            <a:ext cx="987551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B2239"/>
                </a:solidFill>
                <a:latin typeface="Arial"/>
              </a:rPr>
              <a:t>Scan or click QR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651760" y="6356353"/>
            <a:ext cx="7223760" cy="365125"/>
          </a:xfrm>
        </p:spPr>
        <p:txBody>
          <a:bodyPr wrap="none"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 · SIH26068 · WeatherGPT · Team Void Pointers (118709)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/>
          <a:lstStyle/>
          <a:p>
            <a:pPr algn="ctr"/>
            <a:r>
              <a:rPr lang="en-US" dirty="0" sz="1200"/>
              <a:t>Void Pointers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WeatherGPT logo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428232"/>
            <a:ext cx="334959" cy="219456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1874519" y="786384"/>
            <a:ext cx="768096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5666E"/>
                </a:solidFill>
                <a:latin typeface="Times New Roman"/>
              </a:rPr>
              <a:t>Technologies to be used  ·  Methodology and process for implementation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74320" y="1097280"/>
            <a:ext cx="2103120" cy="2194560"/>
          </a:xfrm>
          <a:prstGeom prst="roundRect">
            <a:avLst>
              <a:gd name="adj" fmla="val 4347"/>
            </a:avLst>
          </a:prstGeom>
          <a:solidFill>
            <a:srgbClr val="E8F0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274320" y="1124712"/>
            <a:ext cx="21031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B2239"/>
                </a:solidFill>
                <a:latin typeface="Times New Roman"/>
              </a:rPr>
              <a:t>Zone 1</a:t>
            </a:r>
            <a:r>
              <a:rPr sz="1000" b="0" i="0">
                <a:solidFill>
                  <a:srgbClr val="0B2239"/>
                </a:solidFill>
                <a:latin typeface="Times New Roman"/>
              </a:rPr>
              <a:t> · Users &amp; Channels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523744" y="1097280"/>
            <a:ext cx="2514600" cy="2194560"/>
          </a:xfrm>
          <a:prstGeom prst="roundRect">
            <a:avLst>
              <a:gd name="adj" fmla="val 4166"/>
            </a:avLst>
          </a:prstGeom>
          <a:solidFill>
            <a:srgbClr val="E4F3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2523744" y="1124712"/>
            <a:ext cx="25146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B2239"/>
                </a:solidFill>
                <a:latin typeface="Times New Roman"/>
              </a:rPr>
              <a:t>Zone 2</a:t>
            </a:r>
            <a:r>
              <a:rPr sz="1000" b="0" i="0">
                <a:solidFill>
                  <a:srgbClr val="0B2239"/>
                </a:solidFill>
                <a:latin typeface="Times New Roman"/>
              </a:rPr>
              <a:t> · Mobile &amp; Web · React PWA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184648" y="1097280"/>
            <a:ext cx="3840480" cy="2194560"/>
          </a:xfrm>
          <a:prstGeom prst="roundRect">
            <a:avLst>
              <a:gd name="adj" fmla="val 4166"/>
            </a:avLst>
          </a:prstGeom>
          <a:solidFill>
            <a:srgbClr val="E9EA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5184648" y="1124712"/>
            <a:ext cx="384048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B2239"/>
                </a:solidFill>
                <a:latin typeface="Times New Roman"/>
              </a:rPr>
              <a:t>Zone 3</a:t>
            </a:r>
            <a:r>
              <a:rPr sz="1000" b="0" i="0">
                <a:solidFill>
                  <a:srgbClr val="0B2239"/>
                </a:solidFill>
                <a:latin typeface="Times New Roman"/>
              </a:rPr>
              <a:t> · LLM Query-Understanding Engine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171432" y="1097280"/>
            <a:ext cx="2743200" cy="2194560"/>
          </a:xfrm>
          <a:prstGeom prst="roundRect">
            <a:avLst>
              <a:gd name="adj" fmla="val 4166"/>
            </a:avLst>
          </a:prstGeom>
          <a:solidFill>
            <a:srgbClr val="DFEF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9171432" y="112471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0B2239"/>
                </a:solidFill>
                <a:latin typeface="Times New Roman"/>
              </a:rPr>
              <a:t>Zone 4</a:t>
            </a:r>
            <a:r>
              <a:rPr sz="1000" b="0" i="0">
                <a:solidFill>
                  <a:srgbClr val="0B2239"/>
                </a:solidFill>
                <a:latin typeface="Times New Roman"/>
              </a:rPr>
              <a:t> · Mausam Setu · IMD First</a:t>
            </a:r>
          </a:p>
        </p:txBody>
      </p:sp>
      <p:sp>
        <p:nvSpPr>
          <p:cNvPr id="17420" name="Oval 17419"/>
          <p:cNvSpPr/>
          <p:nvPr/>
        </p:nvSpPr>
        <p:spPr>
          <a:xfrm>
            <a:off x="457200" y="1444752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1" name="Picture 17420" descr="farm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" y="1521561"/>
            <a:ext cx="230428" cy="230428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274320" y="1828800"/>
            <a:ext cx="749808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Farmer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1124712" y="1444752"/>
            <a:ext cx="384048" cy="384048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4" name="Picture 17423" descr="disaster management office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1521" y="1521561"/>
            <a:ext cx="230428" cy="230428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941832" y="1828800"/>
            <a:ext cx="749808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Officer</a:t>
            </a:r>
          </a:p>
        </p:txBody>
      </p:sp>
      <p:sp>
        <p:nvSpPr>
          <p:cNvPr id="17426" name="Oval 17425"/>
          <p:cNvSpPr/>
          <p:nvPr/>
        </p:nvSpPr>
        <p:spPr>
          <a:xfrm>
            <a:off x="1792224" y="1444752"/>
            <a:ext cx="384048" cy="384048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7" name="Picture 17426" descr="aviation pilo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9033" y="1521561"/>
            <a:ext cx="230428" cy="230428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1609344" y="1828800"/>
            <a:ext cx="749808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Pilot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457200" y="2029968"/>
            <a:ext cx="384048" cy="384048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0" name="Picture 17429" descr="fisher, marin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009" y="2106777"/>
            <a:ext cx="230428" cy="230428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274320" y="2414016"/>
            <a:ext cx="749808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Fisher</a:t>
            </a:r>
          </a:p>
        </p:txBody>
      </p:sp>
      <p:sp>
        <p:nvSpPr>
          <p:cNvPr id="17432" name="Oval 17431"/>
          <p:cNvSpPr/>
          <p:nvPr/>
        </p:nvSpPr>
        <p:spPr>
          <a:xfrm>
            <a:off x="1124712" y="2029968"/>
            <a:ext cx="384048" cy="384048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3" name="Picture 17432" descr="researcher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1521" y="2106777"/>
            <a:ext cx="230428" cy="230428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941832" y="2414016"/>
            <a:ext cx="749808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Researcher</a:t>
            </a:r>
          </a:p>
        </p:txBody>
      </p:sp>
      <p:sp>
        <p:nvSpPr>
          <p:cNvPr id="17435" name="Oval 17434"/>
          <p:cNvSpPr/>
          <p:nvPr/>
        </p:nvSpPr>
        <p:spPr>
          <a:xfrm>
            <a:off x="1792224" y="2029968"/>
            <a:ext cx="384048" cy="384048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6" name="Picture 17435" descr="citizens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69033" y="2106777"/>
            <a:ext cx="230428" cy="230428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1609344" y="2414016"/>
            <a:ext cx="749808" cy="1828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Citizen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65760" y="2651760"/>
            <a:ext cx="1920239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3D8FD1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39" name="Picture 17438" descr="mobile app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" y="2697480"/>
            <a:ext cx="182880" cy="182880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347472" y="289864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B2239"/>
                </a:solidFill>
                <a:latin typeface="Arial"/>
              </a:rPr>
              <a:t>App</a:t>
            </a:r>
          </a:p>
        </p:txBody>
      </p:sp>
      <p:pic>
        <p:nvPicPr>
          <p:cNvPr id="17441" name="Picture 17440" descr="website widget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964" y="2697480"/>
            <a:ext cx="182880" cy="182880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726947" y="289864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B2239"/>
                </a:solidFill>
                <a:latin typeface="Arial"/>
              </a:rPr>
              <a:t>Web</a:t>
            </a:r>
          </a:p>
        </p:txBody>
      </p:sp>
      <p:pic>
        <p:nvPicPr>
          <p:cNvPr id="17443" name="Picture 17442" descr="voice input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4440" y="2697480"/>
            <a:ext cx="182880" cy="182880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1106424" y="289864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B2239"/>
                </a:solidFill>
                <a:latin typeface="Arial"/>
              </a:rPr>
              <a:t>Voice</a:t>
            </a:r>
          </a:p>
        </p:txBody>
      </p:sp>
      <p:pic>
        <p:nvPicPr>
          <p:cNvPr id="17445" name="Picture 17444" descr="alert notification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13916" y="2697480"/>
            <a:ext cx="182880" cy="182880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1485899" y="289864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B2239"/>
                </a:solidFill>
                <a:latin typeface="Arial"/>
              </a:rPr>
              <a:t>Push</a:t>
            </a:r>
          </a:p>
        </p:txBody>
      </p:sp>
      <p:pic>
        <p:nvPicPr>
          <p:cNvPr id="17447" name="Picture 17446" descr="SMS and IVR 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3392" y="2697480"/>
            <a:ext cx="182880" cy="182880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1865376" y="289864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B2239"/>
                </a:solidFill>
                <a:latin typeface="Arial"/>
              </a:rPr>
              <a:t>SMS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2596896" y="1444752"/>
            <a:ext cx="11475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E9E5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50" name="Oval 17449"/>
          <p:cNvSpPr/>
          <p:nvPr/>
        </p:nvSpPr>
        <p:spPr>
          <a:xfrm>
            <a:off x="2642615" y="1554480"/>
            <a:ext cx="292608" cy="29260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1" name="Picture 17450" descr="conversational chat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01137" y="1613001"/>
            <a:ext cx="175564" cy="175564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2971800" y="1444752"/>
            <a:ext cx="745235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Chat · Vaani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3817620" y="1444752"/>
            <a:ext cx="11475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E9E5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54" name="Oval 17453"/>
          <p:cNvSpPr/>
          <p:nvPr/>
        </p:nvSpPr>
        <p:spPr>
          <a:xfrm>
            <a:off x="3863339" y="1554480"/>
            <a:ext cx="292608" cy="29260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5" name="Picture 17454" descr="alert notification 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21861" y="1613001"/>
            <a:ext cx="175564" cy="175564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4192524" y="1444752"/>
            <a:ext cx="745235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Alert inbox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2596896" y="2029968"/>
            <a:ext cx="11475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E9E5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58" name="Oval 17457"/>
          <p:cNvSpPr/>
          <p:nvPr/>
        </p:nvSpPr>
        <p:spPr>
          <a:xfrm>
            <a:off x="2642615" y="2139696"/>
            <a:ext cx="292608" cy="29260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9" name="Picture 17458" descr="district warning map 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01137" y="2198217"/>
            <a:ext cx="175564" cy="175564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2971800" y="2029968"/>
            <a:ext cx="745235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Warning map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3817620" y="2029968"/>
            <a:ext cx="11475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E9E5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62" name="Oval 17461"/>
          <p:cNvSpPr/>
          <p:nvPr/>
        </p:nvSpPr>
        <p:spPr>
          <a:xfrm>
            <a:off x="3863339" y="2139696"/>
            <a:ext cx="292608" cy="29260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3" name="Picture 17462" descr="crop-weather advisory 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21861" y="2198217"/>
            <a:ext cx="175564" cy="175564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4192524" y="2029968"/>
            <a:ext cx="745235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Krishi Salah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2596896" y="2615184"/>
            <a:ext cx="11475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E9E5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66" name="Oval 17465"/>
          <p:cNvSpPr/>
          <p:nvPr/>
        </p:nvSpPr>
        <p:spPr>
          <a:xfrm>
            <a:off x="2642615" y="2724912"/>
            <a:ext cx="292608" cy="29260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7" name="Picture 17466" descr="climate trend analysis 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01137" y="2783433"/>
            <a:ext cx="175564" cy="175564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2971800" y="2615184"/>
            <a:ext cx="745235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Jalvayu Lens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3817620" y="2615184"/>
            <a:ext cx="11475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2E9E5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70" name="Oval 17469"/>
          <p:cNvSpPr/>
          <p:nvPr/>
        </p:nvSpPr>
        <p:spPr>
          <a:xfrm>
            <a:off x="3863339" y="2724912"/>
            <a:ext cx="292608" cy="29260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71" name="Picture 17470" descr="offline cache 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21861" y="2783433"/>
            <a:ext cx="175564" cy="175564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4192524" y="2615184"/>
            <a:ext cx="745235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Offline cache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5276088" y="1481328"/>
            <a:ext cx="8686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5B5BC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5321807" y="1481328"/>
            <a:ext cx="795528" cy="60350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Gateway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WebSocket · SSE</a:t>
            </a:r>
          </a:p>
        </p:txBody>
      </p:sp>
      <p:sp>
        <p:nvSpPr>
          <p:cNvPr id="17475" name="Oval 17474"/>
          <p:cNvSpPr/>
          <p:nvPr/>
        </p:nvSpPr>
        <p:spPr>
          <a:xfrm>
            <a:off x="5221224" y="1417320"/>
            <a:ext cx="201168" cy="201168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6144768" y="1783080"/>
            <a:ext cx="75895" cy="0"/>
          </a:xfrm>
          <a:prstGeom prst="line">
            <a:avLst/>
          </a:prstGeom>
          <a:ln w="19050">
            <a:solidFill>
              <a:srgbClr val="5B5BC2"/>
            </a:solidFill>
            <a:tailEnd type="triangle" w="med" len="med"/>
          </a:ln>
        </p:spPr>
      </p:cxnSp>
      <p:sp>
        <p:nvSpPr>
          <p:cNvPr id="17477" name="Rounded Rectangle 17476"/>
          <p:cNvSpPr/>
          <p:nvPr/>
        </p:nvSpPr>
        <p:spPr>
          <a:xfrm>
            <a:off x="6220663" y="1481328"/>
            <a:ext cx="8686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5B5BC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78" name="TextBox 17477"/>
          <p:cNvSpPr txBox="1"/>
          <p:nvPr/>
        </p:nvSpPr>
        <p:spPr>
          <a:xfrm>
            <a:off x="6266383" y="1481328"/>
            <a:ext cx="795528" cy="60350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PLAN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LLM, re-plans once</a:t>
            </a:r>
          </a:p>
        </p:txBody>
      </p:sp>
      <p:sp>
        <p:nvSpPr>
          <p:cNvPr id="17479" name="Oval 17478"/>
          <p:cNvSpPr/>
          <p:nvPr/>
        </p:nvSpPr>
        <p:spPr>
          <a:xfrm>
            <a:off x="6165799" y="1417320"/>
            <a:ext cx="201168" cy="201168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7089343" y="1783080"/>
            <a:ext cx="75895" cy="0"/>
          </a:xfrm>
          <a:prstGeom prst="line">
            <a:avLst/>
          </a:prstGeom>
          <a:ln w="19050">
            <a:solidFill>
              <a:srgbClr val="5B5BC2"/>
            </a:solidFill>
            <a:tailEnd type="triangle" w="med" len="med"/>
          </a:ln>
        </p:spPr>
      </p:cxnSp>
      <p:sp>
        <p:nvSpPr>
          <p:cNvPr id="17481" name="Rounded Rectangle 17480"/>
          <p:cNvSpPr/>
          <p:nvPr/>
        </p:nvSpPr>
        <p:spPr>
          <a:xfrm>
            <a:off x="7165238" y="1481328"/>
            <a:ext cx="8686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5B5BC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82" name="TextBox 17481"/>
          <p:cNvSpPr txBox="1"/>
          <p:nvPr/>
        </p:nvSpPr>
        <p:spPr>
          <a:xfrm>
            <a:off x="7210958" y="1481328"/>
            <a:ext cx="795528" cy="60350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RETRIEVE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governed tools</a:t>
            </a:r>
          </a:p>
        </p:txBody>
      </p:sp>
      <p:sp>
        <p:nvSpPr>
          <p:cNvPr id="17483" name="Oval 17482"/>
          <p:cNvSpPr/>
          <p:nvPr/>
        </p:nvSpPr>
        <p:spPr>
          <a:xfrm>
            <a:off x="7110374" y="1417320"/>
            <a:ext cx="201168" cy="201168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484" name="Connector 17483"/>
          <p:cNvCxnSpPr/>
          <p:nvPr/>
        </p:nvCxnSpPr>
        <p:spPr>
          <a:xfrm>
            <a:off x="8033918" y="1783080"/>
            <a:ext cx="75895" cy="0"/>
          </a:xfrm>
          <a:prstGeom prst="line">
            <a:avLst/>
          </a:prstGeom>
          <a:ln w="19050">
            <a:solidFill>
              <a:srgbClr val="5B5BC2"/>
            </a:solidFill>
            <a:tailEnd type="triangle" w="med" len="med"/>
          </a:ln>
        </p:spPr>
      </p:cxnSp>
      <p:sp>
        <p:nvSpPr>
          <p:cNvPr id="17485" name="Rounded Rectangle 17484"/>
          <p:cNvSpPr/>
          <p:nvPr/>
        </p:nvSpPr>
        <p:spPr>
          <a:xfrm>
            <a:off x="8109813" y="1481328"/>
            <a:ext cx="86868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5B5BC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86" name="TextBox 17485"/>
          <p:cNvSpPr txBox="1"/>
          <p:nvPr/>
        </p:nvSpPr>
        <p:spPr>
          <a:xfrm>
            <a:off x="8155533" y="1481328"/>
            <a:ext cx="795527" cy="60350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WEIGH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never averaged</a:t>
            </a:r>
          </a:p>
        </p:txBody>
      </p:sp>
      <p:sp>
        <p:nvSpPr>
          <p:cNvPr id="17487" name="Oval 17486"/>
          <p:cNvSpPr/>
          <p:nvPr/>
        </p:nvSpPr>
        <p:spPr>
          <a:xfrm>
            <a:off x="8054949" y="1417320"/>
            <a:ext cx="201168" cy="201168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17488" name="Connector 17487"/>
          <p:cNvCxnSpPr/>
          <p:nvPr/>
        </p:nvCxnSpPr>
        <p:spPr>
          <a:xfrm>
            <a:off x="8544153" y="2084831"/>
            <a:ext cx="0" cy="402337"/>
          </a:xfrm>
          <a:prstGeom prst="line">
            <a:avLst/>
          </a:prstGeom>
          <a:ln w="25400">
            <a:solidFill>
              <a:srgbClr val="D97A06"/>
            </a:solidFill>
            <a:tailEnd type="triangle" w="med" len="med"/>
          </a:ln>
        </p:spPr>
      </p:cxnSp>
      <p:sp>
        <p:nvSpPr>
          <p:cNvPr id="17489" name="TextBox 17488"/>
          <p:cNvSpPr txBox="1"/>
          <p:nvPr/>
        </p:nvSpPr>
        <p:spPr>
          <a:xfrm>
            <a:off x="5276088" y="2157984"/>
            <a:ext cx="274320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55666E"/>
                </a:solidFill>
                <a:latin typeface="Arial"/>
              </a:rPr>
              <a:t>plan → retrieve → weigh → compose → </a:t>
            </a:r>
            <a:r>
              <a:rPr sz="850" b="1" i="1">
                <a:solidFill>
                  <a:srgbClr val="55666E"/>
                </a:solidFill>
                <a:latin typeface="Arial"/>
              </a:rPr>
              <a:t>verify</a:t>
            </a:r>
          </a:p>
        </p:txBody>
      </p:sp>
      <p:sp>
        <p:nvSpPr>
          <p:cNvPr id="17490" name="Rounded Rectangle 17489"/>
          <p:cNvSpPr/>
          <p:nvPr/>
        </p:nvSpPr>
        <p:spPr>
          <a:xfrm>
            <a:off x="8109813" y="2487168"/>
            <a:ext cx="8686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B5BC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91" name="TextBox 17490"/>
          <p:cNvSpPr txBox="1"/>
          <p:nvPr/>
        </p:nvSpPr>
        <p:spPr>
          <a:xfrm>
            <a:off x="8155533" y="2487168"/>
            <a:ext cx="795527" cy="6400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COMPOSE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LLM, from evidence</a:t>
            </a:r>
          </a:p>
        </p:txBody>
      </p:sp>
      <p:sp>
        <p:nvSpPr>
          <p:cNvPr id="17492" name="Oval 17491"/>
          <p:cNvSpPr/>
          <p:nvPr/>
        </p:nvSpPr>
        <p:spPr>
          <a:xfrm>
            <a:off x="8054949" y="2423160"/>
            <a:ext cx="201168" cy="201168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17493" name="Connector 17492"/>
          <p:cNvCxnSpPr/>
          <p:nvPr/>
        </p:nvCxnSpPr>
        <p:spPr>
          <a:xfrm flipH="1">
            <a:off x="8033918" y="2807208"/>
            <a:ext cx="75895" cy="0"/>
          </a:xfrm>
          <a:prstGeom prst="line">
            <a:avLst/>
          </a:prstGeom>
          <a:ln w="19050">
            <a:solidFill>
              <a:srgbClr val="5B5BC2"/>
            </a:solidFill>
            <a:tailEnd type="triangle" w="med" len="med"/>
          </a:ln>
        </p:spPr>
      </p:cxnSp>
      <p:sp>
        <p:nvSpPr>
          <p:cNvPr id="17494" name="Rounded Rectangle 17493"/>
          <p:cNvSpPr/>
          <p:nvPr/>
        </p:nvSpPr>
        <p:spPr>
          <a:xfrm>
            <a:off x="7165238" y="2487168"/>
            <a:ext cx="868680" cy="640080"/>
          </a:xfrm>
          <a:prstGeom prst="roundRect">
            <a:avLst>
              <a:gd name="adj" fmla="val 10000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95" name="TextBox 17494"/>
          <p:cNvSpPr txBox="1"/>
          <p:nvPr/>
        </p:nvSpPr>
        <p:spPr>
          <a:xfrm>
            <a:off x="7210958" y="2487168"/>
            <a:ext cx="795528" cy="6400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C766"/>
                </a:solidFill>
                <a:latin typeface="Arial"/>
              </a:rPr>
              <a:t>SATYA GATE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verify every value</a:t>
            </a:r>
          </a:p>
        </p:txBody>
      </p:sp>
      <p:sp>
        <p:nvSpPr>
          <p:cNvPr id="17496" name="Oval 17495"/>
          <p:cNvSpPr/>
          <p:nvPr/>
        </p:nvSpPr>
        <p:spPr>
          <a:xfrm>
            <a:off x="7110374" y="2423160"/>
            <a:ext cx="201168" cy="201168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cxnSp>
        <p:nvCxnSpPr>
          <p:cNvPr id="17497" name="Connector 17496"/>
          <p:cNvCxnSpPr/>
          <p:nvPr/>
        </p:nvCxnSpPr>
        <p:spPr>
          <a:xfrm flipH="1">
            <a:off x="7089343" y="2807208"/>
            <a:ext cx="75895" cy="0"/>
          </a:xfrm>
          <a:prstGeom prst="line">
            <a:avLst/>
          </a:prstGeom>
          <a:ln w="19050">
            <a:solidFill>
              <a:srgbClr val="5B5BC2"/>
            </a:solidFill>
            <a:tailEnd type="triangle" w="med" len="med"/>
          </a:ln>
        </p:spPr>
      </p:cxnSp>
      <p:sp>
        <p:nvSpPr>
          <p:cNvPr id="17498" name="Rounded Rectangle 17497"/>
          <p:cNvSpPr/>
          <p:nvPr/>
        </p:nvSpPr>
        <p:spPr>
          <a:xfrm>
            <a:off x="6220663" y="2487168"/>
            <a:ext cx="8686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B5BC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99" name="TextBox 17498"/>
          <p:cNvSpPr txBox="1"/>
          <p:nvPr/>
        </p:nvSpPr>
        <p:spPr>
          <a:xfrm>
            <a:off x="6266383" y="2487168"/>
            <a:ext cx="795528" cy="6400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Vaani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Sarvam AI voice</a:t>
            </a:r>
          </a:p>
        </p:txBody>
      </p:sp>
      <p:sp>
        <p:nvSpPr>
          <p:cNvPr id="17500" name="Oval 17499"/>
          <p:cNvSpPr/>
          <p:nvPr/>
        </p:nvSpPr>
        <p:spPr>
          <a:xfrm>
            <a:off x="6165799" y="2423160"/>
            <a:ext cx="201168" cy="201168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5276088" y="2487168"/>
            <a:ext cx="868680" cy="64008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1423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02" name="TextBox 17501"/>
          <p:cNvSpPr txBox="1"/>
          <p:nvPr/>
        </p:nvSpPr>
        <p:spPr>
          <a:xfrm>
            <a:off x="5276088" y="2487168"/>
            <a:ext cx="868680" cy="6400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1423F"/>
                </a:solidFill>
                <a:latin typeface="Arial"/>
              </a:rPr>
              <a:t>Chetavani Relay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alert lane</a:t>
            </a:r>
          </a:p>
        </p:txBody>
      </p:sp>
      <p:sp>
        <p:nvSpPr>
          <p:cNvPr id="17503" name="Rounded Rectangle 17502"/>
          <p:cNvSpPr/>
          <p:nvPr/>
        </p:nvSpPr>
        <p:spPr>
          <a:xfrm>
            <a:off x="9244584" y="1444752"/>
            <a:ext cx="12618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04" name="Oval 17503"/>
          <p:cNvSpPr/>
          <p:nvPr/>
        </p:nvSpPr>
        <p:spPr>
          <a:xfrm>
            <a:off x="9290304" y="1554480"/>
            <a:ext cx="292608" cy="292608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05" name="Picture 17504" descr="IMD real-time data feed 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48825" y="1613001"/>
            <a:ext cx="175564" cy="175564"/>
          </a:xfrm>
          <a:prstGeom prst="rect">
            <a:avLst/>
          </a:prstGeom>
        </p:spPr>
      </p:pic>
      <p:sp>
        <p:nvSpPr>
          <p:cNvPr id="17506" name="TextBox 17505"/>
          <p:cNvSpPr txBox="1"/>
          <p:nvPr/>
        </p:nvSpPr>
        <p:spPr>
          <a:xfrm>
            <a:off x="9619488" y="1444752"/>
            <a:ext cx="859536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IMD warnings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CAP · 756 districts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10579608" y="1444752"/>
            <a:ext cx="12618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08" name="Oval 17507"/>
          <p:cNvSpPr/>
          <p:nvPr/>
        </p:nvSpPr>
        <p:spPr>
          <a:xfrm>
            <a:off x="10625328" y="1554480"/>
            <a:ext cx="292608" cy="292608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09" name="Picture 17508" descr="bolt icon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83849" y="1613001"/>
            <a:ext cx="175564" cy="175564"/>
          </a:xfrm>
          <a:prstGeom prst="rect">
            <a:avLst/>
          </a:prstGeom>
        </p:spPr>
      </p:pic>
      <p:sp>
        <p:nvSpPr>
          <p:cNvPr id="17510" name="TextBox 17509"/>
          <p:cNvSpPr txBox="1"/>
          <p:nvPr/>
        </p:nvSpPr>
        <p:spPr>
          <a:xfrm>
            <a:off x="10954512" y="1444752"/>
            <a:ext cx="859535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IMD nowcast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764 districts</a:t>
            </a:r>
          </a:p>
        </p:txBody>
      </p:sp>
      <p:sp>
        <p:nvSpPr>
          <p:cNvPr id="17511" name="Rounded Rectangle 17510"/>
          <p:cNvSpPr/>
          <p:nvPr/>
        </p:nvSpPr>
        <p:spPr>
          <a:xfrm>
            <a:off x="9244584" y="2029968"/>
            <a:ext cx="12618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12" name="Oval 17511"/>
          <p:cNvSpPr/>
          <p:nvPr/>
        </p:nvSpPr>
        <p:spPr>
          <a:xfrm>
            <a:off x="9290304" y="2139696"/>
            <a:ext cx="292608" cy="292608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13" name="Picture 17512" descr="weather forecast, NWP model icon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48825" y="2198217"/>
            <a:ext cx="175564" cy="175564"/>
          </a:xfrm>
          <a:prstGeom prst="rect">
            <a:avLst/>
          </a:prstGeom>
        </p:spPr>
      </p:pic>
      <p:sp>
        <p:nvSpPr>
          <p:cNvPr id="17514" name="TextBox 17513"/>
          <p:cNvSpPr txBox="1"/>
          <p:nvPr/>
        </p:nvSpPr>
        <p:spPr>
          <a:xfrm>
            <a:off x="9619488" y="2029968"/>
            <a:ext cx="859536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Mausamgram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IMD multi-model</a:t>
            </a:r>
          </a:p>
        </p:txBody>
      </p:sp>
      <p:sp>
        <p:nvSpPr>
          <p:cNvPr id="17515" name="Rounded Rectangle 17514"/>
          <p:cNvSpPr/>
          <p:nvPr/>
        </p:nvSpPr>
        <p:spPr>
          <a:xfrm>
            <a:off x="10579608" y="2029968"/>
            <a:ext cx="12618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16" name="Oval 17515"/>
          <p:cNvSpPr/>
          <p:nvPr/>
        </p:nvSpPr>
        <p:spPr>
          <a:xfrm>
            <a:off x="10625328" y="2139696"/>
            <a:ext cx="292608" cy="292608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17" name="Picture 17516" descr="climate trend analysis 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83849" y="2198217"/>
            <a:ext cx="175564" cy="175564"/>
          </a:xfrm>
          <a:prstGeom prst="rect">
            <a:avLst/>
          </a:prstGeom>
        </p:spPr>
      </p:pic>
      <p:sp>
        <p:nvSpPr>
          <p:cNvPr id="17518" name="TextBox 17517"/>
          <p:cNvSpPr txBox="1"/>
          <p:nvPr/>
        </p:nvSpPr>
        <p:spPr>
          <a:xfrm>
            <a:off x="10954512" y="2029968"/>
            <a:ext cx="859535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IMD stations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2,071 AWS / ARG</a:t>
            </a:r>
          </a:p>
        </p:txBody>
      </p:sp>
      <p:sp>
        <p:nvSpPr>
          <p:cNvPr id="17519" name="Rounded Rectangle 17518"/>
          <p:cNvSpPr/>
          <p:nvPr/>
        </p:nvSpPr>
        <p:spPr>
          <a:xfrm>
            <a:off x="9244584" y="2615184"/>
            <a:ext cx="12618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20" name="Oval 17519"/>
          <p:cNvSpPr/>
          <p:nvPr/>
        </p:nvSpPr>
        <p:spPr>
          <a:xfrm>
            <a:off x="9290304" y="2724912"/>
            <a:ext cx="292608" cy="292608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21" name="Picture 17520" descr="satellite and radar icon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48825" y="2783433"/>
            <a:ext cx="175564" cy="175564"/>
          </a:xfrm>
          <a:prstGeom prst="rect">
            <a:avLst/>
          </a:prstGeom>
        </p:spPr>
      </p:pic>
      <p:sp>
        <p:nvSpPr>
          <p:cNvPr id="17522" name="TextBox 17521"/>
          <p:cNvSpPr txBox="1"/>
          <p:nvPr/>
        </p:nvSpPr>
        <p:spPr>
          <a:xfrm>
            <a:off x="9619488" y="2615184"/>
            <a:ext cx="859536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IMD sat · radar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INSAT-3DS · DWR</a:t>
            </a:r>
          </a:p>
        </p:txBody>
      </p:sp>
      <p:sp>
        <p:nvSpPr>
          <p:cNvPr id="17523" name="Rounded Rectangle 17522"/>
          <p:cNvSpPr/>
          <p:nvPr/>
        </p:nvSpPr>
        <p:spPr>
          <a:xfrm>
            <a:off x="10579608" y="2615184"/>
            <a:ext cx="12618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24" name="Oval 17523"/>
          <p:cNvSpPr/>
          <p:nvPr/>
        </p:nvSpPr>
        <p:spPr>
          <a:xfrm>
            <a:off x="10625328" y="2724912"/>
            <a:ext cx="292608" cy="292608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25" name="Picture 17524" descr="plan and fetch icon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83849" y="2783433"/>
            <a:ext cx="175564" cy="175564"/>
          </a:xfrm>
          <a:prstGeom prst="rect">
            <a:avLst/>
          </a:prstGeom>
        </p:spPr>
      </p:pic>
      <p:sp>
        <p:nvSpPr>
          <p:cNvPr id="17526" name="TextBox 17525"/>
          <p:cNvSpPr txBox="1"/>
          <p:nvPr/>
        </p:nvSpPr>
        <p:spPr>
          <a:xfrm>
            <a:off x="10954512" y="2615184"/>
            <a:ext cx="859535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Arial"/>
              </a:rPr>
              <a:t>Global second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GFS · WRF · WIS 2.0</a:t>
            </a:r>
          </a:p>
        </p:txBody>
      </p:sp>
      <p:cxnSp>
        <p:nvCxnSpPr>
          <p:cNvPr id="17527" name="Connector 17526"/>
          <p:cNvCxnSpPr/>
          <p:nvPr/>
        </p:nvCxnSpPr>
        <p:spPr>
          <a:xfrm>
            <a:off x="2331720" y="2212848"/>
            <a:ext cx="237743" cy="0"/>
          </a:xfrm>
          <a:prstGeom prst="line">
            <a:avLst/>
          </a:prstGeom>
          <a:ln w="31750">
            <a:solidFill>
              <a:srgbClr val="0B2239"/>
            </a:solidFill>
            <a:headEnd type="triangle" w="med" len="med"/>
            <a:tailEnd type="triangle" w="med" len="med"/>
          </a:ln>
        </p:spPr>
      </p:cxnSp>
      <p:cxnSp>
        <p:nvCxnSpPr>
          <p:cNvPr id="17528" name="Connector 17527"/>
          <p:cNvCxnSpPr/>
          <p:nvPr/>
        </p:nvCxnSpPr>
        <p:spPr>
          <a:xfrm>
            <a:off x="4992624" y="2212848"/>
            <a:ext cx="237744" cy="0"/>
          </a:xfrm>
          <a:prstGeom prst="line">
            <a:avLst/>
          </a:prstGeom>
          <a:ln w="31750">
            <a:solidFill>
              <a:srgbClr val="0B2239"/>
            </a:solidFill>
            <a:headEnd type="triangle" w="med" len="med"/>
            <a:tailEnd type="triangle" w="med" len="med"/>
          </a:ln>
        </p:spPr>
      </p:cxnSp>
      <p:cxnSp>
        <p:nvCxnSpPr>
          <p:cNvPr id="17529" name="Connector 17528"/>
          <p:cNvCxnSpPr/>
          <p:nvPr/>
        </p:nvCxnSpPr>
        <p:spPr>
          <a:xfrm>
            <a:off x="8979408" y="2212848"/>
            <a:ext cx="237744" cy="0"/>
          </a:xfrm>
          <a:prstGeom prst="line">
            <a:avLst/>
          </a:prstGeom>
          <a:ln w="31750">
            <a:solidFill>
              <a:srgbClr val="0B2239"/>
            </a:solidFill>
            <a:headEnd type="triangle" w="med" len="med"/>
            <a:tailEnd type="triangle" w="med" len="med"/>
          </a:ln>
        </p:spPr>
      </p:cxnSp>
      <p:sp>
        <p:nvSpPr>
          <p:cNvPr id="17530" name="Rounded Rectangle 17529"/>
          <p:cNvSpPr/>
          <p:nvPr/>
        </p:nvSpPr>
        <p:spPr>
          <a:xfrm>
            <a:off x="274320" y="3383280"/>
            <a:ext cx="11640312" cy="274320"/>
          </a:xfrm>
          <a:prstGeom prst="roundRect">
            <a:avLst>
              <a:gd name="adj" fmla="val 26666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THE RULE THAT NEVER BENDS:</a:t>
            </a:r>
            <a:r>
              <a:rPr sz="950" b="0" i="0">
                <a:solidFill>
                  <a:srgbClr val="FFFFFF"/>
                </a:solidFill>
                <a:latin typeface="Arial"/>
              </a:rPr>
              <a:t>  the LLM plans and speaks; it </a:t>
            </a:r>
            <a:r>
              <a:rPr sz="950" b="1" i="0">
                <a:solidFill>
                  <a:srgbClr val="FFC766"/>
                </a:solidFill>
                <a:latin typeface="Arial"/>
              </a:rPr>
              <a:t>never</a:t>
            </a:r>
            <a:r>
              <a:rPr sz="950" b="0" i="0">
                <a:solidFill>
                  <a:srgbClr val="FFFFFF"/>
                </a:solidFill>
                <a:latin typeface="Arial"/>
              </a:rPr>
              <a:t> supplies a number, unit, place, time-window or warning level. Tools own every value.</a:t>
            </a:r>
          </a:p>
        </p:txBody>
      </p:sp>
      <p:sp>
        <p:nvSpPr>
          <p:cNvPr id="17531" name="Rounded Rectangle 17530"/>
          <p:cNvSpPr/>
          <p:nvPr/>
        </p:nvSpPr>
        <p:spPr>
          <a:xfrm>
            <a:off x="274320" y="3730752"/>
            <a:ext cx="5769864" cy="1627632"/>
          </a:xfrm>
          <a:prstGeom prst="roundRect">
            <a:avLst>
              <a:gd name="adj" fmla="val 6741"/>
            </a:avLst>
          </a:prstGeom>
          <a:gradFill rotWithShape="1">
            <a:gsLst>
              <a:gs pos="0">
                <a:srgbClr val="081A2C"/>
              </a:gs>
              <a:gs pos="100000">
                <a:srgbClr val="123E63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32" name="Oval 17531"/>
          <p:cNvSpPr/>
          <p:nvPr/>
        </p:nvSpPr>
        <p:spPr>
          <a:xfrm>
            <a:off x="384048" y="3803904"/>
            <a:ext cx="310896" cy="310896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33" name="Picture 17532" descr="Satya Gate verifier icon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6227" y="3866083"/>
            <a:ext cx="186537" cy="186537"/>
          </a:xfrm>
          <a:prstGeom prst="rect">
            <a:avLst/>
          </a:prstGeom>
        </p:spPr>
      </p:pic>
      <p:sp>
        <p:nvSpPr>
          <p:cNvPr id="17534" name="TextBox 17533"/>
          <p:cNvSpPr txBox="1"/>
          <p:nvPr/>
        </p:nvSpPr>
        <p:spPr>
          <a:xfrm>
            <a:off x="749808" y="3785615"/>
            <a:ext cx="5221224" cy="34747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Satya Gate</a:t>
            </a:r>
            <a:r>
              <a:rPr sz="1250" b="0" i="0">
                <a:solidFill>
                  <a:srgbClr val="FFFFFF"/>
                </a:solidFill>
                <a:latin typeface="Times New Roman"/>
              </a:rPr>
              <a:t>: how a number earns its place on screen</a:t>
            </a:r>
          </a:p>
        </p:txBody>
      </p:sp>
      <p:sp>
        <p:nvSpPr>
          <p:cNvPr id="17535" name="Rounded Rectangle 17534"/>
          <p:cNvSpPr/>
          <p:nvPr/>
        </p:nvSpPr>
        <p:spPr>
          <a:xfrm>
            <a:off x="384048" y="4187952"/>
            <a:ext cx="1284731" cy="292608"/>
          </a:xfrm>
          <a:prstGeom prst="roundRect">
            <a:avLst>
              <a:gd name="adj" fmla="val 21875"/>
            </a:avLst>
          </a:prstGeom>
          <a:solidFill>
            <a:srgbClr val="163A5C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Model composes</a:t>
            </a:r>
          </a:p>
        </p:txBody>
      </p:sp>
      <p:cxnSp>
        <p:nvCxnSpPr>
          <p:cNvPr id="17536" name="Connector 17535"/>
          <p:cNvCxnSpPr/>
          <p:nvPr/>
        </p:nvCxnSpPr>
        <p:spPr>
          <a:xfrm>
            <a:off x="1668779" y="4334256"/>
            <a:ext cx="137160" cy="0"/>
          </a:xfrm>
          <a:prstGeom prst="line">
            <a:avLst/>
          </a:prstGeom>
          <a:ln w="19050">
            <a:solidFill>
              <a:srgbClr val="8AD8F5"/>
            </a:solidFill>
            <a:tailEnd type="triangle" w="med" len="med"/>
          </a:ln>
        </p:spPr>
      </p:cxnSp>
      <p:sp>
        <p:nvSpPr>
          <p:cNvPr id="17537" name="Rounded Rectangle 17536"/>
          <p:cNvSpPr/>
          <p:nvPr/>
        </p:nvSpPr>
        <p:spPr>
          <a:xfrm>
            <a:off x="1805939" y="4187952"/>
            <a:ext cx="1284731" cy="292608"/>
          </a:xfrm>
          <a:prstGeom prst="roundRect">
            <a:avLst>
              <a:gd name="adj" fmla="val 21875"/>
            </a:avLst>
          </a:prstGeom>
          <a:solidFill>
            <a:srgbClr val="163A5C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Check each claim</a:t>
            </a:r>
          </a:p>
        </p:txBody>
      </p:sp>
      <p:cxnSp>
        <p:nvCxnSpPr>
          <p:cNvPr id="17538" name="Connector 17537"/>
          <p:cNvCxnSpPr/>
          <p:nvPr/>
        </p:nvCxnSpPr>
        <p:spPr>
          <a:xfrm>
            <a:off x="3090671" y="4334256"/>
            <a:ext cx="137160" cy="0"/>
          </a:xfrm>
          <a:prstGeom prst="line">
            <a:avLst/>
          </a:prstGeom>
          <a:ln w="19050">
            <a:solidFill>
              <a:srgbClr val="8AD8F5"/>
            </a:solidFill>
            <a:tailEnd type="triangle" w="med" len="med"/>
          </a:ln>
        </p:spPr>
      </p:cxnSp>
      <p:sp>
        <p:nvSpPr>
          <p:cNvPr id="17539" name="Rounded Rectangle 17538"/>
          <p:cNvSpPr/>
          <p:nvPr/>
        </p:nvSpPr>
        <p:spPr>
          <a:xfrm>
            <a:off x="3227831" y="4187952"/>
            <a:ext cx="1284731" cy="292608"/>
          </a:xfrm>
          <a:prstGeom prst="roundRect">
            <a:avLst>
              <a:gd name="adj" fmla="val 21875"/>
            </a:avLst>
          </a:prstGeom>
          <a:solidFill>
            <a:srgbClr val="163A5C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Restore safety clauses</a:t>
            </a:r>
          </a:p>
        </p:txBody>
      </p:sp>
      <p:cxnSp>
        <p:nvCxnSpPr>
          <p:cNvPr id="17540" name="Connector 17539"/>
          <p:cNvCxnSpPr/>
          <p:nvPr/>
        </p:nvCxnSpPr>
        <p:spPr>
          <a:xfrm>
            <a:off x="4512563" y="4334256"/>
            <a:ext cx="137160" cy="0"/>
          </a:xfrm>
          <a:prstGeom prst="line">
            <a:avLst/>
          </a:prstGeom>
          <a:ln w="19050">
            <a:solidFill>
              <a:srgbClr val="8AD8F5"/>
            </a:solidFill>
            <a:tailEnd type="triangle" w="med" len="med"/>
          </a:ln>
        </p:spPr>
      </p:cxnSp>
      <p:sp>
        <p:nvSpPr>
          <p:cNvPr id="17541" name="Rounded Rectangle 17540"/>
          <p:cNvSpPr/>
          <p:nvPr/>
        </p:nvSpPr>
        <p:spPr>
          <a:xfrm>
            <a:off x="4649723" y="4187952"/>
            <a:ext cx="1284731" cy="292608"/>
          </a:xfrm>
          <a:prstGeom prst="roundRect">
            <a:avLst>
              <a:gd name="adj" fmla="val 21875"/>
            </a:avLst>
          </a:prstGeom>
          <a:solidFill>
            <a:srgbClr val="163A5C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Show, or keep floor</a:t>
            </a:r>
          </a:p>
        </p:txBody>
      </p:sp>
      <p:sp>
        <p:nvSpPr>
          <p:cNvPr id="17542" name="Rounded Rectangle 17541"/>
          <p:cNvSpPr/>
          <p:nvPr/>
        </p:nvSpPr>
        <p:spPr>
          <a:xfrm>
            <a:off x="384048" y="4553712"/>
            <a:ext cx="2720339" cy="548640"/>
          </a:xfrm>
          <a:prstGeom prst="roundRect">
            <a:avLst>
              <a:gd name="adj" fmla="val 10000"/>
            </a:avLst>
          </a:prstGeom>
          <a:solidFill>
            <a:srgbClr val="06121F"/>
          </a:solidFill>
          <a:ln w="9525">
            <a:solidFill>
              <a:srgbClr val="2C517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43" name="TextBox 17542"/>
          <p:cNvSpPr txBox="1"/>
          <p:nvPr/>
        </p:nvSpPr>
        <p:spPr>
          <a:xfrm>
            <a:off x="448056" y="4553712"/>
            <a:ext cx="2628899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C766"/>
                </a:solidFill>
                <a:latin typeface="Courier New"/>
              </a:rPr>
              <a:t>CLAIM   from the draft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ourier New"/>
              </a:rPr>
              <a:t>value   5.6 mm, window total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ourier New"/>
              </a:rPr>
              <a:t>place   Pune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ourier New"/>
              </a:rPr>
              <a:t>window  23 Sep · 8 × 3 h</a:t>
            </a:r>
          </a:p>
        </p:txBody>
      </p:sp>
      <p:sp>
        <p:nvSpPr>
          <p:cNvPr id="17544" name="Rounded Rectangle 17543"/>
          <p:cNvSpPr/>
          <p:nvPr/>
        </p:nvSpPr>
        <p:spPr>
          <a:xfrm>
            <a:off x="3214115" y="4553712"/>
            <a:ext cx="2720339" cy="548640"/>
          </a:xfrm>
          <a:prstGeom prst="roundRect">
            <a:avLst>
              <a:gd name="adj" fmla="val 10000"/>
            </a:avLst>
          </a:prstGeom>
          <a:solidFill>
            <a:srgbClr val="06121F"/>
          </a:solidFill>
          <a:ln w="9525">
            <a:solidFill>
              <a:srgbClr val="2C517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45" name="TextBox 17544"/>
          <p:cNvSpPr txBox="1"/>
          <p:nvPr/>
        </p:nvSpPr>
        <p:spPr>
          <a:xfrm>
            <a:off x="3278123" y="4553712"/>
            <a:ext cx="2628899" cy="54864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8AD8F5"/>
                </a:solidFill>
                <a:latin typeface="Courier New"/>
              </a:rPr>
              <a:t>EVIDENCE   IMD Mausamgram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ourier New"/>
              </a:rPr>
              <a:t>grid    0.125° · 3.0 km away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ourier New"/>
              </a:rPr>
              <a:t>cell    18.5N 73.875E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Courier New"/>
              </a:rPr>
              <a:t>init    22 Sep 00Z · summed</a:t>
            </a:r>
          </a:p>
        </p:txBody>
      </p:sp>
      <p:sp>
        <p:nvSpPr>
          <p:cNvPr id="17546" name="Oval 17545"/>
          <p:cNvSpPr/>
          <p:nvPr/>
        </p:nvSpPr>
        <p:spPr>
          <a:xfrm>
            <a:off x="3086099" y="4709160"/>
            <a:ext cx="237744" cy="23774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17547" name="TextBox 17546"/>
          <p:cNvSpPr txBox="1"/>
          <p:nvPr/>
        </p:nvSpPr>
        <p:spPr>
          <a:xfrm>
            <a:off x="384048" y="5120640"/>
            <a:ext cx="5550407" cy="21945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7BDDA3"/>
                </a:solidFill>
                <a:latin typeface="Arial"/>
              </a:rPr>
              <a:t>match → shown with receipt</a:t>
            </a:r>
            <a:r>
              <a:rPr sz="850" b="0" i="0">
                <a:solidFill>
                  <a:srgbClr val="FFFFFF"/>
                </a:solidFill>
                <a:latin typeface="Arial"/>
              </a:rPr>
              <a:t>     ·     </a:t>
            </a:r>
            <a:r>
              <a:rPr sz="850" b="1" i="0">
                <a:solidFill>
                  <a:srgbClr val="C2410C"/>
                </a:solidFill>
                <a:latin typeface="Arial"/>
              </a:rPr>
              <a:t>no match → withheld, never guessed</a:t>
            </a:r>
          </a:p>
        </p:txBody>
      </p:sp>
      <p:sp>
        <p:nvSpPr>
          <p:cNvPr id="17548" name="Rounded Rectangle 17547"/>
          <p:cNvSpPr/>
          <p:nvPr/>
        </p:nvSpPr>
        <p:spPr>
          <a:xfrm>
            <a:off x="6144768" y="3730752"/>
            <a:ext cx="5769864" cy="1627632"/>
          </a:xfrm>
          <a:prstGeom prst="roundRect">
            <a:avLst>
              <a:gd name="adj" fmla="val 6741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49" name="Oval 17548"/>
          <p:cNvSpPr/>
          <p:nvPr/>
        </p:nvSpPr>
        <p:spPr>
          <a:xfrm>
            <a:off x="6254496" y="3803904"/>
            <a:ext cx="310896" cy="310896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50" name="Picture 17549" descr="IMD real-time data feed 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16675" y="3866083"/>
            <a:ext cx="186537" cy="186537"/>
          </a:xfrm>
          <a:prstGeom prst="rect">
            <a:avLst/>
          </a:prstGeom>
        </p:spPr>
      </p:pic>
      <p:sp>
        <p:nvSpPr>
          <p:cNvPr id="17551" name="TextBox 17550"/>
          <p:cNvSpPr txBox="1"/>
          <p:nvPr/>
        </p:nvSpPr>
        <p:spPr>
          <a:xfrm>
            <a:off x="6620256" y="3785615"/>
            <a:ext cx="5221224" cy="34747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A4F70"/>
                </a:solidFill>
                <a:latin typeface="Times New Roman"/>
              </a:rPr>
              <a:t>Mausam Setu</a:t>
            </a:r>
            <a:r>
              <a:rPr sz="1250" b="0" i="0">
                <a:solidFill>
                  <a:srgbClr val="0B2239"/>
                </a:solidFill>
                <a:latin typeface="Times New Roman"/>
              </a:rPr>
              <a:t>: real-time data ingestion &amp; alerts</a:t>
            </a:r>
          </a:p>
        </p:txBody>
      </p:sp>
      <p:sp>
        <p:nvSpPr>
          <p:cNvPr id="17552" name="Rounded Rectangle 17551"/>
          <p:cNvSpPr/>
          <p:nvPr/>
        </p:nvSpPr>
        <p:spPr>
          <a:xfrm>
            <a:off x="6254496" y="4169664"/>
            <a:ext cx="1058875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53" name="TextBox 17552"/>
          <p:cNvSpPr txBox="1"/>
          <p:nvPr/>
        </p:nvSpPr>
        <p:spPr>
          <a:xfrm>
            <a:off x="6254496" y="4169664"/>
            <a:ext cx="1058875" cy="347472"/>
          </a:xfrm>
          <a:prstGeom prst="rect">
            <a:avLst/>
          </a:prstGeom>
          <a:noFill/>
        </p:spPr>
        <p:txBody>
          <a:bodyPr wrap="square" lIns="9144" tIns="0" rIns="9144" bIns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WIS 2.0 MQTT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A4F70"/>
                </a:solidFill>
                <a:latin typeface="Arial"/>
              </a:rPr>
              <a:t>push</a:t>
            </a:r>
          </a:p>
        </p:txBody>
      </p:sp>
      <p:cxnSp>
        <p:nvCxnSpPr>
          <p:cNvPr id="17554" name="Connector 17553"/>
          <p:cNvCxnSpPr/>
          <p:nvPr/>
        </p:nvCxnSpPr>
        <p:spPr>
          <a:xfrm>
            <a:off x="6783933" y="4517136"/>
            <a:ext cx="0" cy="82296"/>
          </a:xfrm>
          <a:prstGeom prst="line">
            <a:avLst/>
          </a:prstGeom>
          <a:ln w="15875">
            <a:solidFill>
              <a:srgbClr val="0A4F70"/>
            </a:solidFill>
            <a:tailEnd type="triangle" w="med" len="med"/>
          </a:ln>
        </p:spPr>
      </p:cxnSp>
      <p:sp>
        <p:nvSpPr>
          <p:cNvPr id="17555" name="Rounded Rectangle 17554"/>
          <p:cNvSpPr/>
          <p:nvPr/>
        </p:nvSpPr>
        <p:spPr>
          <a:xfrm>
            <a:off x="7377379" y="4169664"/>
            <a:ext cx="1058875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56" name="TextBox 17555"/>
          <p:cNvSpPr txBox="1"/>
          <p:nvPr/>
        </p:nvSpPr>
        <p:spPr>
          <a:xfrm>
            <a:off x="7377379" y="4169664"/>
            <a:ext cx="1058875" cy="347472"/>
          </a:xfrm>
          <a:prstGeom prst="rect">
            <a:avLst/>
          </a:prstGeom>
          <a:noFill/>
        </p:spPr>
        <p:txBody>
          <a:bodyPr wrap="square" lIns="9144" tIns="0" rIns="9144" bIns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IMD CAP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A4F70"/>
                </a:solidFill>
                <a:latin typeface="Arial"/>
              </a:rPr>
              <a:t>every 60 s</a:t>
            </a:r>
          </a:p>
        </p:txBody>
      </p:sp>
      <p:cxnSp>
        <p:nvCxnSpPr>
          <p:cNvPr id="17557" name="Connector 17556"/>
          <p:cNvCxnSpPr/>
          <p:nvPr/>
        </p:nvCxnSpPr>
        <p:spPr>
          <a:xfrm>
            <a:off x="7906816" y="4517136"/>
            <a:ext cx="0" cy="82296"/>
          </a:xfrm>
          <a:prstGeom prst="line">
            <a:avLst/>
          </a:prstGeom>
          <a:ln w="15875">
            <a:solidFill>
              <a:srgbClr val="0A4F70"/>
            </a:solidFill>
            <a:tailEnd type="triangle" w="med" len="med"/>
          </a:ln>
        </p:spPr>
      </p:cxnSp>
      <p:sp>
        <p:nvSpPr>
          <p:cNvPr id="17558" name="Rounded Rectangle 17557"/>
          <p:cNvSpPr/>
          <p:nvPr/>
        </p:nvSpPr>
        <p:spPr>
          <a:xfrm>
            <a:off x="8500262" y="4169664"/>
            <a:ext cx="1058875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59" name="TextBox 17558"/>
          <p:cNvSpPr txBox="1"/>
          <p:nvPr/>
        </p:nvSpPr>
        <p:spPr>
          <a:xfrm>
            <a:off x="8500262" y="4169664"/>
            <a:ext cx="1058875" cy="347472"/>
          </a:xfrm>
          <a:prstGeom prst="rect">
            <a:avLst/>
          </a:prstGeom>
          <a:noFill/>
        </p:spPr>
        <p:txBody>
          <a:bodyPr wrap="square" lIns="9144" tIns="0" rIns="9144" bIns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IMD nowcast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A4F70"/>
                </a:solidFill>
                <a:latin typeface="Arial"/>
              </a:rPr>
              <a:t>every 5 min</a:t>
            </a:r>
          </a:p>
        </p:txBody>
      </p:sp>
      <p:cxnSp>
        <p:nvCxnSpPr>
          <p:cNvPr id="17560" name="Connector 17559"/>
          <p:cNvCxnSpPr/>
          <p:nvPr/>
        </p:nvCxnSpPr>
        <p:spPr>
          <a:xfrm>
            <a:off x="9029700" y="4517136"/>
            <a:ext cx="0" cy="82296"/>
          </a:xfrm>
          <a:prstGeom prst="line">
            <a:avLst/>
          </a:prstGeom>
          <a:ln w="15875">
            <a:solidFill>
              <a:srgbClr val="0A4F70"/>
            </a:solidFill>
            <a:tailEnd type="triangle" w="med" len="med"/>
          </a:ln>
        </p:spPr>
      </p:cxnSp>
      <p:sp>
        <p:nvSpPr>
          <p:cNvPr id="17561" name="Rounded Rectangle 17560"/>
          <p:cNvSpPr/>
          <p:nvPr/>
        </p:nvSpPr>
        <p:spPr>
          <a:xfrm>
            <a:off x="9623145" y="4169664"/>
            <a:ext cx="1058875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62" name="TextBox 17561"/>
          <p:cNvSpPr txBox="1"/>
          <p:nvPr/>
        </p:nvSpPr>
        <p:spPr>
          <a:xfrm>
            <a:off x="9623145" y="4169664"/>
            <a:ext cx="1058875" cy="347472"/>
          </a:xfrm>
          <a:prstGeom prst="rect">
            <a:avLst/>
          </a:prstGeom>
          <a:noFill/>
        </p:spPr>
        <p:txBody>
          <a:bodyPr wrap="square" lIns="9144" tIns="0" rIns="9144" bIns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Mausamgram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A4F70"/>
                </a:solidFill>
                <a:latin typeface="Arial"/>
              </a:rPr>
              <a:t>each run</a:t>
            </a:r>
          </a:p>
        </p:txBody>
      </p:sp>
      <p:cxnSp>
        <p:nvCxnSpPr>
          <p:cNvPr id="17563" name="Connector 17562"/>
          <p:cNvCxnSpPr/>
          <p:nvPr/>
        </p:nvCxnSpPr>
        <p:spPr>
          <a:xfrm>
            <a:off x="10152583" y="4517136"/>
            <a:ext cx="0" cy="82296"/>
          </a:xfrm>
          <a:prstGeom prst="line">
            <a:avLst/>
          </a:prstGeom>
          <a:ln w="15875">
            <a:solidFill>
              <a:srgbClr val="0A4F70"/>
            </a:solidFill>
            <a:tailEnd type="triangle" w="med" len="med"/>
          </a:ln>
        </p:spPr>
      </p:cxnSp>
      <p:sp>
        <p:nvSpPr>
          <p:cNvPr id="17564" name="Rounded Rectangle 17563"/>
          <p:cNvSpPr/>
          <p:nvPr/>
        </p:nvSpPr>
        <p:spPr>
          <a:xfrm>
            <a:off x="10746028" y="4169664"/>
            <a:ext cx="1058875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0F6E9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65" name="TextBox 17564"/>
          <p:cNvSpPr txBox="1"/>
          <p:nvPr/>
        </p:nvSpPr>
        <p:spPr>
          <a:xfrm>
            <a:off x="10746028" y="4169664"/>
            <a:ext cx="1058875" cy="347472"/>
          </a:xfrm>
          <a:prstGeom prst="rect">
            <a:avLst/>
          </a:prstGeom>
          <a:noFill/>
        </p:spPr>
        <p:txBody>
          <a:bodyPr wrap="square" lIns="9144" tIns="0" rIns="9144" bIns="0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INSAT · DWR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A4F70"/>
                </a:solidFill>
                <a:latin typeface="Arial"/>
              </a:rPr>
              <a:t>each scan</a:t>
            </a:r>
          </a:p>
        </p:txBody>
      </p:sp>
      <p:cxnSp>
        <p:nvCxnSpPr>
          <p:cNvPr id="17566" name="Connector 17565"/>
          <p:cNvCxnSpPr/>
          <p:nvPr/>
        </p:nvCxnSpPr>
        <p:spPr>
          <a:xfrm>
            <a:off x="11275466" y="4517136"/>
            <a:ext cx="0" cy="82296"/>
          </a:xfrm>
          <a:prstGeom prst="line">
            <a:avLst/>
          </a:prstGeom>
          <a:ln w="15875">
            <a:solidFill>
              <a:srgbClr val="0A4F70"/>
            </a:solidFill>
            <a:tailEnd type="triangle" w="med" len="med"/>
          </a:ln>
        </p:spPr>
      </p:cxnSp>
      <p:sp>
        <p:nvSpPr>
          <p:cNvPr id="17567" name="Rounded Rectangle 17566"/>
          <p:cNvSpPr/>
          <p:nvPr/>
        </p:nvSpPr>
        <p:spPr>
          <a:xfrm>
            <a:off x="6254496" y="4599432"/>
            <a:ext cx="1284731" cy="347472"/>
          </a:xfrm>
          <a:prstGeom prst="roundRect">
            <a:avLst>
              <a:gd name="adj" fmla="val 18421"/>
            </a:avLst>
          </a:prstGeom>
          <a:solidFill>
            <a:srgbClr val="DFEFF8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B2239"/>
                </a:solidFill>
                <a:latin typeface="Arial"/>
              </a:rPr>
              <a:t>Normalise · CAP 1.2</a:t>
            </a:r>
          </a:p>
        </p:txBody>
      </p:sp>
      <p:cxnSp>
        <p:nvCxnSpPr>
          <p:cNvPr id="17568" name="Connector 17567"/>
          <p:cNvCxnSpPr/>
          <p:nvPr/>
        </p:nvCxnSpPr>
        <p:spPr>
          <a:xfrm>
            <a:off x="7539227" y="4773168"/>
            <a:ext cx="137161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569" name="Rounded Rectangle 17568"/>
          <p:cNvSpPr/>
          <p:nvPr/>
        </p:nvSpPr>
        <p:spPr>
          <a:xfrm>
            <a:off x="7676388" y="4599432"/>
            <a:ext cx="1284731" cy="347472"/>
          </a:xfrm>
          <a:prstGeom prst="roundRect">
            <a:avLst>
              <a:gd name="adj" fmla="val 18421"/>
            </a:avLst>
          </a:prstGeom>
          <a:solidFill>
            <a:srgbClr val="DFEFF8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B2239"/>
                </a:solidFill>
                <a:latin typeface="Arial"/>
              </a:rPr>
              <a:t>PostgreSQL · PostGIS</a:t>
            </a:r>
          </a:p>
        </p:txBody>
      </p:sp>
      <p:cxnSp>
        <p:nvCxnSpPr>
          <p:cNvPr id="17570" name="Connector 17569"/>
          <p:cNvCxnSpPr/>
          <p:nvPr/>
        </p:nvCxnSpPr>
        <p:spPr>
          <a:xfrm>
            <a:off x="8961119" y="4773168"/>
            <a:ext cx="137161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571" name="Rounded Rectangle 17570"/>
          <p:cNvSpPr/>
          <p:nvPr/>
        </p:nvSpPr>
        <p:spPr>
          <a:xfrm>
            <a:off x="9098280" y="4599432"/>
            <a:ext cx="1284731" cy="347472"/>
          </a:xfrm>
          <a:prstGeom prst="roundRect">
            <a:avLst>
              <a:gd name="adj" fmla="val 18421"/>
            </a:avLst>
          </a:prstGeom>
          <a:solidFill>
            <a:srgbClr val="DFEFF8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B2239"/>
                </a:solidFill>
                <a:latin typeface="Arial"/>
              </a:rPr>
              <a:t>Change detector</a:t>
            </a:r>
          </a:p>
        </p:txBody>
      </p:sp>
      <p:cxnSp>
        <p:nvCxnSpPr>
          <p:cNvPr id="17572" name="Connector 17571"/>
          <p:cNvCxnSpPr/>
          <p:nvPr/>
        </p:nvCxnSpPr>
        <p:spPr>
          <a:xfrm>
            <a:off x="10383011" y="4773168"/>
            <a:ext cx="137161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573" name="Rounded Rectangle 17572"/>
          <p:cNvSpPr/>
          <p:nvPr/>
        </p:nvSpPr>
        <p:spPr>
          <a:xfrm>
            <a:off x="10520172" y="4599432"/>
            <a:ext cx="1284731" cy="347472"/>
          </a:xfrm>
          <a:prstGeom prst="roundRect">
            <a:avLst>
              <a:gd name="adj" fmla="val 18421"/>
            </a:avLst>
          </a:prstGeom>
          <a:solidFill>
            <a:srgbClr val="D1423F"/>
          </a:solidFill>
          <a:ln>
            <a:noFill/>
          </a:ln>
          <a:effectLst/>
        </p:spPr>
        <p:txBody>
          <a:bodyPr rtlCol="0" anchor="ctr" wrap="square" lIns="36576" tIns="0" rIns="36576" bIns="0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rial"/>
              </a:rPr>
              <a:t>Chetavani Relay: push · SMS · IVR, &lt; 60 s</a:t>
            </a:r>
          </a:p>
        </p:txBody>
      </p:sp>
      <p:sp>
        <p:nvSpPr>
          <p:cNvPr id="17574" name="Rounded Rectangle 17573"/>
          <p:cNvSpPr/>
          <p:nvPr/>
        </p:nvSpPr>
        <p:spPr>
          <a:xfrm>
            <a:off x="6254496" y="5020056"/>
            <a:ext cx="1801367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2E9E5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75" name="Oval 17574"/>
          <p:cNvSpPr/>
          <p:nvPr/>
        </p:nvSpPr>
        <p:spPr>
          <a:xfrm>
            <a:off x="6300216" y="5061204"/>
            <a:ext cx="192024" cy="19202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76" name="Picture 17575" descr="IMD bulletin RAG index icon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38620" y="5099608"/>
            <a:ext cx="115214" cy="115214"/>
          </a:xfrm>
          <a:prstGeom prst="rect">
            <a:avLst/>
          </a:prstGeom>
        </p:spPr>
      </p:pic>
      <p:sp>
        <p:nvSpPr>
          <p:cNvPr id="17577" name="TextBox 17576"/>
          <p:cNvSpPr txBox="1"/>
          <p:nvPr/>
        </p:nvSpPr>
        <p:spPr>
          <a:xfrm>
            <a:off x="6519672" y="5020056"/>
            <a:ext cx="1517903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11,721 bulletin passages</a:t>
            </a:r>
          </a:p>
        </p:txBody>
      </p:sp>
      <p:sp>
        <p:nvSpPr>
          <p:cNvPr id="17578" name="Rounded Rectangle 17577"/>
          <p:cNvSpPr/>
          <p:nvPr/>
        </p:nvSpPr>
        <p:spPr>
          <a:xfrm>
            <a:off x="8129016" y="5020056"/>
            <a:ext cx="1801367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5B5BC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79" name="Oval 17578"/>
          <p:cNvSpPr/>
          <p:nvPr/>
        </p:nvSpPr>
        <p:spPr>
          <a:xfrm>
            <a:off x="8174736" y="5061204"/>
            <a:ext cx="192024" cy="192024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80" name="Picture 17579" descr="geo-resolution search icon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13140" y="5099608"/>
            <a:ext cx="115214" cy="115214"/>
          </a:xfrm>
          <a:prstGeom prst="rect">
            <a:avLst/>
          </a:prstGeom>
        </p:spPr>
      </p:pic>
      <p:sp>
        <p:nvSpPr>
          <p:cNvPr id="17581" name="TextBox 17580"/>
          <p:cNvSpPr txBox="1"/>
          <p:nvPr/>
        </p:nvSpPr>
        <p:spPr>
          <a:xfrm>
            <a:off x="8394192" y="5020056"/>
            <a:ext cx="1517903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Place → 1 of 756 districts</a:t>
            </a:r>
          </a:p>
        </p:txBody>
      </p:sp>
      <p:sp>
        <p:nvSpPr>
          <p:cNvPr id="17582" name="Rounded Rectangle 17581"/>
          <p:cNvSpPr/>
          <p:nvPr/>
        </p:nvSpPr>
        <p:spPr>
          <a:xfrm>
            <a:off x="10003536" y="5020056"/>
            <a:ext cx="1801367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9525">
            <a:solidFill>
              <a:srgbClr val="3D8FD1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83" name="Oval 17582"/>
          <p:cNvSpPr/>
          <p:nvPr/>
        </p:nvSpPr>
        <p:spPr>
          <a:xfrm>
            <a:off x="10049256" y="5061204"/>
            <a:ext cx="192024" cy="192024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84" name="Picture 17583" descr="verified icon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87660" y="5099608"/>
            <a:ext cx="115214" cy="115214"/>
          </a:xfrm>
          <a:prstGeom prst="rect">
            <a:avLst/>
          </a:prstGeom>
        </p:spPr>
      </p:pic>
      <p:sp>
        <p:nvSpPr>
          <p:cNvPr id="17585" name="TextBox 17584"/>
          <p:cNvSpPr txBox="1"/>
          <p:nvPr/>
        </p:nvSpPr>
        <p:spPr>
          <a:xfrm>
            <a:off x="10268711" y="5020056"/>
            <a:ext cx="1517903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Verified: POD · FAR · CSI</a:t>
            </a:r>
          </a:p>
        </p:txBody>
      </p:sp>
      <p:sp>
        <p:nvSpPr>
          <p:cNvPr id="17586" name="Rounded Rectangle 17585"/>
          <p:cNvSpPr/>
          <p:nvPr/>
        </p:nvSpPr>
        <p:spPr>
          <a:xfrm>
            <a:off x="274320" y="5431536"/>
            <a:ext cx="6126480" cy="832104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2700">
            <a:solidFill>
              <a:srgbClr val="0B223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87" name="TextBox 17586"/>
          <p:cNvSpPr txBox="1"/>
          <p:nvPr/>
        </p:nvSpPr>
        <p:spPr>
          <a:xfrm>
            <a:off x="329184" y="5431536"/>
            <a:ext cx="1051560" cy="83210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4F70"/>
                </a:solidFill>
                <a:latin typeface="Times New Roman"/>
              </a:rPr>
              <a:t>Technology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4F70"/>
                </a:solidFill>
                <a:latin typeface="Times New Roman"/>
              </a:rPr>
              <a:t>stack to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4F70"/>
                </a:solidFill>
                <a:latin typeface="Times New Roman"/>
              </a:rPr>
              <a:t>be used</a:t>
            </a:r>
          </a:p>
        </p:txBody>
      </p:sp>
      <p:cxnSp>
        <p:nvCxnSpPr>
          <p:cNvPr id="17588" name="Connector 17587"/>
          <p:cNvCxnSpPr/>
          <p:nvPr/>
        </p:nvCxnSpPr>
        <p:spPr>
          <a:xfrm>
            <a:off x="1426464" y="5522976"/>
            <a:ext cx="0" cy="649224"/>
          </a:xfrm>
          <a:prstGeom prst="line">
            <a:avLst/>
          </a:prstGeom>
          <a:ln w="15875">
            <a:solidFill>
              <a:srgbClr val="C5D5E2"/>
            </a:solidFill>
            <a:prstDash val="dash"/>
          </a:ln>
        </p:spPr>
      </p:cxnSp>
      <p:pic>
        <p:nvPicPr>
          <p:cNvPr id="17589" name="Picture 17588" descr="React logo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45919" y="5477256"/>
            <a:ext cx="237744" cy="237744"/>
          </a:xfrm>
          <a:prstGeom prst="rect">
            <a:avLst/>
          </a:prstGeom>
        </p:spPr>
      </p:pic>
      <p:sp>
        <p:nvSpPr>
          <p:cNvPr id="17590" name="TextBox 17589"/>
          <p:cNvSpPr txBox="1"/>
          <p:nvPr/>
        </p:nvSpPr>
        <p:spPr>
          <a:xfrm>
            <a:off x="1426463" y="5715000"/>
            <a:ext cx="68580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React</a:t>
            </a:r>
          </a:p>
        </p:txBody>
      </p:sp>
      <p:pic>
        <p:nvPicPr>
          <p:cNvPr id="17591" name="Picture 17590" descr="Android logo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80844" y="5477256"/>
            <a:ext cx="237744" cy="237744"/>
          </a:xfrm>
          <a:prstGeom prst="rect">
            <a:avLst/>
          </a:prstGeom>
        </p:spPr>
      </p:pic>
      <p:sp>
        <p:nvSpPr>
          <p:cNvPr id="17592" name="TextBox 17591"/>
          <p:cNvSpPr txBox="1"/>
          <p:nvPr/>
        </p:nvSpPr>
        <p:spPr>
          <a:xfrm>
            <a:off x="1961388" y="5715000"/>
            <a:ext cx="68580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Android</a:t>
            </a:r>
          </a:p>
        </p:txBody>
      </p:sp>
      <p:pic>
        <p:nvPicPr>
          <p:cNvPr id="17593" name="Picture 17592" descr="Python logo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715768" y="5477256"/>
            <a:ext cx="237744" cy="237744"/>
          </a:xfrm>
          <a:prstGeom prst="rect">
            <a:avLst/>
          </a:prstGeom>
        </p:spPr>
      </p:pic>
      <p:sp>
        <p:nvSpPr>
          <p:cNvPr id="17594" name="TextBox 17593"/>
          <p:cNvSpPr txBox="1"/>
          <p:nvPr/>
        </p:nvSpPr>
        <p:spPr>
          <a:xfrm>
            <a:off x="2496312" y="5715000"/>
            <a:ext cx="68580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Python</a:t>
            </a:r>
          </a:p>
        </p:txBody>
      </p:sp>
      <p:pic>
        <p:nvPicPr>
          <p:cNvPr id="17595" name="Picture 17594" descr="FastAPI logo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250692" y="5477256"/>
            <a:ext cx="237744" cy="237744"/>
          </a:xfrm>
          <a:prstGeom prst="rect">
            <a:avLst/>
          </a:prstGeom>
        </p:spPr>
      </p:pic>
      <p:sp>
        <p:nvSpPr>
          <p:cNvPr id="17596" name="TextBox 17595"/>
          <p:cNvSpPr txBox="1"/>
          <p:nvPr/>
        </p:nvSpPr>
        <p:spPr>
          <a:xfrm>
            <a:off x="3031236" y="5715000"/>
            <a:ext cx="68580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FastAPI</a:t>
            </a:r>
          </a:p>
        </p:txBody>
      </p:sp>
      <p:pic>
        <p:nvPicPr>
          <p:cNvPr id="17597" name="Picture 17596" descr="PostgreSQL PostGIS logo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85615" y="5477256"/>
            <a:ext cx="237744" cy="237744"/>
          </a:xfrm>
          <a:prstGeom prst="rect">
            <a:avLst/>
          </a:prstGeom>
        </p:spPr>
      </p:pic>
      <p:sp>
        <p:nvSpPr>
          <p:cNvPr id="17598" name="TextBox 17597"/>
          <p:cNvSpPr txBox="1"/>
          <p:nvPr/>
        </p:nvSpPr>
        <p:spPr>
          <a:xfrm>
            <a:off x="3566160" y="5715000"/>
            <a:ext cx="68580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PostgreSQL</a:t>
            </a:r>
          </a:p>
        </p:txBody>
      </p:sp>
      <p:pic>
        <p:nvPicPr>
          <p:cNvPr id="17599" name="Picture 17598" descr="Redis logo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20540" y="5477256"/>
            <a:ext cx="237744" cy="237744"/>
          </a:xfrm>
          <a:prstGeom prst="rect">
            <a:avLst/>
          </a:prstGeom>
        </p:spPr>
      </p:pic>
      <p:sp>
        <p:nvSpPr>
          <p:cNvPr id="17600" name="TextBox 17599"/>
          <p:cNvSpPr txBox="1"/>
          <p:nvPr/>
        </p:nvSpPr>
        <p:spPr>
          <a:xfrm>
            <a:off x="4101084" y="5715000"/>
            <a:ext cx="68580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Redis</a:t>
            </a:r>
          </a:p>
        </p:txBody>
      </p:sp>
      <p:pic>
        <p:nvPicPr>
          <p:cNvPr id="17601" name="Picture 17600" descr="MQTT logo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855464" y="5477256"/>
            <a:ext cx="237744" cy="237744"/>
          </a:xfrm>
          <a:prstGeom prst="rect">
            <a:avLst/>
          </a:prstGeom>
        </p:spPr>
      </p:pic>
      <p:sp>
        <p:nvSpPr>
          <p:cNvPr id="17602" name="TextBox 17601"/>
          <p:cNvSpPr txBox="1"/>
          <p:nvPr/>
        </p:nvSpPr>
        <p:spPr>
          <a:xfrm>
            <a:off x="4636008" y="5715000"/>
            <a:ext cx="68580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MQTT</a:t>
            </a:r>
          </a:p>
        </p:txBody>
      </p:sp>
      <p:pic>
        <p:nvPicPr>
          <p:cNvPr id="17603" name="Picture 17602" descr="Docker logo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90388" y="5477256"/>
            <a:ext cx="237744" cy="237744"/>
          </a:xfrm>
          <a:prstGeom prst="rect">
            <a:avLst/>
          </a:prstGeom>
        </p:spPr>
      </p:pic>
      <p:sp>
        <p:nvSpPr>
          <p:cNvPr id="17604" name="TextBox 17603"/>
          <p:cNvSpPr txBox="1"/>
          <p:nvPr/>
        </p:nvSpPr>
        <p:spPr>
          <a:xfrm>
            <a:off x="5170932" y="5715000"/>
            <a:ext cx="68580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Docker</a:t>
            </a:r>
          </a:p>
        </p:txBody>
      </p:sp>
      <p:pic>
        <p:nvPicPr>
          <p:cNvPr id="17605" name="Picture 17604" descr="Kubernetes logo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925312" y="5477256"/>
            <a:ext cx="237744" cy="237744"/>
          </a:xfrm>
          <a:prstGeom prst="rect">
            <a:avLst/>
          </a:prstGeom>
        </p:spPr>
      </p:pic>
      <p:sp>
        <p:nvSpPr>
          <p:cNvPr id="17606" name="TextBox 17605"/>
          <p:cNvSpPr txBox="1"/>
          <p:nvPr/>
        </p:nvSpPr>
        <p:spPr>
          <a:xfrm>
            <a:off x="5705856" y="5715000"/>
            <a:ext cx="68580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Kubernetes</a:t>
            </a:r>
          </a:p>
        </p:txBody>
      </p:sp>
      <p:sp>
        <p:nvSpPr>
          <p:cNvPr id="17607" name="TextBox 17606"/>
          <p:cNvSpPr txBox="1"/>
          <p:nvPr/>
        </p:nvSpPr>
        <p:spPr>
          <a:xfrm>
            <a:off x="1517904" y="5870448"/>
            <a:ext cx="484632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B2A30"/>
                </a:solidFill>
                <a:latin typeface="Arial"/>
              </a:rPr>
              <a:t>LLMs:</a:t>
            </a:r>
            <a:r>
              <a:rPr sz="750" b="0" i="0">
                <a:solidFill>
                  <a:srgbClr val="1B2A30"/>
                </a:solidFill>
                <a:latin typeface="Arial"/>
              </a:rPr>
              <a:t> Sarvam-30B · Llama, self-hosted in India (OpenAI · Gemini adapters, off by default)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B2A30"/>
                </a:solidFill>
                <a:latin typeface="Arial"/>
              </a:rPr>
              <a:t>Voice &amp; language:</a:t>
            </a:r>
            <a:r>
              <a:rPr sz="750" b="0" i="0">
                <a:solidFill>
                  <a:srgbClr val="1B2A30"/>
                </a:solidFill>
                <a:latin typeface="Arial"/>
              </a:rPr>
              <a:t> Sarvam Saaras (22) · Bulbul (11) · Sarvam-Translate · Bhashini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1B2A30"/>
                </a:solidFill>
                <a:latin typeface="Arial"/>
              </a:rPr>
              <a:t>Web:</a:t>
            </a:r>
            <a:r>
              <a:rPr sz="750" b="0" i="0">
                <a:solidFill>
                  <a:srgbClr val="1B2A30"/>
                </a:solidFill>
                <a:latin typeface="Arial"/>
              </a:rPr>
              <a:t> Node.js · Vite · Capacitor    </a:t>
            </a:r>
            <a:r>
              <a:rPr sz="750" b="1" i="0">
                <a:solidFill>
                  <a:srgbClr val="1B2A30"/>
                </a:solidFill>
                <a:latin typeface="Arial"/>
              </a:rPr>
              <a:t>GIS &amp; weather APIs:</a:t>
            </a:r>
            <a:r>
              <a:rPr sz="750" b="0" i="0">
                <a:solidFill>
                  <a:srgbClr val="1B2A30"/>
                </a:solidFill>
                <a:latin typeface="Arial"/>
              </a:rPr>
              <a:t> GDAL · IMD · Open-Meteo</a:t>
            </a:r>
          </a:p>
        </p:txBody>
      </p:sp>
      <p:sp>
        <p:nvSpPr>
          <p:cNvPr id="17608" name="Rounded Rectangle 17607"/>
          <p:cNvSpPr/>
          <p:nvPr/>
        </p:nvSpPr>
        <p:spPr>
          <a:xfrm>
            <a:off x="6510528" y="5431536"/>
            <a:ext cx="960120" cy="832104"/>
          </a:xfrm>
          <a:prstGeom prst="roundRect">
            <a:avLst>
              <a:gd name="adj" fmla="val 10989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C766"/>
                </a:solidFill>
                <a:latin typeface="Arial"/>
              </a:rPr>
              <a:t>TARGET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Service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Levels</a:t>
            </a:r>
          </a:p>
        </p:txBody>
      </p:sp>
      <p:sp>
        <p:nvSpPr>
          <p:cNvPr id="17609" name="Rounded Rectangle 17608"/>
          <p:cNvSpPr/>
          <p:nvPr/>
        </p:nvSpPr>
        <p:spPr>
          <a:xfrm>
            <a:off x="7534656" y="5431536"/>
            <a:ext cx="1405127" cy="397764"/>
          </a:xfrm>
          <a:prstGeom prst="roundRect">
            <a:avLst>
              <a:gd name="adj" fmla="val 16091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10" name="TextBox 17609"/>
          <p:cNvSpPr txBox="1"/>
          <p:nvPr/>
        </p:nvSpPr>
        <p:spPr>
          <a:xfrm>
            <a:off x="7562088" y="5431536"/>
            <a:ext cx="731520" cy="3977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4F70"/>
                </a:solidFill>
                <a:latin typeface="Times New Roman"/>
              </a:rPr>
              <a:t>&lt; 1 s</a:t>
            </a:r>
          </a:p>
        </p:txBody>
      </p:sp>
      <p:sp>
        <p:nvSpPr>
          <p:cNvPr id="17611" name="TextBox 17610"/>
          <p:cNvSpPr txBox="1"/>
          <p:nvPr/>
        </p:nvSpPr>
        <p:spPr>
          <a:xfrm>
            <a:off x="8284464" y="5431536"/>
            <a:ext cx="618743" cy="3977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first frame</a:t>
            </a:r>
          </a:p>
        </p:txBody>
      </p:sp>
      <p:sp>
        <p:nvSpPr>
          <p:cNvPr id="17612" name="Rounded Rectangle 17611"/>
          <p:cNvSpPr/>
          <p:nvPr/>
        </p:nvSpPr>
        <p:spPr>
          <a:xfrm>
            <a:off x="8994648" y="5431536"/>
            <a:ext cx="1405127" cy="397764"/>
          </a:xfrm>
          <a:prstGeom prst="roundRect">
            <a:avLst>
              <a:gd name="adj" fmla="val 16091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13" name="TextBox 17612"/>
          <p:cNvSpPr txBox="1"/>
          <p:nvPr/>
        </p:nvSpPr>
        <p:spPr>
          <a:xfrm>
            <a:off x="9022079" y="5431536"/>
            <a:ext cx="731520" cy="3977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4F70"/>
                </a:solidFill>
                <a:latin typeface="Times New Roman"/>
              </a:rPr>
              <a:t>≥ 95 %</a:t>
            </a:r>
          </a:p>
        </p:txBody>
      </p:sp>
      <p:sp>
        <p:nvSpPr>
          <p:cNvPr id="17614" name="TextBox 17613"/>
          <p:cNvSpPr txBox="1"/>
          <p:nvPr/>
        </p:nvSpPr>
        <p:spPr>
          <a:xfrm>
            <a:off x="9744456" y="5431536"/>
            <a:ext cx="618743" cy="3977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grounded accuracy</a:t>
            </a:r>
          </a:p>
        </p:txBody>
      </p:sp>
      <p:sp>
        <p:nvSpPr>
          <p:cNvPr id="17615" name="Rounded Rectangle 17614"/>
          <p:cNvSpPr/>
          <p:nvPr/>
        </p:nvSpPr>
        <p:spPr>
          <a:xfrm>
            <a:off x="10454640" y="5431536"/>
            <a:ext cx="1405127" cy="397764"/>
          </a:xfrm>
          <a:prstGeom prst="roundRect">
            <a:avLst>
              <a:gd name="adj" fmla="val 16091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16" name="TextBox 17615"/>
          <p:cNvSpPr txBox="1"/>
          <p:nvPr/>
        </p:nvSpPr>
        <p:spPr>
          <a:xfrm>
            <a:off x="10482072" y="5431536"/>
            <a:ext cx="731520" cy="3977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4F70"/>
                </a:solidFill>
                <a:latin typeface="Times New Roman"/>
              </a:rPr>
              <a:t>&lt; 60 s</a:t>
            </a:r>
          </a:p>
        </p:txBody>
      </p:sp>
      <p:sp>
        <p:nvSpPr>
          <p:cNvPr id="17617" name="TextBox 17616"/>
          <p:cNvSpPr txBox="1"/>
          <p:nvPr/>
        </p:nvSpPr>
        <p:spPr>
          <a:xfrm>
            <a:off x="11204448" y="5431536"/>
            <a:ext cx="618743" cy="3977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change → alert</a:t>
            </a:r>
          </a:p>
        </p:txBody>
      </p:sp>
      <p:sp>
        <p:nvSpPr>
          <p:cNvPr id="17618" name="Rounded Rectangle 17617"/>
          <p:cNvSpPr/>
          <p:nvPr/>
        </p:nvSpPr>
        <p:spPr>
          <a:xfrm>
            <a:off x="7534656" y="5856732"/>
            <a:ext cx="1405127" cy="397764"/>
          </a:xfrm>
          <a:prstGeom prst="roundRect">
            <a:avLst>
              <a:gd name="adj" fmla="val 16091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19" name="TextBox 17618"/>
          <p:cNvSpPr txBox="1"/>
          <p:nvPr/>
        </p:nvSpPr>
        <p:spPr>
          <a:xfrm>
            <a:off x="7562088" y="5856732"/>
            <a:ext cx="731520" cy="3977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4F70"/>
                </a:solidFill>
                <a:latin typeface="Times New Roman"/>
              </a:rPr>
              <a:t>22</a:t>
            </a:r>
          </a:p>
        </p:txBody>
      </p:sp>
      <p:sp>
        <p:nvSpPr>
          <p:cNvPr id="17620" name="TextBox 17619"/>
          <p:cNvSpPr txBox="1"/>
          <p:nvPr/>
        </p:nvSpPr>
        <p:spPr>
          <a:xfrm>
            <a:off x="8284464" y="5856732"/>
            <a:ext cx="618743" cy="3977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languages + voice</a:t>
            </a:r>
          </a:p>
        </p:txBody>
      </p:sp>
      <p:sp>
        <p:nvSpPr>
          <p:cNvPr id="17621" name="Rounded Rectangle 17620"/>
          <p:cNvSpPr/>
          <p:nvPr/>
        </p:nvSpPr>
        <p:spPr>
          <a:xfrm>
            <a:off x="8994648" y="5856732"/>
            <a:ext cx="1405127" cy="397764"/>
          </a:xfrm>
          <a:prstGeom prst="roundRect">
            <a:avLst>
              <a:gd name="adj" fmla="val 16091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22" name="TextBox 17621"/>
          <p:cNvSpPr txBox="1"/>
          <p:nvPr/>
        </p:nvSpPr>
        <p:spPr>
          <a:xfrm>
            <a:off x="9022079" y="5856732"/>
            <a:ext cx="731520" cy="3977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4F70"/>
                </a:solidFill>
                <a:latin typeface="Times New Roman"/>
              </a:rPr>
              <a:t>99.5 %</a:t>
            </a:r>
          </a:p>
        </p:txBody>
      </p:sp>
      <p:sp>
        <p:nvSpPr>
          <p:cNvPr id="17623" name="TextBox 17622"/>
          <p:cNvSpPr txBox="1"/>
          <p:nvPr/>
        </p:nvSpPr>
        <p:spPr>
          <a:xfrm>
            <a:off x="9744456" y="5856732"/>
            <a:ext cx="618743" cy="3977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uptime, failover</a:t>
            </a:r>
          </a:p>
        </p:txBody>
      </p:sp>
      <p:sp>
        <p:nvSpPr>
          <p:cNvPr id="17624" name="Rounded Rectangle 17623"/>
          <p:cNvSpPr/>
          <p:nvPr/>
        </p:nvSpPr>
        <p:spPr>
          <a:xfrm>
            <a:off x="10454640" y="5856732"/>
            <a:ext cx="1405127" cy="397764"/>
          </a:xfrm>
          <a:prstGeom prst="roundRect">
            <a:avLst>
              <a:gd name="adj" fmla="val 16091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25" name="TextBox 17624"/>
          <p:cNvSpPr txBox="1"/>
          <p:nvPr/>
        </p:nvSpPr>
        <p:spPr>
          <a:xfrm>
            <a:off x="10482072" y="5856732"/>
            <a:ext cx="731520" cy="3977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A4F70"/>
                </a:solidFill>
                <a:latin typeface="Times New Roman"/>
              </a:rPr>
              <a:t>10 lakh+</a:t>
            </a:r>
          </a:p>
        </p:txBody>
      </p:sp>
      <p:sp>
        <p:nvSpPr>
          <p:cNvPr id="17626" name="TextBox 17625"/>
          <p:cNvSpPr txBox="1"/>
          <p:nvPr/>
        </p:nvSpPr>
        <p:spPr>
          <a:xfrm>
            <a:off x="11204448" y="5856732"/>
            <a:ext cx="618743" cy="3977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users, autoscale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651760" y="6356353"/>
            <a:ext cx="7223760" cy="365125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 · SIH26068 · WeatherGPT · Team Void Pointers (118709)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/>
          <a:lstStyle/>
          <a:p>
            <a:pPr algn="ctr"/>
            <a:r>
              <a:rPr lang="en-US" dirty="0" sz="1200"/>
              <a:t>Void Pointers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WeatherGPT logo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428232"/>
            <a:ext cx="334959" cy="219456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1874519" y="786384"/>
            <a:ext cx="768096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5666E"/>
                </a:solidFill>
                <a:latin typeface="Times New Roman"/>
              </a:rPr>
              <a:t>Feasibility analysis  ·  Potential challenges &amp; risks  ·  Strategies to overcome them</a:t>
            </a:r>
          </a:p>
        </p:txBody>
      </p:sp>
      <p:sp>
        <p:nvSpPr>
          <p:cNvPr id="17412" name="Snip Single Corner Rectangle 17411"/>
          <p:cNvSpPr/>
          <p:nvPr/>
        </p:nvSpPr>
        <p:spPr>
          <a:xfrm>
            <a:off x="274320" y="1097280"/>
            <a:ext cx="3794760" cy="1280160"/>
          </a:xfrm>
          <a:prstGeom prst="snip1Rect">
            <a:avLst/>
          </a:prstGeom>
          <a:solidFill>
            <a:srgbClr val="F3F7FB"/>
          </a:solidFill>
          <a:ln w="12700">
            <a:solidFill>
              <a:srgbClr val="0B2239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13" name="Picture 17412" descr="feasibilit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143000"/>
            <a:ext cx="201168" cy="201168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40080" y="1097280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A4F70"/>
                </a:solidFill>
                <a:latin typeface="Times New Roman"/>
              </a:rPr>
              <a:t>Feasibility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65760" y="1417320"/>
            <a:ext cx="1261872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365760" y="1426464"/>
            <a:ext cx="1261872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A4F70"/>
                </a:solidFill>
                <a:latin typeface="Times New Roman"/>
              </a:rPr>
              <a:t>90 %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84048" y="1828800"/>
            <a:ext cx="1225296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55666E"/>
                </a:solidFill>
                <a:latin typeface="Arial"/>
              </a:rPr>
              <a:t>of 306 live scenarios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55666E"/>
                </a:solidFill>
                <a:latin typeface="Arial"/>
              </a:rPr>
              <a:t>answered from evidence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682496" y="1399032"/>
            <a:ext cx="2221992" cy="95097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 marL="118872" indent="-118872">
              <a:lnSpc>
                <a:spcPct val="90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900" b="1" i="0">
                <a:solidFill>
                  <a:srgbClr val="0A4F70"/>
                </a:solidFill>
                <a:latin typeface="Arial"/>
              </a:rPr>
              <a:t>Proven, available tech:</a:t>
            </a:r>
            <a:r>
              <a:rPr sz="900" b="0" i="0">
                <a:solidFill>
                  <a:srgbClr val="1B2A30"/>
                </a:solidFill>
                <a:latin typeface="Arial"/>
              </a:rPr>
              <a:t> open-weight Indian LLMs, IMD's own feeds, GFS / WRF, Sarvam speech.</a:t>
            </a:r>
          </a:p>
          <a:p>
            <a:pPr algn="l" marL="118872" indent="-118872">
              <a:lnSpc>
                <a:spcPct val="90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900" b="1" i="0">
                <a:solidFill>
                  <a:srgbClr val="0A4F70"/>
                </a:solidFill>
                <a:latin typeface="Arial"/>
              </a:rPr>
              <a:t>Working prototype</a:t>
            </a:r>
            <a:r>
              <a:rPr sz="900" b="0" i="0">
                <a:solidFill>
                  <a:srgbClr val="1B2A30"/>
                </a:solidFill>
                <a:latin typeface="Arial"/>
              </a:rPr>
              <a:t> today: </a:t>
            </a:r>
            <a:r>
              <a:rPr sz="900" b="1" i="0">
                <a:solidFill>
                  <a:srgbClr val="0A4F70"/>
                </a:solidFill>
                <a:latin typeface="Arial"/>
              </a:rPr>
              <a:t>1,630 + 596</a:t>
            </a:r>
            <a:r>
              <a:rPr sz="900" b="0" i="0">
                <a:solidFill>
                  <a:srgbClr val="1B2A30"/>
                </a:solidFill>
                <a:latin typeface="Arial"/>
              </a:rPr>
              <a:t> automated checks, a 21-step gate, </a:t>
            </a:r>
            <a:r>
              <a:rPr sz="900" b="1" i="0">
                <a:solidFill>
                  <a:srgbClr val="0A4F70"/>
                </a:solidFill>
                <a:latin typeface="Arial"/>
              </a:rPr>
              <a:t>0 failed</a:t>
            </a:r>
            <a:r>
              <a:rPr sz="900" b="0" i="0">
                <a:solidFill>
                  <a:srgbClr val="1B2A30"/>
                </a:solidFill>
                <a:latin typeface="Arial"/>
              </a:rPr>
              <a:t>.</a:t>
            </a:r>
          </a:p>
        </p:txBody>
      </p:sp>
      <p:sp>
        <p:nvSpPr>
          <p:cNvPr id="17419" name="Snip Single Corner Rectangle 17418"/>
          <p:cNvSpPr/>
          <p:nvPr/>
        </p:nvSpPr>
        <p:spPr>
          <a:xfrm>
            <a:off x="4197096" y="1097280"/>
            <a:ext cx="3794760" cy="1280160"/>
          </a:xfrm>
          <a:prstGeom prst="snip1Rect">
            <a:avLst/>
          </a:prstGeom>
          <a:solidFill>
            <a:srgbClr val="F3F7FB"/>
          </a:solidFill>
          <a:ln w="12700">
            <a:solidFill>
              <a:srgbClr val="0B2239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20" name="Picture 17419" descr="governmen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824" y="1143000"/>
            <a:ext cx="201168" cy="201168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4562856" y="1097280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4683E"/>
                </a:solidFill>
                <a:latin typeface="Times New Roman"/>
              </a:rPr>
              <a:t>Viability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288536" y="1417320"/>
            <a:ext cx="1261872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4288536" y="1426464"/>
            <a:ext cx="1261872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4683E"/>
                </a:solidFill>
                <a:latin typeface="Times New Roman"/>
              </a:rPr>
              <a:t>100 %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306824" y="1828800"/>
            <a:ext cx="1225296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55666E"/>
                </a:solidFill>
                <a:latin typeface="Arial"/>
              </a:rPr>
              <a:t>hosted, processed &amp;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55666E"/>
                </a:solidFill>
                <a:latin typeface="Arial"/>
              </a:rPr>
              <a:t>stored in India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605272" y="1399032"/>
            <a:ext cx="2221992" cy="95097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 marL="118872" indent="-118872">
              <a:lnSpc>
                <a:spcPct val="90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900" b="1" i="0">
                <a:solidFill>
                  <a:srgbClr val="14683E"/>
                </a:solidFill>
                <a:latin typeface="Arial"/>
              </a:rPr>
              <a:t>Sovereign &amp; sustainable:</a:t>
            </a:r>
            <a:r>
              <a:rPr sz="900" b="0" i="0">
                <a:solidFill>
                  <a:srgbClr val="1B2A30"/>
                </a:solidFill>
                <a:latin typeface="Arial"/>
              </a:rPr>
              <a:t> open-weight Indian models (Sarvam-30B) on IndiaAI / NIC compute, IMD-owned.</a:t>
            </a:r>
          </a:p>
          <a:p>
            <a:pPr algn="l" marL="118872" indent="-118872">
              <a:lnSpc>
                <a:spcPct val="90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900" b="0" i="0">
                <a:solidFill>
                  <a:srgbClr val="1B2A30"/>
                </a:solidFill>
                <a:latin typeface="Arial"/>
              </a:rPr>
              <a:t>Serves </a:t>
            </a:r>
            <a:r>
              <a:rPr sz="900" b="1" i="0">
                <a:solidFill>
                  <a:srgbClr val="14683E"/>
                </a:solidFill>
                <a:latin typeface="Arial"/>
              </a:rPr>
              <a:t>Mission Mausam</a:t>
            </a:r>
            <a:r>
              <a:rPr sz="900" b="0" i="0">
                <a:solidFill>
                  <a:srgbClr val="1B2A30"/>
                </a:solidFill>
                <a:latin typeface="Arial"/>
              </a:rPr>
              <a:t>; a </a:t>
            </a:r>
            <a:r>
              <a:rPr sz="900" b="1" i="0">
                <a:solidFill>
                  <a:srgbClr val="14683E"/>
                </a:solidFill>
                <a:latin typeface="Arial"/>
              </a:rPr>
              <a:t>chat widget</a:t>
            </a:r>
            <a:r>
              <a:rPr sz="900" b="0" i="0">
                <a:solidFill>
                  <a:srgbClr val="1B2A30"/>
                </a:solidFill>
                <a:latin typeface="Arial"/>
              </a:rPr>
              <a:t> for IMD's website, apps, UMANG &amp; EOC portals.</a:t>
            </a:r>
          </a:p>
        </p:txBody>
      </p:sp>
      <p:sp>
        <p:nvSpPr>
          <p:cNvPr id="17426" name="Snip Single Corner Rectangle 17425"/>
          <p:cNvSpPr/>
          <p:nvPr/>
        </p:nvSpPr>
        <p:spPr>
          <a:xfrm>
            <a:off x="8119872" y="1097280"/>
            <a:ext cx="3794760" cy="1280160"/>
          </a:xfrm>
          <a:prstGeom prst="snip1Rect">
            <a:avLst/>
          </a:prstGeom>
          <a:solidFill>
            <a:srgbClr val="F3F7FB"/>
          </a:solidFill>
          <a:ln w="12700">
            <a:solidFill>
              <a:srgbClr val="0B2239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427" name="Picture 17426" descr="implementation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1143000"/>
            <a:ext cx="201168" cy="201168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8485632" y="1097280"/>
            <a:ext cx="324612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9A3412"/>
                </a:solidFill>
                <a:latin typeface="Times New Roman"/>
              </a:rPr>
              <a:t>Practical Implementation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211312" y="1417320"/>
            <a:ext cx="1261872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8211312" y="1426464"/>
            <a:ext cx="1261872" cy="42062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9A3412"/>
                </a:solidFill>
                <a:latin typeface="Times New Roman"/>
              </a:rPr>
              <a:t>90 days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229600" y="1828800"/>
            <a:ext cx="1225296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55666E"/>
                </a:solidFill>
                <a:latin typeface="Arial"/>
              </a:rPr>
              <a:t>to a Gujarat pilot: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55666E"/>
                </a:solidFill>
                <a:latin typeface="Arial"/>
              </a:rPr>
              <a:t>every district, gu / hi / en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9528048" y="1399032"/>
            <a:ext cx="2221992" cy="95097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 marL="118872" indent="-118872">
              <a:lnSpc>
                <a:spcPct val="90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900" b="1" i="0">
                <a:solidFill>
                  <a:srgbClr val="9A3412"/>
                </a:solidFill>
                <a:latin typeface="Arial"/>
              </a:rPr>
              <a:t>Scalable:</a:t>
            </a:r>
            <a:r>
              <a:rPr sz="900" b="0" i="0">
                <a:solidFill>
                  <a:srgbClr val="1B2A30"/>
                </a:solidFill>
                <a:latin typeface="Arial"/>
              </a:rPr>
              <a:t> 1 state → every State / UT; </a:t>
            </a:r>
            <a:r>
              <a:rPr sz="900" b="1" i="0">
                <a:solidFill>
                  <a:srgbClr val="9A3412"/>
                </a:solidFill>
                <a:latin typeface="Arial"/>
              </a:rPr>
              <a:t>4.3 crore farmers</a:t>
            </a:r>
            <a:r>
              <a:rPr sz="900" b="0" i="0">
                <a:solidFill>
                  <a:srgbClr val="1B2A30"/>
                </a:solidFill>
                <a:latin typeface="Arial"/>
              </a:rPr>
              <a:t> already get IMD agromet SMS.</a:t>
            </a:r>
          </a:p>
          <a:p>
            <a:pPr algn="l" marL="118872" indent="-118872">
              <a:lnSpc>
                <a:spcPct val="90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900" b="0" i="0">
                <a:solidFill>
                  <a:srgbClr val="1B2A30"/>
                </a:solidFill>
                <a:latin typeface="Arial"/>
              </a:rPr>
              <a:t>Low-end phones and 2G; day-one owner </a:t>
            </a:r>
            <a:r>
              <a:rPr sz="900" b="1" i="0">
                <a:solidFill>
                  <a:srgbClr val="9A3412"/>
                </a:solidFill>
                <a:latin typeface="Arial"/>
              </a:rPr>
              <a:t>IMD Met Centre + State EOC</a:t>
            </a:r>
            <a:r>
              <a:rPr sz="900" b="0" i="0">
                <a:solidFill>
                  <a:srgbClr val="1B2A30"/>
                </a:solidFill>
                <a:latin typeface="Arial"/>
              </a:rPr>
              <a:t>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274320" y="2450592"/>
            <a:ext cx="11640312" cy="213969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0B223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34" name="Oval 17433"/>
          <p:cNvSpPr/>
          <p:nvPr/>
        </p:nvSpPr>
        <p:spPr>
          <a:xfrm>
            <a:off x="384048" y="2971800"/>
            <a:ext cx="1097280" cy="1097280"/>
          </a:xfrm>
          <a:prstGeom prst="ellipse">
            <a:avLst/>
          </a:prstGeom>
          <a:solidFill>
            <a:srgbClr val="FDE9E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5" name="Picture 17434" descr="risk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3063240"/>
            <a:ext cx="274320" cy="27432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384048" y="3355848"/>
            <a:ext cx="1097280" cy="6583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B2239"/>
                </a:solidFill>
                <a:latin typeface="Times New Roman"/>
              </a:rPr>
              <a:t>Potential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B2239"/>
                </a:solidFill>
                <a:latin typeface="Times New Roman"/>
              </a:rPr>
              <a:t>Challenges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B2239"/>
                </a:solidFill>
                <a:latin typeface="Times New Roman"/>
              </a:rPr>
              <a:t>&amp; Risks</a:t>
            </a:r>
          </a:p>
        </p:txBody>
      </p:sp>
      <p:sp>
        <p:nvSpPr>
          <p:cNvPr id="17437" name="Oval 17436"/>
          <p:cNvSpPr/>
          <p:nvPr/>
        </p:nvSpPr>
        <p:spPr>
          <a:xfrm>
            <a:off x="10661904" y="2971800"/>
            <a:ext cx="1097280" cy="1097280"/>
          </a:xfrm>
          <a:prstGeom prst="ellipse">
            <a:avLst/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8" name="Picture 17437" descr="strategy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73384" y="3063240"/>
            <a:ext cx="274320" cy="274320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10661904" y="3355848"/>
            <a:ext cx="1097280" cy="6583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B2239"/>
                </a:solidFill>
                <a:latin typeface="Times New Roman"/>
              </a:rPr>
              <a:t>Strategies for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B2239"/>
                </a:solidFill>
                <a:latin typeface="Times New Roman"/>
              </a:rPr>
              <a:t>Overcoming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B2239"/>
                </a:solidFill>
                <a:latin typeface="Times New Roman"/>
              </a:rPr>
              <a:t>Challenges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1691640" y="2734056"/>
            <a:ext cx="137160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cxnSp>
        <p:nvCxnSpPr>
          <p:cNvPr id="17441" name="Connector 17440"/>
          <p:cNvCxnSpPr/>
          <p:nvPr/>
        </p:nvCxnSpPr>
        <p:spPr>
          <a:xfrm flipH="1">
            <a:off x="10405872" y="2734056"/>
            <a:ext cx="91440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442" name="Oval 17441"/>
          <p:cNvSpPr/>
          <p:nvPr/>
        </p:nvSpPr>
        <p:spPr>
          <a:xfrm>
            <a:off x="1847088" y="2596896"/>
            <a:ext cx="274320" cy="274320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2212848" y="2532888"/>
            <a:ext cx="3840480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2410C"/>
                </a:solidFill>
                <a:latin typeface="Arial"/>
              </a:rPr>
              <a:t>AI hallucination:</a:t>
            </a:r>
            <a:r>
              <a:rPr sz="1000" b="0" i="0">
                <a:solidFill>
                  <a:srgbClr val="1B2A30"/>
                </a:solidFill>
                <a:latin typeface="Arial"/>
              </a:rPr>
              <a:t> an LLM may invent a number, or even a warning.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263640" y="2532888"/>
            <a:ext cx="3749039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683E"/>
                </a:solidFill>
                <a:latin typeface="Arial"/>
              </a:rPr>
              <a:t>Satya Gate</a:t>
            </a:r>
            <a:r>
              <a:rPr sz="1000" b="0" i="0">
                <a:solidFill>
                  <a:srgbClr val="1B2A30"/>
                </a:solidFill>
                <a:latin typeface="Arial"/>
              </a:rPr>
              <a:t> binds every value to a source record; unverified output is never shown.</a:t>
            </a:r>
          </a:p>
        </p:txBody>
      </p:sp>
      <p:sp>
        <p:nvSpPr>
          <p:cNvPr id="17445" name="Oval 17444"/>
          <p:cNvSpPr/>
          <p:nvPr/>
        </p:nvSpPr>
        <p:spPr>
          <a:xfrm>
            <a:off x="10113264" y="2596896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1691640" y="3136392"/>
            <a:ext cx="137160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cxnSp>
        <p:nvCxnSpPr>
          <p:cNvPr id="17447" name="Connector 17446"/>
          <p:cNvCxnSpPr/>
          <p:nvPr/>
        </p:nvCxnSpPr>
        <p:spPr>
          <a:xfrm flipH="1">
            <a:off x="10405872" y="3136392"/>
            <a:ext cx="91440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448" name="Oval 17447"/>
          <p:cNvSpPr/>
          <p:nvPr/>
        </p:nvSpPr>
        <p:spPr>
          <a:xfrm>
            <a:off x="1847088" y="2999232"/>
            <a:ext cx="274320" cy="274320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2212848" y="2935224"/>
            <a:ext cx="3840480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2410C"/>
                </a:solidFill>
                <a:latin typeface="Arial"/>
              </a:rPr>
              <a:t>Data access:</a:t>
            </a:r>
            <a:r>
              <a:rPr sz="1000" b="0" i="0">
                <a:solidFill>
                  <a:srgbClr val="1B2A30"/>
                </a:solidFill>
                <a:latin typeface="Arial"/>
              </a:rPr>
              <a:t> IMD's APIs need credentials and approvals.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263640" y="2935224"/>
            <a:ext cx="3749039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683E"/>
                </a:solidFill>
                <a:latin typeface="Arial"/>
              </a:rPr>
              <a:t>Public routes to IMD's own data:</a:t>
            </a:r>
            <a:r>
              <a:rPr sz="1000" b="0" i="0">
                <a:solidFill>
                  <a:srgbClr val="1B2A30"/>
                </a:solidFill>
                <a:latin typeface="Arial"/>
              </a:rPr>
              <a:t> Mausamgram, 764-district nowcast, 2,071 stations; API adapters switch on with a key.</a:t>
            </a:r>
          </a:p>
        </p:txBody>
      </p:sp>
      <p:sp>
        <p:nvSpPr>
          <p:cNvPr id="17451" name="Oval 17450"/>
          <p:cNvSpPr/>
          <p:nvPr/>
        </p:nvSpPr>
        <p:spPr>
          <a:xfrm>
            <a:off x="10113264" y="2999232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cxnSp>
        <p:nvCxnSpPr>
          <p:cNvPr id="17452" name="Connector 17451"/>
          <p:cNvCxnSpPr/>
          <p:nvPr/>
        </p:nvCxnSpPr>
        <p:spPr>
          <a:xfrm>
            <a:off x="1691640" y="3538728"/>
            <a:ext cx="137160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cxnSp>
        <p:nvCxnSpPr>
          <p:cNvPr id="17453" name="Connector 17452"/>
          <p:cNvCxnSpPr/>
          <p:nvPr/>
        </p:nvCxnSpPr>
        <p:spPr>
          <a:xfrm flipH="1">
            <a:off x="10405872" y="3538728"/>
            <a:ext cx="91440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454" name="Oval 17453"/>
          <p:cNvSpPr/>
          <p:nvPr/>
        </p:nvSpPr>
        <p:spPr>
          <a:xfrm>
            <a:off x="1847088" y="3401568"/>
            <a:ext cx="274320" cy="274320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2212848" y="3337560"/>
            <a:ext cx="3840480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2410C"/>
                </a:solidFill>
                <a:latin typeface="Arial"/>
              </a:rPr>
              <a:t>Connectivity:</a:t>
            </a:r>
            <a:r>
              <a:rPr sz="1000" b="0" i="0">
                <a:solidFill>
                  <a:srgbClr val="1B2A30"/>
                </a:solidFill>
                <a:latin typeface="Arial"/>
              </a:rPr>
              <a:t> patchy rural networks and feature phones.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263640" y="3337560"/>
            <a:ext cx="3749039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683E"/>
                </a:solidFill>
                <a:latin typeface="Arial"/>
              </a:rPr>
              <a:t>Offline + SMS / IVR:</a:t>
            </a:r>
            <a:r>
              <a:rPr sz="1000" b="0" i="0">
                <a:solidFill>
                  <a:srgbClr val="1B2A30"/>
                </a:solidFill>
                <a:latin typeface="Arial"/>
              </a:rPr>
              <a:t> last-answer cache, tiny PWA payloads, voice call-back.</a:t>
            </a:r>
          </a:p>
        </p:txBody>
      </p:sp>
      <p:sp>
        <p:nvSpPr>
          <p:cNvPr id="17457" name="Oval 17456"/>
          <p:cNvSpPr/>
          <p:nvPr/>
        </p:nvSpPr>
        <p:spPr>
          <a:xfrm>
            <a:off x="10113264" y="3401568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1691640" y="3941064"/>
            <a:ext cx="137160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cxnSp>
        <p:nvCxnSpPr>
          <p:cNvPr id="17459" name="Connector 17458"/>
          <p:cNvCxnSpPr/>
          <p:nvPr/>
        </p:nvCxnSpPr>
        <p:spPr>
          <a:xfrm flipH="1">
            <a:off x="10405872" y="3941064"/>
            <a:ext cx="91440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460" name="Oval 17459"/>
          <p:cNvSpPr/>
          <p:nvPr/>
        </p:nvSpPr>
        <p:spPr>
          <a:xfrm>
            <a:off x="1847088" y="3803904"/>
            <a:ext cx="274320" cy="274320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2212848" y="3739896"/>
            <a:ext cx="3840480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2410C"/>
                </a:solidFill>
                <a:latin typeface="Arial"/>
              </a:rPr>
              <a:t>Language fidelity:</a:t>
            </a:r>
            <a:r>
              <a:rPr sz="1000" b="0" i="0">
                <a:solidFill>
                  <a:srgbClr val="1B2A30"/>
                </a:solidFill>
                <a:latin typeface="Arial"/>
              </a:rPr>
              <a:t> translation can distort values and negations.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6263640" y="3739896"/>
            <a:ext cx="3749039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683E"/>
                </a:solidFill>
                <a:latin typeface="Arial"/>
              </a:rPr>
              <a:t>Value-safe translation:</a:t>
            </a:r>
            <a:r>
              <a:rPr sz="1000" b="0" i="0">
                <a:solidFill>
                  <a:srgbClr val="1B2A30"/>
                </a:solidFill>
                <a:latin typeface="Arial"/>
              </a:rPr>
              <a:t> Sarvam-Translate output re-checked for numbers, units &amp; dates, else it stays in source.</a:t>
            </a:r>
          </a:p>
        </p:txBody>
      </p:sp>
      <p:sp>
        <p:nvSpPr>
          <p:cNvPr id="17463" name="Oval 17462"/>
          <p:cNvSpPr/>
          <p:nvPr/>
        </p:nvSpPr>
        <p:spPr>
          <a:xfrm>
            <a:off x="10113264" y="3803904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1691640" y="4343400"/>
            <a:ext cx="137160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cxnSp>
        <p:nvCxnSpPr>
          <p:cNvPr id="17465" name="Connector 17464"/>
          <p:cNvCxnSpPr/>
          <p:nvPr/>
        </p:nvCxnSpPr>
        <p:spPr>
          <a:xfrm flipH="1">
            <a:off x="10405872" y="4343400"/>
            <a:ext cx="91440" cy="0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466" name="Oval 17465"/>
          <p:cNvSpPr/>
          <p:nvPr/>
        </p:nvSpPr>
        <p:spPr>
          <a:xfrm>
            <a:off x="1847088" y="4206240"/>
            <a:ext cx="274320" cy="274320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2212848" y="4142232"/>
            <a:ext cx="3840480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2410C"/>
                </a:solidFill>
                <a:latin typeface="Arial"/>
              </a:rPr>
              <a:t>Foreign AI dependence:</a:t>
            </a:r>
            <a:r>
              <a:rPr sz="1000" b="0" i="0">
                <a:solidFill>
                  <a:srgbClr val="1B2A30"/>
                </a:solidFill>
                <a:latin typeface="Arial"/>
              </a:rPr>
              <a:t> outages, price shifts, questions sent abroad.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6263640" y="4142232"/>
            <a:ext cx="3749039" cy="40233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4683E"/>
                </a:solidFill>
                <a:latin typeface="Arial"/>
              </a:rPr>
              <a:t>Sovereign stack:</a:t>
            </a:r>
            <a:r>
              <a:rPr sz="1000" b="0" i="0">
                <a:solidFill>
                  <a:srgbClr val="1B2A30"/>
                </a:solidFill>
                <a:latin typeface="Arial"/>
              </a:rPr>
              <a:t> self-hosted Indian models, a rule-planner floor, zero foreign data egress.</a:t>
            </a:r>
          </a:p>
        </p:txBody>
      </p:sp>
      <p:sp>
        <p:nvSpPr>
          <p:cNvPr id="17469" name="Oval 17468"/>
          <p:cNvSpPr/>
          <p:nvPr/>
        </p:nvSpPr>
        <p:spPr>
          <a:xfrm>
            <a:off x="10113264" y="4206240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1691640" y="2734056"/>
            <a:ext cx="0" cy="1609344"/>
          </a:xfrm>
          <a:prstGeom prst="line">
            <a:avLst/>
          </a:prstGeom>
          <a:ln w="19050">
            <a:solidFill>
              <a:srgbClr val="0B2239"/>
            </a:solidFill>
          </a:ln>
        </p:spPr>
      </p:cxnSp>
      <p:cxnSp>
        <p:nvCxnSpPr>
          <p:cNvPr id="17471" name="Connector 17470"/>
          <p:cNvCxnSpPr/>
          <p:nvPr/>
        </p:nvCxnSpPr>
        <p:spPr>
          <a:xfrm>
            <a:off x="10497312" y="2734056"/>
            <a:ext cx="0" cy="1609344"/>
          </a:xfrm>
          <a:prstGeom prst="line">
            <a:avLst/>
          </a:prstGeom>
          <a:ln w="19050">
            <a:solidFill>
              <a:srgbClr val="0B2239"/>
            </a:solidFill>
          </a:ln>
        </p:spPr>
      </p:cxnSp>
      <p:cxnSp>
        <p:nvCxnSpPr>
          <p:cNvPr id="17472" name="Connector 17471"/>
          <p:cNvCxnSpPr/>
          <p:nvPr/>
        </p:nvCxnSpPr>
        <p:spPr>
          <a:xfrm>
            <a:off x="1481328" y="3520440"/>
            <a:ext cx="210312" cy="0"/>
          </a:xfrm>
          <a:prstGeom prst="line">
            <a:avLst/>
          </a:prstGeom>
          <a:ln w="19050">
            <a:solidFill>
              <a:srgbClr val="0B2239"/>
            </a:solidFill>
          </a:ln>
        </p:spPr>
      </p:cxnSp>
      <p:cxnSp>
        <p:nvCxnSpPr>
          <p:cNvPr id="17473" name="Connector 17472"/>
          <p:cNvCxnSpPr/>
          <p:nvPr/>
        </p:nvCxnSpPr>
        <p:spPr>
          <a:xfrm flipH="1">
            <a:off x="10497312" y="3520440"/>
            <a:ext cx="164592" cy="0"/>
          </a:xfrm>
          <a:prstGeom prst="line">
            <a:avLst/>
          </a:prstGeom>
          <a:ln w="19050">
            <a:solidFill>
              <a:srgbClr val="0B2239"/>
            </a:solidFill>
          </a:ln>
        </p:spPr>
      </p:cxnSp>
      <p:cxnSp>
        <p:nvCxnSpPr>
          <p:cNvPr id="17474" name="Connector 17473"/>
          <p:cNvCxnSpPr/>
          <p:nvPr/>
        </p:nvCxnSpPr>
        <p:spPr>
          <a:xfrm>
            <a:off x="6144768" y="2542032"/>
            <a:ext cx="0" cy="1956816"/>
          </a:xfrm>
          <a:prstGeom prst="line">
            <a:avLst/>
          </a:prstGeom>
          <a:ln w="15875">
            <a:solidFill>
              <a:srgbClr val="C5D5E2"/>
            </a:solidFill>
            <a:prstDash val="dash"/>
          </a:ln>
        </p:spPr>
      </p:cxnSp>
      <p:sp>
        <p:nvSpPr>
          <p:cNvPr id="17475" name="Rounded Rectangle 17474"/>
          <p:cNvSpPr/>
          <p:nvPr/>
        </p:nvSpPr>
        <p:spPr>
          <a:xfrm>
            <a:off x="274320" y="4663440"/>
            <a:ext cx="1188720" cy="530352"/>
          </a:xfrm>
          <a:prstGeom prst="roundRect">
            <a:avLst>
              <a:gd name="adj" fmla="val 13793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C766"/>
                </a:solidFill>
                <a:latin typeface="Arial"/>
              </a:rPr>
              <a:t>SOVEREIGN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Deployment</a:t>
            </a:r>
          </a:p>
        </p:txBody>
      </p:sp>
      <p:sp>
        <p:nvSpPr>
          <p:cNvPr id="17476" name="Pentagon 17475"/>
          <p:cNvSpPr/>
          <p:nvPr/>
        </p:nvSpPr>
        <p:spPr>
          <a:xfrm>
            <a:off x="1517904" y="4663440"/>
            <a:ext cx="2708910" cy="530352"/>
          </a:xfrm>
          <a:prstGeom prst="homePlate">
            <a:avLst>
              <a:gd name="adj" fmla="val 30000"/>
            </a:avLst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1627631" y="4663440"/>
            <a:ext cx="2251710" cy="53035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NATIONAL CORE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IMD / NIC MeghRaj: models, data, audit logs</a:t>
            </a:r>
          </a:p>
        </p:txBody>
      </p:sp>
      <p:sp>
        <p:nvSpPr>
          <p:cNvPr id="17478" name="Chevron 17477"/>
          <p:cNvSpPr/>
          <p:nvPr/>
        </p:nvSpPr>
        <p:spPr>
          <a:xfrm>
            <a:off x="4080510" y="4663440"/>
            <a:ext cx="2708910" cy="530352"/>
          </a:xfrm>
          <a:prstGeom prst="chevron">
            <a:avLst>
              <a:gd name="adj" fmla="val 30000"/>
            </a:avLst>
          </a:prstGeom>
          <a:solidFill>
            <a:srgbClr val="3D8FD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9" name="TextBox 17478"/>
          <p:cNvSpPr txBox="1"/>
          <p:nvPr/>
        </p:nvSpPr>
        <p:spPr>
          <a:xfrm>
            <a:off x="4354830" y="4663440"/>
            <a:ext cx="2251710" cy="53035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STATE NODE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State Data Centre + SEOC: languages, alert relay</a:t>
            </a:r>
          </a:p>
        </p:txBody>
      </p:sp>
      <p:sp>
        <p:nvSpPr>
          <p:cNvPr id="17480" name="Chevron 17479"/>
          <p:cNvSpPr/>
          <p:nvPr/>
        </p:nvSpPr>
        <p:spPr>
          <a:xfrm>
            <a:off x="6643116" y="4663440"/>
            <a:ext cx="2708910" cy="530352"/>
          </a:xfrm>
          <a:prstGeom prst="chevron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81" name="TextBox 17480"/>
          <p:cNvSpPr txBox="1"/>
          <p:nvPr/>
        </p:nvSpPr>
        <p:spPr>
          <a:xfrm>
            <a:off x="6917436" y="4663440"/>
            <a:ext cx="2251710" cy="53035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DISTRICT EDGE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offline node at the DEOC: answers when links fail</a:t>
            </a:r>
          </a:p>
        </p:txBody>
      </p:sp>
      <p:sp>
        <p:nvSpPr>
          <p:cNvPr id="17482" name="Chevron 17481"/>
          <p:cNvSpPr/>
          <p:nvPr/>
        </p:nvSpPr>
        <p:spPr>
          <a:xfrm>
            <a:off x="9205722" y="4663440"/>
            <a:ext cx="2708910" cy="530352"/>
          </a:xfrm>
          <a:prstGeom prst="chevron">
            <a:avLst>
              <a:gd name="adj" fmla="val 30000"/>
            </a:avLst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83" name="TextBox 17482"/>
          <p:cNvSpPr txBox="1"/>
          <p:nvPr/>
        </p:nvSpPr>
        <p:spPr>
          <a:xfrm>
            <a:off x="9480042" y="4663440"/>
            <a:ext cx="2251710" cy="53035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CITIZEN DEVICE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PWA cache · SMS · IVR, no data plan needed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274320" y="5248656"/>
            <a:ext cx="4800600" cy="457200"/>
          </a:xfrm>
          <a:prstGeom prst="roundRect">
            <a:avLst>
              <a:gd name="adj" fmla="val 20000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85" name="TextBox 17484"/>
          <p:cNvSpPr txBox="1"/>
          <p:nvPr/>
        </p:nvSpPr>
        <p:spPr>
          <a:xfrm>
            <a:off x="329184" y="5248656"/>
            <a:ext cx="1572768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A4F70"/>
                </a:solidFill>
                <a:latin typeface="Arial"/>
              </a:rPr>
              <a:t>STATE-SCALE COST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239"/>
                </a:solidFill>
                <a:latin typeface="Times New Roman"/>
              </a:rPr>
              <a:t>≈ ₹26 lakh / yr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1920240" y="5248656"/>
            <a:ext cx="310896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1B2A30"/>
                </a:solidFill>
                <a:latin typeface="Arial"/>
              </a:rPr>
              <a:t>Biggest line: </a:t>
            </a:r>
            <a:r>
              <a:rPr sz="750" b="1" i="0">
                <a:solidFill>
                  <a:srgbClr val="0A4F70"/>
                </a:solidFill>
                <a:latin typeface="Arial"/>
              </a:rPr>
              <a:t>2 × H100</a:t>
            </a:r>
            <a:r>
              <a:rPr sz="750" b="0" i="0">
                <a:solidFill>
                  <a:srgbClr val="1B2A30"/>
                </a:solidFill>
                <a:latin typeface="Arial"/>
              </a:rPr>
              <a:t> inference on </a:t>
            </a:r>
            <a:r>
              <a:rPr sz="750" b="1" i="0">
                <a:solidFill>
                  <a:srgbClr val="0A4F70"/>
                </a:solidFill>
                <a:latin typeface="Arial"/>
              </a:rPr>
              <a:t>IndiaAI compute</a:t>
            </a:r>
            <a:r>
              <a:rPr sz="750" b="0" i="0">
                <a:solidFill>
                  <a:srgbClr val="1B2A30"/>
                </a:solidFill>
                <a:latin typeface="Arial"/>
              </a:rPr>
              <a:t> at ₹150 / GPU-hr, 24 × 7. No per-question foreign API fees.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5166360" y="5248656"/>
            <a:ext cx="6748272" cy="457200"/>
          </a:xfrm>
          <a:prstGeom prst="roundRect">
            <a:avLst>
              <a:gd name="adj" fmla="val 20000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88" name="TextBox 17487"/>
          <p:cNvSpPr txBox="1"/>
          <p:nvPr/>
        </p:nvSpPr>
        <p:spPr>
          <a:xfrm>
            <a:off x="5212080" y="5248656"/>
            <a:ext cx="11430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A4F70"/>
                </a:solidFill>
                <a:latin typeface="Arial"/>
              </a:rPr>
              <a:t>DATA STAYS</a:t>
            </a:r>
          </a:p>
          <a:p>
            <a:pPr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239"/>
                </a:solidFill>
                <a:latin typeface="Times New Roman"/>
              </a:rPr>
              <a:t>in India</a:t>
            </a:r>
          </a:p>
        </p:txBody>
      </p:sp>
      <p:pic>
        <p:nvPicPr>
          <p:cNvPr id="17489" name="Picture 17488" descr="Satya Gate verifier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5376672"/>
            <a:ext cx="192024" cy="192024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6574536" y="5248656"/>
            <a:ext cx="1147572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DPDP Act 2023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district-level location only</a:t>
            </a:r>
          </a:p>
        </p:txBody>
      </p:sp>
      <p:pic>
        <p:nvPicPr>
          <p:cNvPr id="17491" name="Picture 17490" descr="Pramaan evidence receipt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0396" y="5376672"/>
            <a:ext cx="192024" cy="192024"/>
          </a:xfrm>
          <a:prstGeom prst="rect">
            <a:avLst/>
          </a:prstGeom>
        </p:spPr>
      </p:pic>
      <p:sp>
        <p:nvSpPr>
          <p:cNvPr id="17492" name="TextBox 17491"/>
          <p:cNvSpPr txBox="1"/>
          <p:nvPr/>
        </p:nvSpPr>
        <p:spPr>
          <a:xfrm>
            <a:off x="7959852" y="5248656"/>
            <a:ext cx="1147572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CERT-In 2022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logs kept 180 days in India</a:t>
            </a:r>
          </a:p>
        </p:txBody>
      </p:sp>
      <p:pic>
        <p:nvPicPr>
          <p:cNvPr id="17493" name="Picture 17492" descr="government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5712" y="5376672"/>
            <a:ext cx="192024" cy="192024"/>
          </a:xfrm>
          <a:prstGeom prst="rect">
            <a:avLst/>
          </a:prstGeom>
        </p:spPr>
      </p:pic>
      <p:sp>
        <p:nvSpPr>
          <p:cNvPr id="17494" name="TextBox 17493"/>
          <p:cNvSpPr txBox="1"/>
          <p:nvPr/>
        </p:nvSpPr>
        <p:spPr>
          <a:xfrm>
            <a:off x="9345168" y="5248656"/>
            <a:ext cx="1147572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MeitY cloud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empanelled, India region</a:t>
            </a:r>
          </a:p>
        </p:txBody>
      </p:sp>
      <p:pic>
        <p:nvPicPr>
          <p:cNvPr id="17495" name="Picture 17494" descr="satellite and radar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11028" y="5376672"/>
            <a:ext cx="192024" cy="192024"/>
          </a:xfrm>
          <a:prstGeom prst="rect">
            <a:avLst/>
          </a:prstGeom>
        </p:spPr>
      </p:pic>
      <p:sp>
        <p:nvSpPr>
          <p:cNvPr id="17496" name="TextBox 17495"/>
          <p:cNvSpPr txBox="1"/>
          <p:nvPr/>
        </p:nvSpPr>
        <p:spPr>
          <a:xfrm>
            <a:off x="10730484" y="5248656"/>
            <a:ext cx="1147572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2239"/>
                </a:solidFill>
                <a:latin typeface="Arial"/>
              </a:rPr>
              <a:t>Open standards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CAP 1.2 · WIS 2.0 · WFS</a:t>
            </a:r>
          </a:p>
        </p:txBody>
      </p:sp>
      <p:sp>
        <p:nvSpPr>
          <p:cNvPr id="17497" name="Pentagon 17496"/>
          <p:cNvSpPr/>
          <p:nvPr/>
        </p:nvSpPr>
        <p:spPr>
          <a:xfrm>
            <a:off x="274320" y="5760720"/>
            <a:ext cx="2103120" cy="502920"/>
          </a:xfrm>
          <a:prstGeom prst="homePlate">
            <a:avLst>
              <a:gd name="adj" fmla="val 30000"/>
            </a:avLst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98" name="TextBox 17497"/>
          <p:cNvSpPr txBox="1"/>
          <p:nvPr/>
        </p:nvSpPr>
        <p:spPr>
          <a:xfrm>
            <a:off x="365760" y="5760720"/>
            <a:ext cx="1664207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</a:rPr>
              <a:t>NOW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IMD-first answers · installable PWA · streaming</a:t>
            </a:r>
          </a:p>
        </p:txBody>
      </p:sp>
      <p:sp>
        <p:nvSpPr>
          <p:cNvPr id="17499" name="Chevron 17498"/>
          <p:cNvSpPr/>
          <p:nvPr/>
        </p:nvSpPr>
        <p:spPr>
          <a:xfrm>
            <a:off x="2233879" y="5760720"/>
            <a:ext cx="2331720" cy="502920"/>
          </a:xfrm>
          <a:prstGeom prst="chevron">
            <a:avLst>
              <a:gd name="adj" fmla="val 30000"/>
            </a:avLst>
          </a:prstGeom>
          <a:solidFill>
            <a:srgbClr val="3D8FD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00" name="TextBox 17499"/>
          <p:cNvSpPr txBox="1"/>
          <p:nvPr/>
        </p:nvSpPr>
        <p:spPr>
          <a:xfrm>
            <a:off x="2489911" y="5760720"/>
            <a:ext cx="1892807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</a:rPr>
              <a:t>BEFORE FINALE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Live push on a phone · WIS 2.0 lane · WRF</a:t>
            </a:r>
          </a:p>
        </p:txBody>
      </p:sp>
      <p:sp>
        <p:nvSpPr>
          <p:cNvPr id="17501" name="Chevron 17500"/>
          <p:cNvSpPr/>
          <p:nvPr/>
        </p:nvSpPr>
        <p:spPr>
          <a:xfrm>
            <a:off x="4422038" y="5760720"/>
            <a:ext cx="2103120" cy="502920"/>
          </a:xfrm>
          <a:prstGeom prst="chevron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02" name="TextBox 17501"/>
          <p:cNvSpPr txBox="1"/>
          <p:nvPr/>
        </p:nvSpPr>
        <p:spPr>
          <a:xfrm>
            <a:off x="4678070" y="5760720"/>
            <a:ext cx="1664207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</a:rPr>
              <a:t>36-HOUR FINALE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SMS / IVR · cyclone-bulletin OCR · IMD API adapters</a:t>
            </a:r>
          </a:p>
        </p:txBody>
      </p:sp>
      <p:sp>
        <p:nvSpPr>
          <p:cNvPr id="17503" name="Chevron 17502"/>
          <p:cNvSpPr/>
          <p:nvPr/>
        </p:nvSpPr>
        <p:spPr>
          <a:xfrm>
            <a:off x="6381597" y="5760720"/>
            <a:ext cx="2240280" cy="502920"/>
          </a:xfrm>
          <a:prstGeom prst="chevron">
            <a:avLst>
              <a:gd name="adj" fmla="val 30000"/>
            </a:avLst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04" name="TextBox 17503"/>
          <p:cNvSpPr txBox="1"/>
          <p:nvPr/>
        </p:nvSpPr>
        <p:spPr>
          <a:xfrm>
            <a:off x="6637629" y="5760720"/>
            <a:ext cx="1801368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</a:rPr>
              <a:t>90-DAY PILOT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Gujarat · all districts · 3 languages</a:t>
            </a:r>
          </a:p>
        </p:txBody>
      </p:sp>
      <p:sp>
        <p:nvSpPr>
          <p:cNvPr id="17505" name="Chevron 17504"/>
          <p:cNvSpPr/>
          <p:nvPr/>
        </p:nvSpPr>
        <p:spPr>
          <a:xfrm>
            <a:off x="8478316" y="5760720"/>
            <a:ext cx="3438144" cy="502920"/>
          </a:xfrm>
          <a:prstGeom prst="chevron">
            <a:avLst>
              <a:gd name="adj" fmla="val 30000"/>
            </a:avLst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06" name="TextBox 17505"/>
          <p:cNvSpPr txBox="1"/>
          <p:nvPr/>
        </p:nvSpPr>
        <p:spPr>
          <a:xfrm>
            <a:off x="8734348" y="5760720"/>
            <a:ext cx="2999232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</a:rPr>
              <a:t>FUTURE SCOPE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Arial"/>
              </a:rPr>
              <a:t>WhatsApp bot · panchayat-level forecasts · AI nowcasting · impact-based warnings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651760" y="6356353"/>
            <a:ext cx="7223760" cy="365125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 · SIH26068 · WeatherGPT · Team Void Pointers (118709)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/>
          <a:lstStyle/>
          <a:p>
            <a:pPr algn="ctr"/>
            <a:r>
              <a:rPr lang="en-US" dirty="0" sz="1200"/>
              <a:t>Void Pointers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WeatherGPT logo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428232"/>
            <a:ext cx="334959" cy="219456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1874519" y="786384"/>
            <a:ext cx="768096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5666E"/>
                </a:solidFill>
                <a:latin typeface="Times New Roman"/>
              </a:rPr>
              <a:t>Potential impact on the target audience  ·  Social, economic &amp; environmental benefits</a:t>
            </a:r>
          </a:p>
        </p:txBody>
      </p:sp>
      <p:sp>
        <p:nvSpPr>
          <p:cNvPr id="17412" name="Rounded Rectangle 17411">
            <a:hlinkClick r:id="rId5"/>
          </p:cNvPr>
          <p:cNvSpPr/>
          <p:nvPr/>
        </p:nvSpPr>
        <p:spPr>
          <a:xfrm>
            <a:off x="274320" y="1097280"/>
            <a:ext cx="2834640" cy="512064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0B2239"/>
              </a:gs>
              <a:gs pos="100000">
                <a:srgbClr val="14476B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338328" y="1097280"/>
            <a:ext cx="1207008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E0A800"/>
                </a:solidFill>
                <a:latin typeface="Times New Roman"/>
              </a:rPr>
              <a:t>99 %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517904" y="1097280"/>
            <a:ext cx="1536192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of days in Jan–Sep 2025 saw extreme weather in India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8AD8F5"/>
                </a:solidFill>
                <a:latin typeface="Arial"/>
              </a:rPr>
              <a:t>Source: CSE 2025 ›</a:t>
            </a:r>
          </a:p>
        </p:txBody>
      </p:sp>
      <p:sp>
        <p:nvSpPr>
          <p:cNvPr id="17415" name="Rounded Rectangle 17414">
            <a:hlinkClick r:id="rId5"/>
          </p:cNvPr>
          <p:cNvSpPr/>
          <p:nvPr/>
        </p:nvSpPr>
        <p:spPr>
          <a:xfrm>
            <a:off x="3209544" y="1097280"/>
            <a:ext cx="2834640" cy="512064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0B2239"/>
              </a:gs>
              <a:gs pos="100000">
                <a:srgbClr val="14476B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3273551" y="1097280"/>
            <a:ext cx="1207008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7A7A"/>
                </a:solidFill>
                <a:latin typeface="Times New Roman"/>
              </a:rPr>
              <a:t>4,064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53128" y="1097280"/>
            <a:ext cx="1536192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lives lost in those nine months, up 48 % in four years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8AD8F5"/>
                </a:solidFill>
                <a:latin typeface="Arial"/>
              </a:rPr>
              <a:t>Source: CSE 2025 ›</a:t>
            </a:r>
          </a:p>
        </p:txBody>
      </p:sp>
      <p:sp>
        <p:nvSpPr>
          <p:cNvPr id="17418" name="Rounded Rectangle 17417">
            <a:hlinkClick r:id="rId5"/>
          </p:cNvPr>
          <p:cNvSpPr/>
          <p:nvPr/>
        </p:nvSpPr>
        <p:spPr>
          <a:xfrm>
            <a:off x="6144768" y="1097280"/>
            <a:ext cx="2834640" cy="512064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0B2239"/>
              </a:gs>
              <a:gs pos="100000">
                <a:srgbClr val="14476B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6208776" y="1097280"/>
            <a:ext cx="1207008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FFA24A"/>
                </a:solidFill>
                <a:latin typeface="Times New Roman"/>
              </a:rPr>
              <a:t>9.47 M ha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388352" y="1097280"/>
            <a:ext cx="1536192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of crops hit, four times the 2022 figure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8AD8F5"/>
                </a:solidFill>
                <a:latin typeface="Arial"/>
              </a:rPr>
              <a:t>Source: CSE 2025 ›</a:t>
            </a:r>
          </a:p>
        </p:txBody>
      </p:sp>
      <p:sp>
        <p:nvSpPr>
          <p:cNvPr id="17421" name="Rounded Rectangle 17420">
            <a:hlinkClick r:id="rId6"/>
          </p:cNvPr>
          <p:cNvSpPr/>
          <p:nvPr/>
        </p:nvSpPr>
        <p:spPr>
          <a:xfrm>
            <a:off x="9079992" y="1097280"/>
            <a:ext cx="2834640" cy="512064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0B2239"/>
              </a:gs>
              <a:gs pos="100000">
                <a:srgbClr val="14476B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9144000" y="1097280"/>
            <a:ext cx="1207008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BDDA3"/>
                </a:solidFill>
                <a:latin typeface="Times New Roman"/>
              </a:rPr>
              <a:t>₹12,500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0323576" y="1097280"/>
            <a:ext cx="1536192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yearly gain per rain-fed farm household using advisories</a:t>
            </a:r>
          </a:p>
          <a:p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8AD8F5"/>
                </a:solidFill>
                <a:latin typeface="Arial"/>
              </a:rPr>
              <a:t>Source: NCAER 2020 ›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274320" y="1655064"/>
            <a:ext cx="1097280" cy="228600"/>
          </a:xfrm>
          <a:prstGeom prst="roundRect">
            <a:avLst>
              <a:gd name="adj" fmla="val 24000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C766"/>
                </a:solidFill>
                <a:latin typeface="Arial"/>
              </a:rPr>
              <a:t>PS OUTCOMES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1417320" y="1655064"/>
            <a:ext cx="2286000" cy="228600"/>
          </a:xfrm>
          <a:prstGeom prst="roundRect">
            <a:avLst>
              <a:gd name="adj" fmla="val 24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6" name="Picture 17425" descr="ye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3040" y="1700784"/>
            <a:ext cx="137160" cy="137160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1618488" y="1655064"/>
            <a:ext cx="2066543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4683E"/>
                </a:solidFill>
                <a:latin typeface="Arial"/>
              </a:rPr>
              <a:t>Faster dissemination of weather information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749039" y="1655064"/>
            <a:ext cx="2240280" cy="228600"/>
          </a:xfrm>
          <a:prstGeom prst="roundRect">
            <a:avLst>
              <a:gd name="adj" fmla="val 24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9" name="Picture 17428" descr="ye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59" y="1700784"/>
            <a:ext cx="137160" cy="137160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3950207" y="1655064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4683E"/>
                </a:solidFill>
                <a:latin typeface="Arial"/>
              </a:rPr>
              <a:t>Improved public accessibility to forecasts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035040" y="1655064"/>
            <a:ext cx="2148840" cy="228600"/>
          </a:xfrm>
          <a:prstGeom prst="roundRect">
            <a:avLst>
              <a:gd name="adj" fmla="val 24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2" name="Picture 17431" descr="ye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59" y="1700784"/>
            <a:ext cx="137160" cy="137160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6236207" y="1655064"/>
            <a:ext cx="1929384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4683E"/>
                </a:solidFill>
                <a:latin typeface="Arial"/>
              </a:rPr>
              <a:t>Better disaster preparedness &amp; response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229600" y="1655064"/>
            <a:ext cx="3685032" cy="228600"/>
          </a:xfrm>
          <a:prstGeom prst="roundRect">
            <a:avLst>
              <a:gd name="adj" fmla="val 24000"/>
            </a:avLst>
          </a:prstGeom>
          <a:solidFill>
            <a:srgbClr val="DDF3E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35" name="Picture 17434" descr="ye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1700784"/>
            <a:ext cx="137160" cy="13716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8430768" y="1655064"/>
            <a:ext cx="3465576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14683E"/>
                </a:solidFill>
                <a:latin typeface="Arial"/>
              </a:rPr>
              <a:t>Decision support for agriculture, aviation, marine &amp; urban planning</a:t>
            </a:r>
          </a:p>
        </p:txBody>
      </p:sp>
      <p:sp>
        <p:nvSpPr>
          <p:cNvPr id="17437" name="Oval 17436"/>
          <p:cNvSpPr/>
          <p:nvPr/>
        </p:nvSpPr>
        <p:spPr>
          <a:xfrm>
            <a:off x="3122675" y="2432303"/>
            <a:ext cx="1389888" cy="1389888"/>
          </a:xfrm>
          <a:prstGeom prst="ellipse">
            <a:avLst/>
          </a:prstGeom>
          <a:noFill/>
          <a:ln w="12700">
            <a:solidFill>
              <a:srgbClr val="0B2239"/>
            </a:solidFill>
            <a:prstDash val="sysDot"/>
          </a:ln>
          <a:effectLst/>
        </p:spPr>
        <p:txBody>
          <a:bodyPr rtlCol="0" anchor="ctr"/>
          <a:lstStyle/>
          <a:p/>
        </p:txBody>
      </p:sp>
      <p:sp>
        <p:nvSpPr>
          <p:cNvPr id="17438" name="Block Arc 17437"/>
          <p:cNvSpPr/>
          <p:nvPr/>
        </p:nvSpPr>
        <p:spPr>
          <a:xfrm>
            <a:off x="3214115" y="2523744"/>
            <a:ext cx="1207008" cy="1207008"/>
          </a:xfrm>
          <a:prstGeom prst="blockArc">
            <a:avLst>
              <a:gd name="adj1" fmla="val 14219999"/>
              <a:gd name="adj2" fmla="val 18180000"/>
              <a:gd name="adj3" fmla="val 2200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9" name="Block Arc 17438"/>
          <p:cNvSpPr/>
          <p:nvPr/>
        </p:nvSpPr>
        <p:spPr>
          <a:xfrm>
            <a:off x="3214115" y="2523744"/>
            <a:ext cx="1207008" cy="1207008"/>
          </a:xfrm>
          <a:prstGeom prst="blockArc">
            <a:avLst>
              <a:gd name="adj1" fmla="val 18540000"/>
              <a:gd name="adj2" fmla="val 900000"/>
              <a:gd name="adj3" fmla="val 22000"/>
            </a:avLst>
          </a:prstGeom>
          <a:solidFill>
            <a:srgbClr val="3D8FD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0" name="Block Arc 17439"/>
          <p:cNvSpPr/>
          <p:nvPr/>
        </p:nvSpPr>
        <p:spPr>
          <a:xfrm>
            <a:off x="3214115" y="2523744"/>
            <a:ext cx="1207008" cy="1207008"/>
          </a:xfrm>
          <a:prstGeom prst="blockArc">
            <a:avLst>
              <a:gd name="adj1" fmla="val 1260000"/>
              <a:gd name="adj2" fmla="val 5220000"/>
              <a:gd name="adj3" fmla="val 22000"/>
            </a:avLst>
          </a:prstGeom>
          <a:solidFill>
            <a:srgbClr val="5B5BC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1" name="Block Arc 17440"/>
          <p:cNvSpPr/>
          <p:nvPr/>
        </p:nvSpPr>
        <p:spPr>
          <a:xfrm>
            <a:off x="3214115" y="2523744"/>
            <a:ext cx="1207008" cy="1207008"/>
          </a:xfrm>
          <a:prstGeom prst="blockArc">
            <a:avLst>
              <a:gd name="adj1" fmla="val 5580000"/>
              <a:gd name="adj2" fmla="val 9540000"/>
              <a:gd name="adj3" fmla="val 22000"/>
            </a:avLst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2" name="Block Arc 17441"/>
          <p:cNvSpPr/>
          <p:nvPr/>
        </p:nvSpPr>
        <p:spPr>
          <a:xfrm>
            <a:off x="3214115" y="2523744"/>
            <a:ext cx="1207008" cy="1207008"/>
          </a:xfrm>
          <a:prstGeom prst="blockArc">
            <a:avLst>
              <a:gd name="adj1" fmla="val 9900000"/>
              <a:gd name="adj2" fmla="val 13860000"/>
              <a:gd name="adj3" fmla="val 22000"/>
            </a:avLst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3378708" y="2761488"/>
            <a:ext cx="877824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2239"/>
                </a:solidFill>
                <a:latin typeface="Times New Roman"/>
              </a:rPr>
              <a:t>Impact on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4F70"/>
                </a:solidFill>
                <a:latin typeface="Times New Roman"/>
              </a:rPr>
              <a:t>Target</a:t>
            </a:r>
          </a:p>
          <a:p>
            <a:pPr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4F70"/>
                </a:solidFill>
                <a:latin typeface="Times New Roman"/>
              </a:rPr>
              <a:t>Audience</a:t>
            </a:r>
          </a:p>
        </p:txBody>
      </p:sp>
      <p:cxnSp>
        <p:nvCxnSpPr>
          <p:cNvPr id="17444" name="Connector 17443"/>
          <p:cNvCxnSpPr/>
          <p:nvPr/>
        </p:nvCxnSpPr>
        <p:spPr>
          <a:xfrm flipV="1">
            <a:off x="3817620" y="2395728"/>
            <a:ext cx="0" cy="36575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445" name="Rounded Rectangle 17444"/>
          <p:cNvSpPr/>
          <p:nvPr/>
        </p:nvSpPr>
        <p:spPr>
          <a:xfrm>
            <a:off x="1463040" y="1938528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F3F7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46" name="Oval 17445"/>
          <p:cNvSpPr/>
          <p:nvPr/>
        </p:nvSpPr>
        <p:spPr>
          <a:xfrm>
            <a:off x="1527048" y="2002536"/>
            <a:ext cx="329184" cy="32918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7" name="Picture 17446" descr="farm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2884" y="2068372"/>
            <a:ext cx="197510" cy="197510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1901952" y="1947672"/>
            <a:ext cx="4233672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A4F70"/>
                </a:solidFill>
                <a:latin typeface="Arial"/>
              </a:rPr>
              <a:t>Farmers:</a:t>
            </a:r>
            <a:r>
              <a:rPr sz="900" b="0" i="0">
                <a:solidFill>
                  <a:srgbClr val="1B2A30"/>
                </a:solidFill>
                <a:latin typeface="Arial"/>
              </a:rPr>
              <a:t> crop-weather advisories at the right hour to spray, sow and irrigate, spoken in their language.</a:t>
            </a:r>
          </a:p>
        </p:txBody>
      </p:sp>
      <p:cxnSp>
        <p:nvCxnSpPr>
          <p:cNvPr id="17449" name="Connector 17448"/>
          <p:cNvCxnSpPr/>
          <p:nvPr/>
        </p:nvCxnSpPr>
        <p:spPr>
          <a:xfrm flipH="1" flipV="1">
            <a:off x="2880360" y="2825496"/>
            <a:ext cx="242315" cy="73152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450" name="Rounded Rectangle 17449"/>
          <p:cNvSpPr/>
          <p:nvPr/>
        </p:nvSpPr>
        <p:spPr>
          <a:xfrm>
            <a:off x="274320" y="2487168"/>
            <a:ext cx="2606040" cy="676656"/>
          </a:xfrm>
          <a:prstGeom prst="roundRect">
            <a:avLst>
              <a:gd name="adj" fmla="val 13513"/>
            </a:avLst>
          </a:prstGeom>
          <a:solidFill>
            <a:srgbClr val="F3F7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1" name="Oval 17450"/>
          <p:cNvSpPr/>
          <p:nvPr/>
        </p:nvSpPr>
        <p:spPr>
          <a:xfrm>
            <a:off x="338328" y="2660904"/>
            <a:ext cx="329184" cy="329184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2" name="Picture 17451" descr="disaster management officer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164" y="2726740"/>
            <a:ext cx="197510" cy="197510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713232" y="2496312"/>
            <a:ext cx="2130552" cy="6583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A3412"/>
                </a:solidFill>
                <a:latin typeface="Arial"/>
              </a:rPr>
              <a:t>Disaster Managers:</a:t>
            </a:r>
            <a:r>
              <a:rPr sz="900" b="0" i="0">
                <a:solidFill>
                  <a:srgbClr val="1B2A30"/>
                </a:solidFill>
                <a:latin typeface="Arial"/>
              </a:rPr>
              <a:t> flood &amp; cyclone warning dissemination by district: what changed, plus a forwardable brief.</a:t>
            </a:r>
          </a:p>
        </p:txBody>
      </p:sp>
      <p:cxnSp>
        <p:nvCxnSpPr>
          <p:cNvPr id="17454" name="Connector 17453"/>
          <p:cNvCxnSpPr/>
          <p:nvPr/>
        </p:nvCxnSpPr>
        <p:spPr>
          <a:xfrm flipV="1">
            <a:off x="4512564" y="2825496"/>
            <a:ext cx="242316" cy="73152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455" name="Rounded Rectangle 17454"/>
          <p:cNvSpPr/>
          <p:nvPr/>
        </p:nvSpPr>
        <p:spPr>
          <a:xfrm>
            <a:off x="4754880" y="2487168"/>
            <a:ext cx="2606040" cy="676656"/>
          </a:xfrm>
          <a:prstGeom prst="roundRect">
            <a:avLst>
              <a:gd name="adj" fmla="val 13513"/>
            </a:avLst>
          </a:prstGeom>
          <a:solidFill>
            <a:srgbClr val="F3F7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6" name="Oval 17455"/>
          <p:cNvSpPr/>
          <p:nvPr/>
        </p:nvSpPr>
        <p:spPr>
          <a:xfrm>
            <a:off x="4818888" y="2660904"/>
            <a:ext cx="329184" cy="329184"/>
          </a:xfrm>
          <a:prstGeom prst="ellipse">
            <a:avLst/>
          </a:prstGeom>
          <a:solidFill>
            <a:srgbClr val="3D8FD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7" name="Picture 17456" descr="aviation pilot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4724" y="2726740"/>
            <a:ext cx="197510" cy="197510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5193792" y="2496312"/>
            <a:ext cx="2130552" cy="6583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A4F70"/>
                </a:solidFill>
                <a:latin typeface="Arial"/>
              </a:rPr>
              <a:t>Aviation &amp; Marine:</a:t>
            </a:r>
            <a:r>
              <a:rPr sz="900" b="0" i="0">
                <a:solidFill>
                  <a:srgbClr val="1B2A30"/>
                </a:solidFill>
                <a:latin typeface="Arial"/>
              </a:rPr>
              <a:t> aviation weather briefing (METAR / TAF); RSMC sea-area &amp; coastal warnings for fishers.</a:t>
            </a:r>
          </a:p>
        </p:txBody>
      </p:sp>
      <p:cxnSp>
        <p:nvCxnSpPr>
          <p:cNvPr id="17459" name="Connector 17458"/>
          <p:cNvCxnSpPr/>
          <p:nvPr/>
        </p:nvCxnSpPr>
        <p:spPr>
          <a:xfrm flipH="1">
            <a:off x="2880360" y="3401568"/>
            <a:ext cx="242315" cy="192024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460" name="Rounded Rectangle 17459"/>
          <p:cNvSpPr/>
          <p:nvPr/>
        </p:nvSpPr>
        <p:spPr>
          <a:xfrm>
            <a:off x="274320" y="3255264"/>
            <a:ext cx="2606040" cy="676656"/>
          </a:xfrm>
          <a:prstGeom prst="roundRect">
            <a:avLst>
              <a:gd name="adj" fmla="val 13513"/>
            </a:avLst>
          </a:prstGeom>
          <a:solidFill>
            <a:srgbClr val="F3F7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1" name="Oval 17460"/>
          <p:cNvSpPr/>
          <p:nvPr/>
        </p:nvSpPr>
        <p:spPr>
          <a:xfrm>
            <a:off x="338328" y="3429000"/>
            <a:ext cx="329184" cy="329184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2" name="Picture 17461" descr="smart city 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4164" y="3494836"/>
            <a:ext cx="197510" cy="197510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713232" y="3264408"/>
            <a:ext cx="2130552" cy="6583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A3412"/>
                </a:solidFill>
                <a:latin typeface="Arial"/>
              </a:rPr>
              <a:t>Smart Cities &amp; Urban Planners:</a:t>
            </a:r>
            <a:r>
              <a:rPr sz="900" b="0" i="0">
                <a:solidFill>
                  <a:srgbClr val="1B2A30"/>
                </a:solidFill>
                <a:latin typeface="Arial"/>
              </a:rPr>
              <a:t> smart city weather monitoring: heat, flood risk and air quality.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4512564" y="3401568"/>
            <a:ext cx="242316" cy="192024"/>
          </a:xfrm>
          <a:prstGeom prst="line">
            <a:avLst/>
          </a:prstGeom>
          <a:ln w="19050">
            <a:solidFill>
              <a:srgbClr val="0B2239"/>
            </a:solidFill>
            <a:tailEnd type="triangle" w="med" len="med"/>
          </a:ln>
        </p:spPr>
      </p:cxnSp>
      <p:sp>
        <p:nvSpPr>
          <p:cNvPr id="17465" name="Rounded Rectangle 17464"/>
          <p:cNvSpPr/>
          <p:nvPr/>
        </p:nvSpPr>
        <p:spPr>
          <a:xfrm>
            <a:off x="4754880" y="3255264"/>
            <a:ext cx="2606040" cy="676656"/>
          </a:xfrm>
          <a:prstGeom prst="roundRect">
            <a:avLst>
              <a:gd name="adj" fmla="val 13513"/>
            </a:avLst>
          </a:prstGeom>
          <a:solidFill>
            <a:srgbClr val="F3F7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66" name="Oval 17465"/>
          <p:cNvSpPr/>
          <p:nvPr/>
        </p:nvSpPr>
        <p:spPr>
          <a:xfrm>
            <a:off x="4818888" y="3429000"/>
            <a:ext cx="329184" cy="329184"/>
          </a:xfrm>
          <a:prstGeom prst="ellipse">
            <a:avLst/>
          </a:prstGeom>
          <a:solidFill>
            <a:srgbClr val="5B5BC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7" name="Picture 17466" descr="researcher 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4724" y="3494836"/>
            <a:ext cx="197510" cy="197510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5193792" y="3264408"/>
            <a:ext cx="2130552" cy="6583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A4F70"/>
                </a:solidFill>
                <a:latin typeface="Arial"/>
              </a:rPr>
              <a:t>Researchers &amp; IMD:</a:t>
            </a:r>
            <a:r>
              <a:rPr sz="900" b="0" i="0">
                <a:solidFill>
                  <a:srgbClr val="1B2A30"/>
                </a:solidFill>
                <a:latin typeface="Arial"/>
              </a:rPr>
              <a:t> climate analytics for researchers: a century of records, plus what India asks.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7498079" y="1938528"/>
            <a:ext cx="4416552" cy="310896"/>
          </a:xfrm>
          <a:prstGeom prst="roundRect">
            <a:avLst>
              <a:gd name="adj" fmla="val 23529"/>
            </a:avLst>
          </a:prstGeom>
          <a:solidFill>
            <a:srgbClr val="3D8FD1"/>
          </a:solidFill>
          <a:ln>
            <a:noFill/>
          </a:ln>
          <a:effectLst/>
        </p:spPr>
        <p:txBody>
          <a:bodyPr rtlCol="0" anchor="ctr" wrap="square" lIns="420624" tIns="0" rIns="73152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imes New Roman"/>
              </a:rPr>
              <a:t>Benefits of the Solution</a:t>
            </a:r>
          </a:p>
        </p:txBody>
      </p:sp>
      <p:pic>
        <p:nvPicPr>
          <p:cNvPr id="17470" name="Picture 17469" descr="benefits ic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7807" y="1984248"/>
            <a:ext cx="219456" cy="219456"/>
          </a:xfrm>
          <a:prstGeom prst="rect">
            <a:avLst/>
          </a:prstGeom>
        </p:spPr>
      </p:pic>
      <p:sp>
        <p:nvSpPr>
          <p:cNvPr id="17471" name="Rounded Rectangle 17470"/>
          <p:cNvSpPr/>
          <p:nvPr/>
        </p:nvSpPr>
        <p:spPr>
          <a:xfrm>
            <a:off x="7498079" y="2313432"/>
            <a:ext cx="4416552" cy="512064"/>
          </a:xfrm>
          <a:prstGeom prst="roundRect">
            <a:avLst>
              <a:gd name="adj" fmla="val 17857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72" name="Oval 17471"/>
          <p:cNvSpPr/>
          <p:nvPr/>
        </p:nvSpPr>
        <p:spPr>
          <a:xfrm>
            <a:off x="7562088" y="2386584"/>
            <a:ext cx="365760" cy="365760"/>
          </a:xfrm>
          <a:prstGeom prst="ellipse">
            <a:avLst/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73" name="Picture 17472" descr="citizens ic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5240" y="2459736"/>
            <a:ext cx="219456" cy="219456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7955279" y="2313432"/>
            <a:ext cx="1024128" cy="512064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B2239"/>
                </a:solidFill>
                <a:latin typeface="Times New Roman"/>
              </a:rPr>
              <a:t>Social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8961119" y="2313432"/>
            <a:ext cx="2898648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IMD's forecasts reach the </a:t>
            </a:r>
            <a:r>
              <a:rPr sz="800" b="1" i="0">
                <a:solidFill>
                  <a:srgbClr val="0A4F70"/>
                </a:solidFill>
                <a:latin typeface="Arial"/>
              </a:rPr>
              <a:t>last mile</a:t>
            </a:r>
            <a:r>
              <a:rPr sz="800" b="0" i="0">
                <a:solidFill>
                  <a:srgbClr val="1B2A30"/>
                </a:solidFill>
                <a:latin typeface="Arial"/>
              </a:rPr>
              <a:t> in 22 languages through </a:t>
            </a:r>
            <a:r>
              <a:rPr sz="800" b="1" i="0">
                <a:solidFill>
                  <a:srgbClr val="0A4F70"/>
                </a:solidFill>
                <a:latin typeface="Arial"/>
              </a:rPr>
              <a:t>Sarvam AI</a:t>
            </a:r>
            <a:r>
              <a:rPr sz="800" b="0" i="0">
                <a:solidFill>
                  <a:srgbClr val="1B2A30"/>
                </a:solidFill>
                <a:latin typeface="Arial"/>
              </a:rPr>
              <a:t> voice, SMS &amp; IVR. </a:t>
            </a:r>
            <a:r>
              <a:rPr sz="800" b="1" i="0">
                <a:solidFill>
                  <a:srgbClr val="0A4F70"/>
                </a:solidFill>
                <a:latin typeface="Arial"/>
              </a:rPr>
              <a:t>Trust</a:t>
            </a:r>
            <a:r>
              <a:rPr sz="800" b="0" i="0">
                <a:solidFill>
                  <a:srgbClr val="1B2A30"/>
                </a:solidFill>
                <a:latin typeface="Arial"/>
              </a:rPr>
              <a:t> grows when every alert traces to IMD.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7498079" y="2862072"/>
            <a:ext cx="4416552" cy="512064"/>
          </a:xfrm>
          <a:prstGeom prst="roundRect">
            <a:avLst>
              <a:gd name="adj" fmla="val 17857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77" name="Oval 17476"/>
          <p:cNvSpPr/>
          <p:nvPr/>
        </p:nvSpPr>
        <p:spPr>
          <a:xfrm>
            <a:off x="7562088" y="2935224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78" name="Picture 17477" descr="rupee cost icon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5240" y="3008376"/>
            <a:ext cx="219456" cy="219456"/>
          </a:xfrm>
          <a:prstGeom prst="rect">
            <a:avLst/>
          </a:prstGeom>
        </p:spPr>
      </p:pic>
      <p:sp>
        <p:nvSpPr>
          <p:cNvPr id="17479" name="TextBox 17478"/>
          <p:cNvSpPr txBox="1"/>
          <p:nvPr/>
        </p:nvSpPr>
        <p:spPr>
          <a:xfrm>
            <a:off x="7955279" y="2862072"/>
            <a:ext cx="1024128" cy="512064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B2239"/>
                </a:solidFill>
                <a:latin typeface="Times New Roman"/>
              </a:rPr>
              <a:t>Economic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8961119" y="2862072"/>
            <a:ext cx="2898648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Advisories are worth </a:t>
            </a:r>
            <a:r>
              <a:rPr sz="800" b="1" i="0">
                <a:solidFill>
                  <a:srgbClr val="0A4F70"/>
                </a:solidFill>
                <a:latin typeface="Arial"/>
              </a:rPr>
              <a:t>₹12,500 a year</a:t>
            </a:r>
            <a:r>
              <a:rPr sz="800" b="0" i="0">
                <a:solidFill>
                  <a:srgbClr val="1B2A30"/>
                </a:solidFill>
                <a:latin typeface="Arial"/>
              </a:rPr>
              <a:t> to a rain-fed farm household; run on </a:t>
            </a:r>
            <a:r>
              <a:rPr sz="800" b="1" i="0">
                <a:solidFill>
                  <a:srgbClr val="0A4F70"/>
                </a:solidFill>
                <a:latin typeface="Arial"/>
              </a:rPr>
              <a:t>Indian government compute</a:t>
            </a:r>
            <a:r>
              <a:rPr sz="800" b="0" i="0">
                <a:solidFill>
                  <a:srgbClr val="1B2A30"/>
                </a:solidFill>
                <a:latin typeface="Arial"/>
              </a:rPr>
              <a:t>, no foreign fees.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7498079" y="3410711"/>
            <a:ext cx="4416552" cy="512064"/>
          </a:xfrm>
          <a:prstGeom prst="roundRect">
            <a:avLst>
              <a:gd name="adj" fmla="val 17857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82" name="Oval 17481"/>
          <p:cNvSpPr/>
          <p:nvPr/>
        </p:nvSpPr>
        <p:spPr>
          <a:xfrm>
            <a:off x="7562088" y="3483863"/>
            <a:ext cx="365760" cy="365760"/>
          </a:xfrm>
          <a:prstGeom prst="ellipse">
            <a:avLst/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83" name="Picture 17482" descr="environment 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35240" y="3557015"/>
            <a:ext cx="219456" cy="219456"/>
          </a:xfrm>
          <a:prstGeom prst="rect">
            <a:avLst/>
          </a:prstGeom>
        </p:spPr>
      </p:pic>
      <p:sp>
        <p:nvSpPr>
          <p:cNvPr id="17484" name="TextBox 17483"/>
          <p:cNvSpPr txBox="1"/>
          <p:nvPr/>
        </p:nvSpPr>
        <p:spPr>
          <a:xfrm>
            <a:off x="7955279" y="3410711"/>
            <a:ext cx="1024128" cy="512064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0B2239"/>
                </a:solidFill>
                <a:latin typeface="Times New Roman"/>
              </a:rPr>
              <a:t>Environmental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8961119" y="3410711"/>
            <a:ext cx="2898648" cy="51206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4F70"/>
                </a:solidFill>
                <a:latin typeface="Arial"/>
              </a:rPr>
              <a:t>Weather-timed spraying &amp; irrigation</a:t>
            </a:r>
            <a:r>
              <a:rPr sz="800" b="0" i="0">
                <a:solidFill>
                  <a:srgbClr val="1B2A30"/>
                </a:solidFill>
                <a:latin typeface="Arial"/>
              </a:rPr>
              <a:t> cut wash-off and water waste; open records power </a:t>
            </a:r>
            <a:r>
              <a:rPr sz="800" b="1" i="0">
                <a:solidFill>
                  <a:srgbClr val="0A4F70"/>
                </a:solidFill>
                <a:latin typeface="Arial"/>
              </a:rPr>
              <a:t>local adaptation</a:t>
            </a:r>
            <a:r>
              <a:rPr sz="800" b="0" i="0">
                <a:solidFill>
                  <a:srgbClr val="1B2A30"/>
                </a:solidFill>
                <a:latin typeface="Arial"/>
              </a:rPr>
              <a:t> (SDG 13 · 2 · 11).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274320" y="4041648"/>
            <a:ext cx="11640312" cy="2221992"/>
          </a:xfrm>
          <a:prstGeom prst="roundRect">
            <a:avLst>
              <a:gd name="adj" fmla="val 5761"/>
            </a:avLst>
          </a:prstGeom>
          <a:gradFill rotWithShape="1">
            <a:gsLst>
              <a:gs pos="0">
                <a:srgbClr val="081A2C"/>
              </a:gs>
              <a:gs pos="100000">
                <a:srgbClr val="123E63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87" name="Picture 17486" descr="Radar-style map of the Gujarat coast: a cyclone track modelled on Cyclone Biparjoy (June 2023) moving to landfall near Jakhau, Kachchh, with IMD district warnings coloured red, orange, yellow and green; labels Ahmedabad, Rajkot, Surat, Arabian Sea, T-72 h, T-48 h, T-24 h.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4048" y="4151376"/>
            <a:ext cx="2011680" cy="2011680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2542032" y="4096511"/>
            <a:ext cx="65836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DISASTER-DAY STORYBOARD</a:t>
            </a:r>
            <a:r>
              <a:rPr sz="1200" b="0" i="0">
                <a:solidFill>
                  <a:srgbClr val="FFFFFF"/>
                </a:solidFill>
                <a:latin typeface="Times New Roman"/>
              </a:rPr>
              <a:t>: 72 hours of a cyclone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9710928" y="4096511"/>
            <a:ext cx="2130552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i="0">
                <a:solidFill>
                  <a:srgbClr val="B7CFE6"/>
                </a:solidFill>
                <a:latin typeface="Arial"/>
              </a:rPr>
              <a:t>Illustrative, modelled on Cyclone Biparjoy (Kutch, June 2023): IMD's warnings moved 1 lakh+ people to safety</a:t>
            </a:r>
          </a:p>
        </p:txBody>
      </p:sp>
      <p:sp>
        <p:nvSpPr>
          <p:cNvPr id="17490" name="Oval 17489"/>
          <p:cNvSpPr/>
          <p:nvPr/>
        </p:nvSpPr>
        <p:spPr>
          <a:xfrm>
            <a:off x="7059168" y="4215384"/>
            <a:ext cx="100584" cy="10058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91" name="TextBox 17490"/>
          <p:cNvSpPr txBox="1"/>
          <p:nvPr/>
        </p:nvSpPr>
        <p:spPr>
          <a:xfrm>
            <a:off x="7168896" y="4151376"/>
            <a:ext cx="548640" cy="228600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Arial"/>
              </a:rPr>
              <a:t>no warning</a:t>
            </a:r>
          </a:p>
        </p:txBody>
      </p:sp>
      <p:sp>
        <p:nvSpPr>
          <p:cNvPr id="17492" name="Oval 17491"/>
          <p:cNvSpPr/>
          <p:nvPr/>
        </p:nvSpPr>
        <p:spPr>
          <a:xfrm>
            <a:off x="7781544" y="4215384"/>
            <a:ext cx="100584" cy="100584"/>
          </a:xfrm>
          <a:prstGeom prst="ellipse">
            <a:avLst/>
          </a:prstGeom>
          <a:solidFill>
            <a:srgbClr val="E0A8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93" name="TextBox 17492"/>
          <p:cNvSpPr txBox="1"/>
          <p:nvPr/>
        </p:nvSpPr>
        <p:spPr>
          <a:xfrm>
            <a:off x="7891271" y="4151376"/>
            <a:ext cx="548640" cy="228600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Arial"/>
              </a:rPr>
              <a:t>watch</a:t>
            </a:r>
          </a:p>
        </p:txBody>
      </p:sp>
      <p:sp>
        <p:nvSpPr>
          <p:cNvPr id="17494" name="Oval 17493"/>
          <p:cNvSpPr/>
          <p:nvPr/>
        </p:nvSpPr>
        <p:spPr>
          <a:xfrm>
            <a:off x="8252460" y="4215384"/>
            <a:ext cx="100584" cy="100584"/>
          </a:xfrm>
          <a:prstGeom prst="ellipse">
            <a:avLst/>
          </a:prstGeom>
          <a:solidFill>
            <a:srgbClr val="EF7D2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95" name="TextBox 17494"/>
          <p:cNvSpPr txBox="1"/>
          <p:nvPr/>
        </p:nvSpPr>
        <p:spPr>
          <a:xfrm>
            <a:off x="8362188" y="4151376"/>
            <a:ext cx="548640" cy="228600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Arial"/>
              </a:rPr>
              <a:t>alert</a:t>
            </a:r>
          </a:p>
        </p:txBody>
      </p:sp>
      <p:sp>
        <p:nvSpPr>
          <p:cNvPr id="17496" name="Oval 17495"/>
          <p:cNvSpPr/>
          <p:nvPr/>
        </p:nvSpPr>
        <p:spPr>
          <a:xfrm>
            <a:off x="8723376" y="4215384"/>
            <a:ext cx="100584" cy="100584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97" name="TextBox 17496"/>
          <p:cNvSpPr txBox="1"/>
          <p:nvPr/>
        </p:nvSpPr>
        <p:spPr>
          <a:xfrm>
            <a:off x="8833104" y="4151376"/>
            <a:ext cx="548640" cy="228600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50" b="0" i="0">
                <a:solidFill>
                  <a:srgbClr val="FFFFFF"/>
                </a:solidFill>
                <a:latin typeface="Arial"/>
              </a:rPr>
              <a:t>warning</a:t>
            </a:r>
          </a:p>
        </p:txBody>
      </p:sp>
      <p:cxnSp>
        <p:nvCxnSpPr>
          <p:cNvPr id="17498" name="Connector 17497"/>
          <p:cNvCxnSpPr/>
          <p:nvPr/>
        </p:nvCxnSpPr>
        <p:spPr>
          <a:xfrm>
            <a:off x="2633472" y="4645152"/>
            <a:ext cx="9162288" cy="0"/>
          </a:xfrm>
          <a:prstGeom prst="line">
            <a:avLst/>
          </a:prstGeom>
          <a:ln w="31750">
            <a:solidFill>
              <a:srgbClr val="3F6A94"/>
            </a:solidFill>
            <a:tailEnd type="triangle" w="med" len="med"/>
          </a:ln>
        </p:spPr>
      </p:cxnSp>
      <p:sp>
        <p:nvSpPr>
          <p:cNvPr id="17499" name="Rounded Rectangle 17498"/>
          <p:cNvSpPr/>
          <p:nvPr/>
        </p:nvSpPr>
        <p:spPr>
          <a:xfrm>
            <a:off x="2578608" y="4480560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E0A800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B2239"/>
                </a:solidFill>
                <a:latin typeface="Times New Roman"/>
              </a:rPr>
              <a:t>T – 72 h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2578608" y="4882896"/>
            <a:ext cx="1761134" cy="1261872"/>
          </a:xfrm>
          <a:prstGeom prst="roundRect">
            <a:avLst>
              <a:gd name="adj" fmla="val 7246"/>
            </a:avLst>
          </a:prstGeom>
          <a:solidFill>
            <a:srgbClr val="163A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01" name="Picture 17500" descr="farm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0903" y="4956048"/>
            <a:ext cx="182880" cy="182880"/>
          </a:xfrm>
          <a:prstGeom prst="rect">
            <a:avLst/>
          </a:prstGeom>
        </p:spPr>
      </p:pic>
      <p:sp>
        <p:nvSpPr>
          <p:cNvPr id="17502" name="TextBox 17501"/>
          <p:cNvSpPr txBox="1"/>
          <p:nvPr/>
        </p:nvSpPr>
        <p:spPr>
          <a:xfrm>
            <a:off x="2889503" y="4910328"/>
            <a:ext cx="139537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AD8F5"/>
                </a:solidFill>
                <a:latin typeface="Arial"/>
              </a:rPr>
              <a:t>Yellow watch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2633472" y="5193792"/>
            <a:ext cx="1651406" cy="6766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A farmer asks by voice and hears the rain window plus IMD's own advice: harvest early.</a:t>
            </a:r>
          </a:p>
        </p:txBody>
      </p:sp>
      <p:sp>
        <p:nvSpPr>
          <p:cNvPr id="17504" name="Rounded Rectangle 17503"/>
          <p:cNvSpPr/>
          <p:nvPr/>
        </p:nvSpPr>
        <p:spPr>
          <a:xfrm>
            <a:off x="2633472" y="5888736"/>
            <a:ext cx="1651406" cy="192024"/>
          </a:xfrm>
          <a:prstGeom prst="roundRect">
            <a:avLst>
              <a:gd name="adj" fmla="val 47619"/>
            </a:avLst>
          </a:prstGeom>
          <a:solidFill>
            <a:srgbClr val="081A2C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AD8F5"/>
                </a:solidFill>
                <a:latin typeface="Arial"/>
              </a:rPr>
              <a:t>Sarvam voice · Krishi Salah</a:t>
            </a:r>
          </a:p>
        </p:txBody>
      </p:sp>
      <p:sp>
        <p:nvSpPr>
          <p:cNvPr id="17505" name="Rounded Rectangle 17504"/>
          <p:cNvSpPr/>
          <p:nvPr/>
        </p:nvSpPr>
        <p:spPr>
          <a:xfrm>
            <a:off x="4431182" y="4480560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EF7D22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</a:rPr>
              <a:t>T – 48 h</a:t>
            </a:r>
          </a:p>
        </p:txBody>
      </p:sp>
      <p:sp>
        <p:nvSpPr>
          <p:cNvPr id="17506" name="Rounded Rectangle 17505"/>
          <p:cNvSpPr/>
          <p:nvPr/>
        </p:nvSpPr>
        <p:spPr>
          <a:xfrm>
            <a:off x="4431182" y="4882896"/>
            <a:ext cx="1761134" cy="1261872"/>
          </a:xfrm>
          <a:prstGeom prst="roundRect">
            <a:avLst>
              <a:gd name="adj" fmla="val 7246"/>
            </a:avLst>
          </a:prstGeom>
          <a:solidFill>
            <a:srgbClr val="163A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07" name="Picture 17506" descr="alert notification 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13478" y="4956048"/>
            <a:ext cx="182880" cy="182880"/>
          </a:xfrm>
          <a:prstGeom prst="rect">
            <a:avLst/>
          </a:prstGeom>
        </p:spPr>
      </p:pic>
      <p:sp>
        <p:nvSpPr>
          <p:cNvPr id="17508" name="TextBox 17507"/>
          <p:cNvSpPr txBox="1"/>
          <p:nvPr/>
        </p:nvSpPr>
        <p:spPr>
          <a:xfrm>
            <a:off x="4742078" y="4910328"/>
            <a:ext cx="139537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AD8F5"/>
                </a:solidFill>
                <a:latin typeface="Arial"/>
              </a:rPr>
              <a:t>IMD raises Orange</a:t>
            </a:r>
          </a:p>
        </p:txBody>
      </p:sp>
      <p:sp>
        <p:nvSpPr>
          <p:cNvPr id="17509" name="TextBox 17508"/>
          <p:cNvSpPr txBox="1"/>
          <p:nvPr/>
        </p:nvSpPr>
        <p:spPr>
          <a:xfrm>
            <a:off x="4486046" y="5193792"/>
            <a:ext cx="1651406" cy="6766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The change reaches every subscribed phone in the district within a minute by push, SMS and IVR.</a:t>
            </a:r>
          </a:p>
        </p:txBody>
      </p:sp>
      <p:sp>
        <p:nvSpPr>
          <p:cNvPr id="17510" name="Rounded Rectangle 17509"/>
          <p:cNvSpPr/>
          <p:nvPr/>
        </p:nvSpPr>
        <p:spPr>
          <a:xfrm>
            <a:off x="4486046" y="5888736"/>
            <a:ext cx="1651406" cy="192024"/>
          </a:xfrm>
          <a:prstGeom prst="roundRect">
            <a:avLst>
              <a:gd name="adj" fmla="val 47619"/>
            </a:avLst>
          </a:prstGeom>
          <a:solidFill>
            <a:srgbClr val="081A2C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AD8F5"/>
                </a:solidFill>
                <a:latin typeface="Arial"/>
              </a:rPr>
              <a:t>Chetavani Relay</a:t>
            </a:r>
          </a:p>
        </p:txBody>
      </p:sp>
      <p:sp>
        <p:nvSpPr>
          <p:cNvPr id="17511" name="Rounded Rectangle 17510"/>
          <p:cNvSpPr/>
          <p:nvPr/>
        </p:nvSpPr>
        <p:spPr>
          <a:xfrm>
            <a:off x="6283756" y="4480560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</a:rPr>
              <a:t>T – 24 h</a:t>
            </a:r>
          </a:p>
        </p:txBody>
      </p:sp>
      <p:sp>
        <p:nvSpPr>
          <p:cNvPr id="17512" name="Rounded Rectangle 17511"/>
          <p:cNvSpPr/>
          <p:nvPr/>
        </p:nvSpPr>
        <p:spPr>
          <a:xfrm>
            <a:off x="6283756" y="4882896"/>
            <a:ext cx="1761134" cy="1261872"/>
          </a:xfrm>
          <a:prstGeom prst="roundRect">
            <a:avLst>
              <a:gd name="adj" fmla="val 7246"/>
            </a:avLst>
          </a:prstGeom>
          <a:solidFill>
            <a:srgbClr val="163A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13" name="Picture 17512" descr="disaster management officer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6052" y="4956048"/>
            <a:ext cx="182880" cy="182880"/>
          </a:xfrm>
          <a:prstGeom prst="rect">
            <a:avLst/>
          </a:prstGeom>
        </p:spPr>
      </p:pic>
      <p:sp>
        <p:nvSpPr>
          <p:cNvPr id="17514" name="TextBox 17513"/>
          <p:cNvSpPr txBox="1"/>
          <p:nvPr/>
        </p:nvSpPr>
        <p:spPr>
          <a:xfrm>
            <a:off x="6594652" y="4910328"/>
            <a:ext cx="139537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AD8F5"/>
                </a:solidFill>
                <a:latin typeface="Arial"/>
              </a:rPr>
              <a:t>Red warning</a:t>
            </a:r>
          </a:p>
        </p:txBody>
      </p:sp>
      <p:sp>
        <p:nvSpPr>
          <p:cNvPr id="17515" name="TextBox 17514"/>
          <p:cNvSpPr txBox="1"/>
          <p:nvPr/>
        </p:nvSpPr>
        <p:spPr>
          <a:xfrm>
            <a:off x="6338620" y="5193792"/>
            <a:ext cx="1651406" cy="6766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The district officer pulls a what-changed brief with its source and forwards it to every taluka.</a:t>
            </a:r>
          </a:p>
        </p:txBody>
      </p:sp>
      <p:sp>
        <p:nvSpPr>
          <p:cNvPr id="17516" name="Rounded Rectangle 17515"/>
          <p:cNvSpPr/>
          <p:nvPr/>
        </p:nvSpPr>
        <p:spPr>
          <a:xfrm>
            <a:off x="6338620" y="5888736"/>
            <a:ext cx="1651406" cy="192024"/>
          </a:xfrm>
          <a:prstGeom prst="roundRect">
            <a:avLst>
              <a:gd name="adj" fmla="val 47619"/>
            </a:avLst>
          </a:prstGeom>
          <a:solidFill>
            <a:srgbClr val="081A2C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AD8F5"/>
                </a:solidFill>
                <a:latin typeface="Arial"/>
              </a:rPr>
              <a:t>Pramaan Receipt</a:t>
            </a:r>
          </a:p>
        </p:txBody>
      </p:sp>
      <p:sp>
        <p:nvSpPr>
          <p:cNvPr id="17517" name="Rounded Rectangle 17516"/>
          <p:cNvSpPr/>
          <p:nvPr/>
        </p:nvSpPr>
        <p:spPr>
          <a:xfrm>
            <a:off x="8136331" y="4480560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8E2436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</a:rPr>
              <a:t>T – 0</a:t>
            </a:r>
          </a:p>
        </p:txBody>
      </p:sp>
      <p:sp>
        <p:nvSpPr>
          <p:cNvPr id="17518" name="Rounded Rectangle 17517"/>
          <p:cNvSpPr/>
          <p:nvPr/>
        </p:nvSpPr>
        <p:spPr>
          <a:xfrm>
            <a:off x="8136331" y="4882896"/>
            <a:ext cx="1761134" cy="1261872"/>
          </a:xfrm>
          <a:prstGeom prst="roundRect">
            <a:avLst>
              <a:gd name="adj" fmla="val 7246"/>
            </a:avLst>
          </a:prstGeom>
          <a:solidFill>
            <a:srgbClr val="163A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19" name="Picture 17518" descr="network 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18627" y="4956048"/>
            <a:ext cx="182880" cy="182880"/>
          </a:xfrm>
          <a:prstGeom prst="rect">
            <a:avLst/>
          </a:prstGeom>
        </p:spPr>
      </p:pic>
      <p:sp>
        <p:nvSpPr>
          <p:cNvPr id="17520" name="TextBox 17519"/>
          <p:cNvSpPr txBox="1"/>
          <p:nvPr/>
        </p:nvSpPr>
        <p:spPr>
          <a:xfrm>
            <a:off x="8447227" y="4910328"/>
            <a:ext cx="139537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AD8F5"/>
                </a:solidFill>
                <a:latin typeface="Arial"/>
              </a:rPr>
              <a:t>Landfall</a:t>
            </a:r>
          </a:p>
        </p:txBody>
      </p:sp>
      <p:sp>
        <p:nvSpPr>
          <p:cNvPr id="17521" name="TextBox 17520"/>
          <p:cNvSpPr txBox="1"/>
          <p:nvPr/>
        </p:nvSpPr>
        <p:spPr>
          <a:xfrm>
            <a:off x="8191195" y="5193792"/>
            <a:ext cx="1651406" cy="6766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Networks choke: the cached last answer and the IVR line keep working; fishers hear the RSMC sea-area warning.</a:t>
            </a:r>
          </a:p>
        </p:txBody>
      </p:sp>
      <p:sp>
        <p:nvSpPr>
          <p:cNvPr id="17522" name="Rounded Rectangle 17521"/>
          <p:cNvSpPr/>
          <p:nvPr/>
        </p:nvSpPr>
        <p:spPr>
          <a:xfrm>
            <a:off x="8191195" y="5888736"/>
            <a:ext cx="1651406" cy="192024"/>
          </a:xfrm>
          <a:prstGeom prst="roundRect">
            <a:avLst>
              <a:gd name="adj" fmla="val 47619"/>
            </a:avLst>
          </a:prstGeom>
          <a:solidFill>
            <a:srgbClr val="081A2C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AD8F5"/>
                </a:solidFill>
                <a:latin typeface="Arial"/>
              </a:rPr>
              <a:t>Offline cache · IVR</a:t>
            </a:r>
          </a:p>
        </p:txBody>
      </p:sp>
      <p:sp>
        <p:nvSpPr>
          <p:cNvPr id="17523" name="Rounded Rectangle 17522"/>
          <p:cNvSpPr/>
          <p:nvPr/>
        </p:nvSpPr>
        <p:spPr>
          <a:xfrm>
            <a:off x="9988905" y="4480560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rtlCol="0" anchor="ctr" wrap="square" lIns="36576" tIns="18288" rIns="36576" bIns="18288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Times New Roman"/>
              </a:rPr>
              <a:t>T + 24 h</a:t>
            </a:r>
          </a:p>
        </p:txBody>
      </p:sp>
      <p:sp>
        <p:nvSpPr>
          <p:cNvPr id="17524" name="Rounded Rectangle 17523"/>
          <p:cNvSpPr/>
          <p:nvPr/>
        </p:nvSpPr>
        <p:spPr>
          <a:xfrm>
            <a:off x="9988905" y="4882896"/>
            <a:ext cx="1761134" cy="1261872"/>
          </a:xfrm>
          <a:prstGeom prst="roundRect">
            <a:avLst>
              <a:gd name="adj" fmla="val 7246"/>
            </a:avLst>
          </a:prstGeom>
          <a:solidFill>
            <a:srgbClr val="163A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25" name="Picture 17524" descr="feasibility 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71201" y="4956048"/>
            <a:ext cx="182880" cy="182880"/>
          </a:xfrm>
          <a:prstGeom prst="rect">
            <a:avLst/>
          </a:prstGeom>
        </p:spPr>
      </p:pic>
      <p:sp>
        <p:nvSpPr>
          <p:cNvPr id="17526" name="TextBox 17525"/>
          <p:cNvSpPr txBox="1"/>
          <p:nvPr/>
        </p:nvSpPr>
        <p:spPr>
          <a:xfrm>
            <a:off x="10299801" y="4910328"/>
            <a:ext cx="139537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AD8F5"/>
                </a:solidFill>
                <a:latin typeface="Arial"/>
              </a:rPr>
              <a:t>Recovery</a:t>
            </a:r>
          </a:p>
        </p:txBody>
      </p:sp>
      <p:sp>
        <p:nvSpPr>
          <p:cNvPr id="17527" name="TextBox 17526"/>
          <p:cNvSpPr txBox="1"/>
          <p:nvPr/>
        </p:nvSpPr>
        <p:spPr>
          <a:xfrm>
            <a:off x="10043769" y="5193792"/>
            <a:ext cx="1651406" cy="67665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Relief teams ask for rainfall totals and river discharge; every figure comes with its source and time.</a:t>
            </a:r>
          </a:p>
        </p:txBody>
      </p:sp>
      <p:sp>
        <p:nvSpPr>
          <p:cNvPr id="17528" name="Rounded Rectangle 17527"/>
          <p:cNvSpPr/>
          <p:nvPr/>
        </p:nvSpPr>
        <p:spPr>
          <a:xfrm>
            <a:off x="10043769" y="5888736"/>
            <a:ext cx="1651406" cy="192024"/>
          </a:xfrm>
          <a:prstGeom prst="roundRect">
            <a:avLst>
              <a:gd name="adj" fmla="val 47619"/>
            </a:avLst>
          </a:prstGeom>
          <a:solidFill>
            <a:srgbClr val="081A2C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8AD8F5"/>
                </a:solidFill>
                <a:latin typeface="Arial"/>
              </a:rPr>
              <a:t>Mausam Setu · Jalvayu Lens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651760" y="6356353"/>
            <a:ext cx="7223760" cy="365125"/>
          </a:xfrm>
        </p:spPr>
        <p:txBody>
          <a:bodyPr wrap="none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 · SIH26068 · WeatherGPT · Team Void Pointers (118709)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lIns="18288" rIns="18288"/>
          <a:lstStyle/>
          <a:p>
            <a:pPr algn="ctr"/>
            <a:r>
              <a:rPr lang="en-US" dirty="0" sz="1200"/>
              <a:t>Void Pointers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WeatherGPT logo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428232"/>
            <a:ext cx="334959" cy="219456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1874519" y="786384"/>
            <a:ext cx="7680960" cy="23774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5666E"/>
                </a:solidFill>
                <a:latin typeface="Times New Roman"/>
              </a:rPr>
              <a:t>Details and links of the reference and research work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74320" y="1097280"/>
            <a:ext cx="8138160" cy="5166360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15875">
            <a:solidFill>
              <a:srgbClr val="0B223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13" name="Pentagon 17412"/>
          <p:cNvSpPr/>
          <p:nvPr/>
        </p:nvSpPr>
        <p:spPr>
          <a:xfrm>
            <a:off x="365760" y="1188720"/>
            <a:ext cx="1432560" cy="512064"/>
          </a:xfrm>
          <a:prstGeom prst="homePlate">
            <a:avLst>
              <a:gd name="adj" fmla="val 30000"/>
            </a:avLst>
          </a:prstGeom>
          <a:solidFill>
            <a:srgbClr val="0F6E9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4" name="Picture 17413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62456"/>
            <a:ext cx="155448" cy="155448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640080" y="1188720"/>
            <a:ext cx="883920" cy="512064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PS decoded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MoES · IMD needs</a:t>
            </a:r>
          </a:p>
        </p:txBody>
      </p:sp>
      <p:sp>
        <p:nvSpPr>
          <p:cNvPr id="17416" name="Chevron 17415"/>
          <p:cNvSpPr/>
          <p:nvPr/>
        </p:nvSpPr>
        <p:spPr>
          <a:xfrm>
            <a:off x="1670304" y="1188720"/>
            <a:ext cx="1432560" cy="512064"/>
          </a:xfrm>
          <a:prstGeom prst="chevron">
            <a:avLst>
              <a:gd name="adj" fmla="val 30000"/>
            </a:avLst>
          </a:prstGeom>
          <a:solidFill>
            <a:srgbClr val="3D8FD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17" name="Picture 17416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904" y="1362456"/>
            <a:ext cx="155448" cy="155448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2081784" y="1188720"/>
            <a:ext cx="883920" cy="512064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70 sources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live-probed</a:t>
            </a:r>
          </a:p>
        </p:txBody>
      </p:sp>
      <p:sp>
        <p:nvSpPr>
          <p:cNvPr id="17419" name="Chevron 17418"/>
          <p:cNvSpPr/>
          <p:nvPr/>
        </p:nvSpPr>
        <p:spPr>
          <a:xfrm>
            <a:off x="2974848" y="1188720"/>
            <a:ext cx="1432560" cy="512064"/>
          </a:xfrm>
          <a:prstGeom prst="chevron">
            <a:avLst>
              <a:gd name="adj" fmla="val 30000"/>
            </a:avLst>
          </a:prstGeom>
          <a:solidFill>
            <a:srgbClr val="5B5BC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0" name="Picture 17419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448" y="1362456"/>
            <a:ext cx="155448" cy="155448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3386328" y="1188720"/>
            <a:ext cx="883920" cy="512064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5 systems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benchmarked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4279392" y="1188720"/>
            <a:ext cx="1432560" cy="512064"/>
          </a:xfrm>
          <a:prstGeom prst="chevron">
            <a:avLst>
              <a:gd name="adj" fmla="val 30000"/>
            </a:avLst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3" name="Picture 17422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1362456"/>
            <a:ext cx="155448" cy="155448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4690872" y="1188720"/>
            <a:ext cx="883920" cy="512064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Architecture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designed</a:t>
            </a:r>
          </a:p>
        </p:txBody>
      </p:sp>
      <p:sp>
        <p:nvSpPr>
          <p:cNvPr id="17425" name="Chevron 17424"/>
          <p:cNvSpPr/>
          <p:nvPr/>
        </p:nvSpPr>
        <p:spPr>
          <a:xfrm>
            <a:off x="5583936" y="1188720"/>
            <a:ext cx="1432560" cy="512064"/>
          </a:xfrm>
          <a:prstGeom prst="chevron">
            <a:avLst>
              <a:gd name="adj" fmla="val 30000"/>
            </a:avLst>
          </a:prstGeom>
          <a:solidFill>
            <a:srgbClr val="D97A0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6" name="Picture 17425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2536" y="1362456"/>
            <a:ext cx="155448" cy="155448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5995416" y="1188720"/>
            <a:ext cx="883920" cy="512064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Prototype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306 scenarios run</a:t>
            </a:r>
          </a:p>
        </p:txBody>
      </p:sp>
      <p:sp>
        <p:nvSpPr>
          <p:cNvPr id="17428" name="Chevron 17427"/>
          <p:cNvSpPr/>
          <p:nvPr/>
        </p:nvSpPr>
        <p:spPr>
          <a:xfrm>
            <a:off x="6888480" y="1188720"/>
            <a:ext cx="1432560" cy="512064"/>
          </a:xfrm>
          <a:prstGeom prst="chevron">
            <a:avLst>
              <a:gd name="adj" fmla="val 30000"/>
            </a:avLst>
          </a:prstGeom>
          <a:solidFill>
            <a:srgbClr val="D1423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29" name="Picture 17428" descr="pla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080" y="1362456"/>
            <a:ext cx="155448" cy="155448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7299960" y="1188720"/>
            <a:ext cx="883920" cy="512064"/>
          </a:xfrm>
          <a:prstGeom prst="rect">
            <a:avLst/>
          </a:prstGeom>
          <a:noFill/>
        </p:spPr>
        <p:txBody>
          <a:bodyPr wrap="square" lIns="18288" tIns="0" rIns="0" bIns="0" anchor="ctr"/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Now building</a:t>
            </a:r>
          </a:p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live push · WIS 2.0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11480" y="1792224"/>
            <a:ext cx="48920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A4F70"/>
                </a:solidFill>
                <a:latin typeface="Times New Roman"/>
              </a:rPr>
              <a:t>Existing systems benchmarked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063240" y="1792224"/>
            <a:ext cx="2240279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5666E"/>
                </a:solidFill>
                <a:latin typeface="Arial"/>
              </a:rPr>
              <a:t>✓ yes · ~ partial · × no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645152" y="2084831"/>
            <a:ext cx="630936" cy="2121408"/>
          </a:xfrm>
          <a:prstGeom prst="roundRect">
            <a:avLst>
              <a:gd name="adj" fmla="val 11594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2560320" y="2103120"/>
            <a:ext cx="685799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4F70"/>
                </a:solidFill>
                <a:latin typeface="Arial"/>
              </a:rPr>
              <a:t>IMD apps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3246120" y="2103120"/>
            <a:ext cx="685799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4F70"/>
                </a:solidFill>
                <a:latin typeface="Arial"/>
              </a:rPr>
              <a:t>Weather apps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3931920" y="2103120"/>
            <a:ext cx="685799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0A4F70"/>
                </a:solidFill>
                <a:latin typeface="Arial"/>
              </a:rPr>
              <a:t>AI chatbots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617720" y="2103120"/>
            <a:ext cx="685799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C766"/>
                </a:solidFill>
                <a:latin typeface="Arial"/>
              </a:rPr>
              <a:t>WeatherGPT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411480" y="2359152"/>
            <a:ext cx="4206240" cy="20116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466344" y="2359152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B2A30"/>
                </a:solidFill>
                <a:latin typeface="Arial"/>
              </a:rPr>
              <a:t>Data stays in India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2825496" y="2382012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1" name="Picture 17440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803" y="2419319"/>
            <a:ext cx="80832" cy="80832"/>
          </a:xfrm>
          <a:prstGeom prst="rect">
            <a:avLst/>
          </a:prstGeom>
        </p:spPr>
      </p:pic>
      <p:sp>
        <p:nvSpPr>
          <p:cNvPr id="17442" name="Oval 17441"/>
          <p:cNvSpPr/>
          <p:nvPr/>
        </p:nvSpPr>
        <p:spPr>
          <a:xfrm>
            <a:off x="3511296" y="2382012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3" name="Picture 17442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3266" y="2423982"/>
            <a:ext cx="71506" cy="71506"/>
          </a:xfrm>
          <a:prstGeom prst="rect">
            <a:avLst/>
          </a:prstGeom>
        </p:spPr>
      </p:pic>
      <p:sp>
        <p:nvSpPr>
          <p:cNvPr id="17444" name="Oval 17443"/>
          <p:cNvSpPr/>
          <p:nvPr/>
        </p:nvSpPr>
        <p:spPr>
          <a:xfrm>
            <a:off x="4197096" y="2382012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5" name="Picture 17444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066" y="2423982"/>
            <a:ext cx="71506" cy="71506"/>
          </a:xfrm>
          <a:prstGeom prst="rect">
            <a:avLst/>
          </a:prstGeom>
        </p:spPr>
      </p:pic>
      <p:sp>
        <p:nvSpPr>
          <p:cNvPr id="17446" name="Oval 17445"/>
          <p:cNvSpPr/>
          <p:nvPr/>
        </p:nvSpPr>
        <p:spPr>
          <a:xfrm>
            <a:off x="4882896" y="2382012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47" name="Picture 17446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203" y="2419319"/>
            <a:ext cx="80832" cy="80832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66344" y="2560320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B2A30"/>
                </a:solidFill>
                <a:latin typeface="Arial"/>
              </a:rPr>
              <a:t>Ask in natural language</a:t>
            </a:r>
          </a:p>
        </p:txBody>
      </p:sp>
      <p:sp>
        <p:nvSpPr>
          <p:cNvPr id="17449" name="Oval 17448"/>
          <p:cNvSpPr/>
          <p:nvPr/>
        </p:nvSpPr>
        <p:spPr>
          <a:xfrm>
            <a:off x="2825496" y="2583180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0" name="Picture 17449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7466" y="2625150"/>
            <a:ext cx="71506" cy="71506"/>
          </a:xfrm>
          <a:prstGeom prst="rect">
            <a:avLst/>
          </a:prstGeom>
        </p:spPr>
      </p:pic>
      <p:sp>
        <p:nvSpPr>
          <p:cNvPr id="17451" name="Oval 17450"/>
          <p:cNvSpPr/>
          <p:nvPr/>
        </p:nvSpPr>
        <p:spPr>
          <a:xfrm>
            <a:off x="3511296" y="2583180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2" name="Picture 17451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3266" y="2625150"/>
            <a:ext cx="71506" cy="71506"/>
          </a:xfrm>
          <a:prstGeom prst="rect">
            <a:avLst/>
          </a:prstGeom>
        </p:spPr>
      </p:pic>
      <p:sp>
        <p:nvSpPr>
          <p:cNvPr id="17453" name="Oval 17452"/>
          <p:cNvSpPr/>
          <p:nvPr/>
        </p:nvSpPr>
        <p:spPr>
          <a:xfrm>
            <a:off x="4197096" y="2583180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4" name="Picture 17453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403" y="2620487"/>
            <a:ext cx="80832" cy="80832"/>
          </a:xfrm>
          <a:prstGeom prst="rect">
            <a:avLst/>
          </a:prstGeom>
        </p:spPr>
      </p:pic>
      <p:sp>
        <p:nvSpPr>
          <p:cNvPr id="17455" name="Oval 17454"/>
          <p:cNvSpPr/>
          <p:nvPr/>
        </p:nvSpPr>
        <p:spPr>
          <a:xfrm>
            <a:off x="4882896" y="2583180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56" name="Picture 17455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203" y="2620487"/>
            <a:ext cx="80832" cy="80832"/>
          </a:xfrm>
          <a:prstGeom prst="rect">
            <a:avLst/>
          </a:prstGeom>
        </p:spPr>
      </p:pic>
      <p:sp>
        <p:nvSpPr>
          <p:cNvPr id="17457" name="Rectangle 17456"/>
          <p:cNvSpPr/>
          <p:nvPr/>
        </p:nvSpPr>
        <p:spPr>
          <a:xfrm>
            <a:off x="411480" y="2761488"/>
            <a:ext cx="4206240" cy="20116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466344" y="2761488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B2A30"/>
                </a:solidFill>
                <a:latin typeface="Arial"/>
              </a:rPr>
              <a:t>Official IMD warnings</a:t>
            </a:r>
          </a:p>
        </p:txBody>
      </p:sp>
      <p:sp>
        <p:nvSpPr>
          <p:cNvPr id="17459" name="Oval 17458"/>
          <p:cNvSpPr/>
          <p:nvPr/>
        </p:nvSpPr>
        <p:spPr>
          <a:xfrm>
            <a:off x="2825496" y="2784348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0" name="Picture 17459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803" y="2821655"/>
            <a:ext cx="80832" cy="80832"/>
          </a:xfrm>
          <a:prstGeom prst="rect">
            <a:avLst/>
          </a:prstGeom>
        </p:spPr>
      </p:pic>
      <p:sp>
        <p:nvSpPr>
          <p:cNvPr id="17461" name="Oval 17460"/>
          <p:cNvSpPr/>
          <p:nvPr/>
        </p:nvSpPr>
        <p:spPr>
          <a:xfrm>
            <a:off x="3511296" y="2784348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2" name="Picture 17461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3266" y="2826318"/>
            <a:ext cx="71506" cy="71506"/>
          </a:xfrm>
          <a:prstGeom prst="rect">
            <a:avLst/>
          </a:prstGeom>
        </p:spPr>
      </p:pic>
      <p:sp>
        <p:nvSpPr>
          <p:cNvPr id="17463" name="Oval 17462"/>
          <p:cNvSpPr/>
          <p:nvPr/>
        </p:nvSpPr>
        <p:spPr>
          <a:xfrm>
            <a:off x="4197096" y="2784348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4" name="Picture 17463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066" y="2826318"/>
            <a:ext cx="71506" cy="71506"/>
          </a:xfrm>
          <a:prstGeom prst="rect">
            <a:avLst/>
          </a:prstGeom>
        </p:spPr>
      </p:pic>
      <p:sp>
        <p:nvSpPr>
          <p:cNvPr id="17465" name="Oval 17464"/>
          <p:cNvSpPr/>
          <p:nvPr/>
        </p:nvSpPr>
        <p:spPr>
          <a:xfrm>
            <a:off x="4882896" y="2784348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6" name="Picture 17465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203" y="2821655"/>
            <a:ext cx="80832" cy="80832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466344" y="2962656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B2A30"/>
                </a:solidFill>
                <a:latin typeface="Arial"/>
              </a:rPr>
              <a:t>No invented numbers</a:t>
            </a:r>
          </a:p>
        </p:txBody>
      </p:sp>
      <p:sp>
        <p:nvSpPr>
          <p:cNvPr id="17468" name="Oval 17467"/>
          <p:cNvSpPr/>
          <p:nvPr/>
        </p:nvSpPr>
        <p:spPr>
          <a:xfrm>
            <a:off x="2825496" y="2985516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69" name="Picture 17468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803" y="3022823"/>
            <a:ext cx="80832" cy="80832"/>
          </a:xfrm>
          <a:prstGeom prst="rect">
            <a:avLst/>
          </a:prstGeom>
        </p:spPr>
      </p:pic>
      <p:sp>
        <p:nvSpPr>
          <p:cNvPr id="17470" name="Oval 17469"/>
          <p:cNvSpPr/>
          <p:nvPr/>
        </p:nvSpPr>
        <p:spPr>
          <a:xfrm>
            <a:off x="3511296" y="2985516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71" name="Picture 17470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603" y="3022823"/>
            <a:ext cx="80832" cy="80832"/>
          </a:xfrm>
          <a:prstGeom prst="rect">
            <a:avLst/>
          </a:prstGeom>
        </p:spPr>
      </p:pic>
      <p:sp>
        <p:nvSpPr>
          <p:cNvPr id="17472" name="Oval 17471"/>
          <p:cNvSpPr/>
          <p:nvPr/>
        </p:nvSpPr>
        <p:spPr>
          <a:xfrm>
            <a:off x="4197096" y="2985516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73" name="Picture 17472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066" y="3027486"/>
            <a:ext cx="71506" cy="71506"/>
          </a:xfrm>
          <a:prstGeom prst="rect">
            <a:avLst/>
          </a:prstGeom>
        </p:spPr>
      </p:pic>
      <p:sp>
        <p:nvSpPr>
          <p:cNvPr id="17474" name="Oval 17473"/>
          <p:cNvSpPr/>
          <p:nvPr/>
        </p:nvSpPr>
        <p:spPr>
          <a:xfrm>
            <a:off x="4882896" y="2985516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75" name="Picture 17474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203" y="3022823"/>
            <a:ext cx="80832" cy="80832"/>
          </a:xfrm>
          <a:prstGeom prst="rect">
            <a:avLst/>
          </a:prstGeom>
        </p:spPr>
      </p:pic>
      <p:sp>
        <p:nvSpPr>
          <p:cNvPr id="17476" name="Rectangle 17475"/>
          <p:cNvSpPr/>
          <p:nvPr/>
        </p:nvSpPr>
        <p:spPr>
          <a:xfrm>
            <a:off x="411480" y="3163824"/>
            <a:ext cx="4206240" cy="20116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466344" y="3163824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B2A30"/>
                </a:solidFill>
                <a:latin typeface="Arial"/>
              </a:rPr>
              <a:t>Source shown on every answer</a:t>
            </a:r>
          </a:p>
        </p:txBody>
      </p:sp>
      <p:sp>
        <p:nvSpPr>
          <p:cNvPr id="17478" name="Oval 17477"/>
          <p:cNvSpPr/>
          <p:nvPr/>
        </p:nvSpPr>
        <p:spPr>
          <a:xfrm>
            <a:off x="2825496" y="3186684"/>
            <a:ext cx="155448" cy="155448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~</a:t>
            </a:r>
          </a:p>
        </p:txBody>
      </p:sp>
      <p:sp>
        <p:nvSpPr>
          <p:cNvPr id="17479" name="Oval 17478"/>
          <p:cNvSpPr/>
          <p:nvPr/>
        </p:nvSpPr>
        <p:spPr>
          <a:xfrm>
            <a:off x="3511296" y="3186684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80" name="Picture 17479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3266" y="3228654"/>
            <a:ext cx="71506" cy="71506"/>
          </a:xfrm>
          <a:prstGeom prst="rect">
            <a:avLst/>
          </a:prstGeom>
        </p:spPr>
      </p:pic>
      <p:sp>
        <p:nvSpPr>
          <p:cNvPr id="17481" name="Oval 17480"/>
          <p:cNvSpPr/>
          <p:nvPr/>
        </p:nvSpPr>
        <p:spPr>
          <a:xfrm>
            <a:off x="4197096" y="3186684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82" name="Picture 17481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066" y="3228654"/>
            <a:ext cx="71506" cy="71506"/>
          </a:xfrm>
          <a:prstGeom prst="rect">
            <a:avLst/>
          </a:prstGeom>
        </p:spPr>
      </p:pic>
      <p:sp>
        <p:nvSpPr>
          <p:cNvPr id="17483" name="Oval 17482"/>
          <p:cNvSpPr/>
          <p:nvPr/>
        </p:nvSpPr>
        <p:spPr>
          <a:xfrm>
            <a:off x="4882896" y="3186684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84" name="Picture 17483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203" y="3223991"/>
            <a:ext cx="80832" cy="80832"/>
          </a:xfrm>
          <a:prstGeom prst="rect">
            <a:avLst/>
          </a:prstGeom>
        </p:spPr>
      </p:pic>
      <p:sp>
        <p:nvSpPr>
          <p:cNvPr id="17485" name="TextBox 17484"/>
          <p:cNvSpPr txBox="1"/>
          <p:nvPr/>
        </p:nvSpPr>
        <p:spPr>
          <a:xfrm>
            <a:off x="466344" y="3364992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B2A30"/>
                </a:solidFill>
                <a:latin typeface="Arial"/>
              </a:rPr>
              <a:t>22 languages + voice</a:t>
            </a:r>
          </a:p>
        </p:txBody>
      </p:sp>
      <p:sp>
        <p:nvSpPr>
          <p:cNvPr id="17486" name="Oval 17485"/>
          <p:cNvSpPr/>
          <p:nvPr/>
        </p:nvSpPr>
        <p:spPr>
          <a:xfrm>
            <a:off x="2825496" y="3387852"/>
            <a:ext cx="155448" cy="155448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~</a:t>
            </a:r>
          </a:p>
        </p:txBody>
      </p:sp>
      <p:sp>
        <p:nvSpPr>
          <p:cNvPr id="17487" name="Oval 17486"/>
          <p:cNvSpPr/>
          <p:nvPr/>
        </p:nvSpPr>
        <p:spPr>
          <a:xfrm>
            <a:off x="3511296" y="3387852"/>
            <a:ext cx="155448" cy="155448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~</a:t>
            </a:r>
          </a:p>
        </p:txBody>
      </p:sp>
      <p:sp>
        <p:nvSpPr>
          <p:cNvPr id="17488" name="Oval 17487"/>
          <p:cNvSpPr/>
          <p:nvPr/>
        </p:nvSpPr>
        <p:spPr>
          <a:xfrm>
            <a:off x="4197096" y="3387852"/>
            <a:ext cx="155448" cy="155448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~</a:t>
            </a:r>
          </a:p>
        </p:txBody>
      </p:sp>
      <p:sp>
        <p:nvSpPr>
          <p:cNvPr id="17489" name="Oval 17488"/>
          <p:cNvSpPr/>
          <p:nvPr/>
        </p:nvSpPr>
        <p:spPr>
          <a:xfrm>
            <a:off x="4882896" y="3387852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90" name="Picture 17489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203" y="3425159"/>
            <a:ext cx="80832" cy="80832"/>
          </a:xfrm>
          <a:prstGeom prst="rect">
            <a:avLst/>
          </a:prstGeom>
        </p:spPr>
      </p:pic>
      <p:sp>
        <p:nvSpPr>
          <p:cNvPr id="17491" name="Rectangle 17490"/>
          <p:cNvSpPr/>
          <p:nvPr/>
        </p:nvSpPr>
        <p:spPr>
          <a:xfrm>
            <a:off x="411480" y="3566160"/>
            <a:ext cx="4206240" cy="20116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92" name="TextBox 17491"/>
          <p:cNvSpPr txBox="1"/>
          <p:nvPr/>
        </p:nvSpPr>
        <p:spPr>
          <a:xfrm>
            <a:off x="466344" y="3566160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B2A30"/>
                </a:solidFill>
                <a:latin typeface="Arial"/>
              </a:rPr>
              <a:t>SMS / IVR reach</a:t>
            </a:r>
          </a:p>
        </p:txBody>
      </p:sp>
      <p:sp>
        <p:nvSpPr>
          <p:cNvPr id="17493" name="Oval 17492"/>
          <p:cNvSpPr/>
          <p:nvPr/>
        </p:nvSpPr>
        <p:spPr>
          <a:xfrm>
            <a:off x="2825496" y="3589020"/>
            <a:ext cx="155448" cy="155448"/>
          </a:xfrm>
          <a:prstGeom prst="ellipse">
            <a:avLst/>
          </a:prstGeom>
          <a:solidFill>
            <a:srgbClr val="D97A06"/>
          </a:solidFill>
          <a:ln>
            <a:noFill/>
          </a:ln>
          <a:effectLst/>
        </p:spPr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~</a:t>
            </a:r>
          </a:p>
        </p:txBody>
      </p:sp>
      <p:sp>
        <p:nvSpPr>
          <p:cNvPr id="17494" name="Oval 17493"/>
          <p:cNvSpPr/>
          <p:nvPr/>
        </p:nvSpPr>
        <p:spPr>
          <a:xfrm>
            <a:off x="3511296" y="3589020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95" name="Picture 17494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3266" y="3630990"/>
            <a:ext cx="71506" cy="71506"/>
          </a:xfrm>
          <a:prstGeom prst="rect">
            <a:avLst/>
          </a:prstGeom>
        </p:spPr>
      </p:pic>
      <p:sp>
        <p:nvSpPr>
          <p:cNvPr id="17496" name="Oval 17495"/>
          <p:cNvSpPr/>
          <p:nvPr/>
        </p:nvSpPr>
        <p:spPr>
          <a:xfrm>
            <a:off x="4197096" y="3589020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97" name="Picture 17496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066" y="3630990"/>
            <a:ext cx="71506" cy="71506"/>
          </a:xfrm>
          <a:prstGeom prst="rect">
            <a:avLst/>
          </a:prstGeom>
        </p:spPr>
      </p:pic>
      <p:sp>
        <p:nvSpPr>
          <p:cNvPr id="17498" name="Oval 17497"/>
          <p:cNvSpPr/>
          <p:nvPr/>
        </p:nvSpPr>
        <p:spPr>
          <a:xfrm>
            <a:off x="4882896" y="3589020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499" name="Picture 17498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203" y="3626327"/>
            <a:ext cx="80832" cy="80832"/>
          </a:xfrm>
          <a:prstGeom prst="rect">
            <a:avLst/>
          </a:prstGeom>
        </p:spPr>
      </p:pic>
      <p:sp>
        <p:nvSpPr>
          <p:cNvPr id="17500" name="TextBox 17499"/>
          <p:cNvSpPr txBox="1"/>
          <p:nvPr/>
        </p:nvSpPr>
        <p:spPr>
          <a:xfrm>
            <a:off x="466344" y="3767328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B2A30"/>
                </a:solidFill>
                <a:latin typeface="Arial"/>
              </a:rPr>
              <a:t>Forecast · advice · climate in one</a:t>
            </a:r>
          </a:p>
        </p:txBody>
      </p:sp>
      <p:sp>
        <p:nvSpPr>
          <p:cNvPr id="17501" name="Oval 17500"/>
          <p:cNvSpPr/>
          <p:nvPr/>
        </p:nvSpPr>
        <p:spPr>
          <a:xfrm>
            <a:off x="2825496" y="3790188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02" name="Picture 17501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7466" y="3832158"/>
            <a:ext cx="71506" cy="71506"/>
          </a:xfrm>
          <a:prstGeom prst="rect">
            <a:avLst/>
          </a:prstGeom>
        </p:spPr>
      </p:pic>
      <p:sp>
        <p:nvSpPr>
          <p:cNvPr id="17503" name="Oval 17502"/>
          <p:cNvSpPr/>
          <p:nvPr/>
        </p:nvSpPr>
        <p:spPr>
          <a:xfrm>
            <a:off x="3511296" y="3790188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04" name="Picture 17503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3266" y="3832158"/>
            <a:ext cx="71506" cy="71506"/>
          </a:xfrm>
          <a:prstGeom prst="rect">
            <a:avLst/>
          </a:prstGeom>
        </p:spPr>
      </p:pic>
      <p:sp>
        <p:nvSpPr>
          <p:cNvPr id="17505" name="Oval 17504"/>
          <p:cNvSpPr/>
          <p:nvPr/>
        </p:nvSpPr>
        <p:spPr>
          <a:xfrm>
            <a:off x="4197096" y="3790188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06" name="Picture 17505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066" y="3832158"/>
            <a:ext cx="71506" cy="71506"/>
          </a:xfrm>
          <a:prstGeom prst="rect">
            <a:avLst/>
          </a:prstGeom>
        </p:spPr>
      </p:pic>
      <p:sp>
        <p:nvSpPr>
          <p:cNvPr id="17507" name="Oval 17506"/>
          <p:cNvSpPr/>
          <p:nvPr/>
        </p:nvSpPr>
        <p:spPr>
          <a:xfrm>
            <a:off x="4882896" y="3790188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08" name="Picture 17507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203" y="3827495"/>
            <a:ext cx="80832" cy="80832"/>
          </a:xfrm>
          <a:prstGeom prst="rect">
            <a:avLst/>
          </a:prstGeom>
        </p:spPr>
      </p:pic>
      <p:sp>
        <p:nvSpPr>
          <p:cNvPr id="17509" name="Rectangle 17508"/>
          <p:cNvSpPr/>
          <p:nvPr/>
        </p:nvSpPr>
        <p:spPr>
          <a:xfrm>
            <a:off x="411480" y="3968496"/>
            <a:ext cx="4206240" cy="20116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10" name="TextBox 17509"/>
          <p:cNvSpPr txBox="1"/>
          <p:nvPr/>
        </p:nvSpPr>
        <p:spPr>
          <a:xfrm>
            <a:off x="466344" y="3968496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B2A30"/>
                </a:solidFill>
                <a:latin typeface="Arial"/>
              </a:rPr>
              <a:t>IMD + global models, compared</a:t>
            </a:r>
          </a:p>
        </p:txBody>
      </p:sp>
      <p:sp>
        <p:nvSpPr>
          <p:cNvPr id="17511" name="Oval 17510"/>
          <p:cNvSpPr/>
          <p:nvPr/>
        </p:nvSpPr>
        <p:spPr>
          <a:xfrm>
            <a:off x="2825496" y="3991356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12" name="Picture 17511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7466" y="4033326"/>
            <a:ext cx="71506" cy="71506"/>
          </a:xfrm>
          <a:prstGeom prst="rect">
            <a:avLst/>
          </a:prstGeom>
        </p:spPr>
      </p:pic>
      <p:sp>
        <p:nvSpPr>
          <p:cNvPr id="17513" name="Oval 17512"/>
          <p:cNvSpPr/>
          <p:nvPr/>
        </p:nvSpPr>
        <p:spPr>
          <a:xfrm>
            <a:off x="3511296" y="3991356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14" name="Picture 17513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3266" y="4033326"/>
            <a:ext cx="71506" cy="71506"/>
          </a:xfrm>
          <a:prstGeom prst="rect">
            <a:avLst/>
          </a:prstGeom>
        </p:spPr>
      </p:pic>
      <p:sp>
        <p:nvSpPr>
          <p:cNvPr id="17515" name="Oval 17514"/>
          <p:cNvSpPr/>
          <p:nvPr/>
        </p:nvSpPr>
        <p:spPr>
          <a:xfrm>
            <a:off x="4197096" y="3991356"/>
            <a:ext cx="155448" cy="155448"/>
          </a:xfrm>
          <a:prstGeom prst="ellipse">
            <a:avLst/>
          </a:prstGeom>
          <a:solidFill>
            <a:srgbClr val="C9D3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16" name="Picture 17515" descr="no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066" y="4033326"/>
            <a:ext cx="71506" cy="71506"/>
          </a:xfrm>
          <a:prstGeom prst="rect">
            <a:avLst/>
          </a:prstGeom>
        </p:spPr>
      </p:pic>
      <p:sp>
        <p:nvSpPr>
          <p:cNvPr id="17517" name="Oval 17516"/>
          <p:cNvSpPr/>
          <p:nvPr/>
        </p:nvSpPr>
        <p:spPr>
          <a:xfrm>
            <a:off x="4882896" y="3991356"/>
            <a:ext cx="155448" cy="1554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18" name="Picture 17517" descr="ye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203" y="4028663"/>
            <a:ext cx="80832" cy="80832"/>
          </a:xfrm>
          <a:prstGeom prst="rect">
            <a:avLst/>
          </a:prstGeom>
        </p:spPr>
      </p:pic>
      <p:sp>
        <p:nvSpPr>
          <p:cNvPr id="17519" name="TextBox 17518"/>
          <p:cNvSpPr txBox="1"/>
          <p:nvPr/>
        </p:nvSpPr>
        <p:spPr>
          <a:xfrm>
            <a:off x="411480" y="4224528"/>
            <a:ext cx="4892040" cy="20116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IMD apps studied:  </a:t>
            </a:r>
            <a:r>
              <a:rPr sz="800" b="0" i="0">
                <a:solidFill>
                  <a:srgbClr val="1B2A30"/>
                </a:solidFill>
                <a:latin typeface="Arial"/>
                <a:hlinkClick r:id="rId8"/>
              </a:rPr>
              <a:t>Mausam app</a:t>
            </a:r>
            <a:r>
              <a:rPr sz="800" b="0" i="0">
                <a:solidFill>
                  <a:srgbClr val="1B2A30"/>
                </a:solidFill>
                <a:latin typeface="Arial"/>
              </a:rPr>
              <a:t>  ·  </a:t>
            </a:r>
            <a:r>
              <a:rPr sz="800" b="0" i="0">
                <a:solidFill>
                  <a:srgbClr val="1B2A30"/>
                </a:solidFill>
                <a:latin typeface="Arial"/>
                <a:hlinkClick r:id="rId9"/>
              </a:rPr>
              <a:t>Meghdoot</a:t>
            </a:r>
            <a:r>
              <a:rPr sz="800" b="0" i="0">
                <a:solidFill>
                  <a:srgbClr val="1B2A30"/>
                </a:solidFill>
                <a:latin typeface="Arial"/>
              </a:rPr>
              <a:t>  ·  </a:t>
            </a:r>
            <a:r>
              <a:rPr sz="800" b="0" i="0">
                <a:solidFill>
                  <a:srgbClr val="1B2A30"/>
                </a:solidFill>
                <a:latin typeface="Arial"/>
                <a:hlinkClick r:id="rId10"/>
              </a:rPr>
              <a:t>Mausamgram</a:t>
            </a:r>
          </a:p>
        </p:txBody>
      </p:sp>
      <p:sp>
        <p:nvSpPr>
          <p:cNvPr id="17520" name="TextBox 17519"/>
          <p:cNvSpPr txBox="1"/>
          <p:nvPr/>
        </p:nvSpPr>
        <p:spPr>
          <a:xfrm>
            <a:off x="5486400" y="1792224"/>
            <a:ext cx="278892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A4F70"/>
                </a:solidFill>
                <a:latin typeface="Times New Roman"/>
              </a:rPr>
              <a:t>Field &amp; Applied Research</a:t>
            </a:r>
          </a:p>
        </p:txBody>
      </p:sp>
      <p:sp>
        <p:nvSpPr>
          <p:cNvPr id="17521" name="TextBox 17520"/>
          <p:cNvSpPr txBox="1"/>
          <p:nvPr/>
        </p:nvSpPr>
        <p:spPr>
          <a:xfrm>
            <a:off x="5486400" y="2103120"/>
            <a:ext cx="2788920" cy="22860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 marL="118872" indent="-118872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  <a:buClr>
                <a:srgbClr val="0F6E9A"/>
              </a:buClr>
              <a:buFont typeface="Arial"/>
              <a:buChar char="•"/>
            </a:pPr>
            <a:r>
              <a:rPr sz="900" b="1" i="0">
                <a:solidFill>
                  <a:srgbClr val="0A4F70"/>
                </a:solidFill>
                <a:latin typeface="Arial"/>
              </a:rPr>
              <a:t>70 official sources</a:t>
            </a:r>
            <a:r>
              <a:rPr sz="900" b="0" i="0">
                <a:solidFill>
                  <a:srgbClr val="1B2A30"/>
                </a:solidFill>
                <a:latin typeface="Arial"/>
              </a:rPr>
              <a:t> live-probed; </a:t>
            </a:r>
            <a:r>
              <a:rPr sz="900" b="1" i="0">
                <a:solidFill>
                  <a:srgbClr val="0A4F70"/>
                </a:solidFill>
                <a:latin typeface="Arial"/>
              </a:rPr>
              <a:t>public routes to IMD's own products</a:t>
            </a:r>
            <a:r>
              <a:rPr sz="900" b="0" i="0">
                <a:solidFill>
                  <a:srgbClr val="1B2A30"/>
                </a:solidFill>
                <a:latin typeface="Arial"/>
              </a:rPr>
              <a:t> found (Mausamgram, nowcast, stations).</a:t>
            </a:r>
          </a:p>
          <a:p>
            <a:pPr algn="l" marL="118872" indent="-118872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  <a:buClr>
                <a:srgbClr val="0F6E9A"/>
              </a:buClr>
              <a:buFont typeface="Arial"/>
              <a:buChar char="•"/>
            </a:pPr>
            <a:r>
              <a:rPr sz="900" b="1" i="0">
                <a:solidFill>
                  <a:srgbClr val="0A4F70"/>
                </a:solidFill>
                <a:latin typeface="Arial"/>
              </a:rPr>
              <a:t>306-scenario live atlas:</a:t>
            </a:r>
            <a:r>
              <a:rPr sz="900" b="0" i="0">
                <a:solidFill>
                  <a:srgbClr val="1B2A30"/>
                </a:solidFill>
                <a:latin typeface="Arial"/>
              </a:rPr>
              <a:t> 90 % answered from evidence, every refusal classified by cause.</a:t>
            </a:r>
          </a:p>
          <a:p>
            <a:pPr algn="l" marL="118872" indent="-118872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  <a:buClr>
                <a:srgbClr val="0F6E9A"/>
              </a:buClr>
              <a:buFont typeface="Arial"/>
              <a:buChar char="•"/>
            </a:pPr>
            <a:r>
              <a:rPr sz="900" b="1" i="0">
                <a:solidFill>
                  <a:srgbClr val="0A4F70"/>
                </a:solidFill>
                <a:latin typeface="Arial"/>
              </a:rPr>
              <a:t>8 multi-turn probes:</a:t>
            </a:r>
            <a:r>
              <a:rPr sz="900" b="0" i="0">
                <a:solidFill>
                  <a:srgbClr val="1B2A30"/>
                </a:solidFill>
                <a:latin typeface="Arial"/>
              </a:rPr>
              <a:t> 7 held end to end.</a:t>
            </a:r>
          </a:p>
          <a:p>
            <a:pPr algn="l" marL="118872" indent="-118872">
              <a:lnSpc>
                <a:spcPct val="93000"/>
              </a:lnSpc>
              <a:spcBef>
                <a:spcPts val="0"/>
              </a:spcBef>
              <a:spcAft>
                <a:spcPts val="300"/>
              </a:spcAft>
              <a:buClr>
                <a:srgbClr val="0F6E9A"/>
              </a:buClr>
              <a:buFont typeface="Arial"/>
              <a:buChar char="•"/>
            </a:pPr>
            <a:r>
              <a:rPr sz="900" b="0" i="0">
                <a:solidFill>
                  <a:srgbClr val="1B2A30"/>
                </a:solidFill>
                <a:latin typeface="Arial"/>
              </a:rPr>
              <a:t>Aligned with </a:t>
            </a:r>
            <a:r>
              <a:rPr sz="900" b="1" i="0">
                <a:solidFill>
                  <a:srgbClr val="0A4F70"/>
                </a:solidFill>
                <a:latin typeface="Arial"/>
              </a:rPr>
              <a:t>Mission Mausam</a:t>
            </a:r>
            <a:r>
              <a:rPr sz="900" b="0" i="0">
                <a:solidFill>
                  <a:srgbClr val="1B2A30"/>
                </a:solidFill>
                <a:latin typeface="Arial"/>
              </a:rPr>
              <a:t>, the </a:t>
            </a:r>
            <a:r>
              <a:rPr sz="900" b="1" i="0">
                <a:solidFill>
                  <a:srgbClr val="0A4F70"/>
                </a:solidFill>
                <a:latin typeface="Arial"/>
              </a:rPr>
              <a:t>IndiaAI Mission</a:t>
            </a:r>
            <a:r>
              <a:rPr sz="900" b="0" i="0">
                <a:solidFill>
                  <a:srgbClr val="1B2A30"/>
                </a:solidFill>
                <a:latin typeface="Arial"/>
              </a:rPr>
              <a:t>, </a:t>
            </a:r>
            <a:r>
              <a:rPr sz="900" b="1" i="0">
                <a:solidFill>
                  <a:srgbClr val="0A4F70"/>
                </a:solidFill>
                <a:latin typeface="Arial"/>
              </a:rPr>
              <a:t>Bhashini</a:t>
            </a:r>
            <a:r>
              <a:rPr sz="900" b="0" i="0">
                <a:solidFill>
                  <a:srgbClr val="1B2A30"/>
                </a:solidFill>
                <a:latin typeface="Arial"/>
              </a:rPr>
              <a:t> and the UN </a:t>
            </a:r>
            <a:r>
              <a:rPr sz="900" b="1" i="0">
                <a:solidFill>
                  <a:srgbClr val="0A4F70"/>
                </a:solidFill>
                <a:latin typeface="Arial"/>
              </a:rPr>
              <a:t>Early Warnings for All</a:t>
            </a:r>
            <a:r>
              <a:rPr sz="900" b="0" i="0">
                <a:solidFill>
                  <a:srgbClr val="1B2A30"/>
                </a:solidFill>
                <a:latin typeface="Arial"/>
              </a:rPr>
              <a:t>.</a:t>
            </a:r>
          </a:p>
        </p:txBody>
      </p:sp>
      <p:sp>
        <p:nvSpPr>
          <p:cNvPr id="17522" name="Rounded Rectangle 17521"/>
          <p:cNvSpPr/>
          <p:nvPr/>
        </p:nvSpPr>
        <p:spPr>
          <a:xfrm>
            <a:off x="5486400" y="3639312"/>
            <a:ext cx="2788920" cy="768096"/>
          </a:xfrm>
          <a:prstGeom prst="roundRect">
            <a:avLst>
              <a:gd name="adj" fmla="val 9523"/>
            </a:avLst>
          </a:prstGeom>
          <a:solidFill>
            <a:srgbClr val="F3F7FB"/>
          </a:solidFill>
          <a:ln w="9525">
            <a:solidFill>
              <a:srgbClr val="C5D5E2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23" name="TextBox 17522"/>
          <p:cNvSpPr txBox="1"/>
          <p:nvPr/>
        </p:nvSpPr>
        <p:spPr>
          <a:xfrm>
            <a:off x="5559552" y="3648456"/>
            <a:ext cx="2697479" cy="1828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A4F70"/>
                </a:solidFill>
                <a:latin typeface="Arial"/>
              </a:rPr>
              <a:t>WHAT THE RESEARCH CHANGED</a:t>
            </a:r>
          </a:p>
        </p:txBody>
      </p:sp>
      <p:sp>
        <p:nvSpPr>
          <p:cNvPr id="17524" name="TextBox 17523"/>
          <p:cNvSpPr txBox="1"/>
          <p:nvPr/>
        </p:nvSpPr>
        <p:spPr>
          <a:xfrm>
            <a:off x="5559552" y="3831336"/>
            <a:ext cx="2697479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Hallucination surveys → </a:t>
            </a:r>
            <a:r>
              <a:rPr sz="800" b="1" i="0">
                <a:solidFill>
                  <a:srgbClr val="14683E"/>
                </a:solidFill>
                <a:latin typeface="Arial"/>
              </a:rPr>
              <a:t>Satya Gate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RAG literature → </a:t>
            </a:r>
            <a:r>
              <a:rPr sz="800" b="1" i="0">
                <a:solidFill>
                  <a:srgbClr val="14683E"/>
                </a:solidFill>
                <a:latin typeface="Arial"/>
              </a:rPr>
              <a:t>cited bulletin answers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NCAER advisory value → </a:t>
            </a:r>
            <a:r>
              <a:rPr sz="800" b="1" i="0">
                <a:solidFill>
                  <a:srgbClr val="14683E"/>
                </a:solidFill>
                <a:latin typeface="Arial"/>
              </a:rPr>
              <a:t>Krishi Salah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B2A30"/>
                </a:solidFill>
                <a:latin typeface="Arial"/>
              </a:rPr>
              <a:t>CAP 1.2 · WIS 2.0 → </a:t>
            </a:r>
            <a:r>
              <a:rPr sz="800" b="1" i="0">
                <a:solidFill>
                  <a:srgbClr val="14683E"/>
                </a:solidFill>
                <a:latin typeface="Arial"/>
              </a:rPr>
              <a:t>Chetavani Relay</a:t>
            </a:r>
          </a:p>
        </p:txBody>
      </p:sp>
      <p:sp>
        <p:nvSpPr>
          <p:cNvPr id="17525" name="TextBox 17524"/>
          <p:cNvSpPr txBox="1"/>
          <p:nvPr/>
        </p:nvSpPr>
        <p:spPr>
          <a:xfrm>
            <a:off x="411480" y="4480560"/>
            <a:ext cx="78638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A4F70"/>
                </a:solidFill>
                <a:latin typeface="Times New Roman"/>
              </a:rPr>
              <a:t>Official Data, Standards &amp; Research Sources</a:t>
            </a:r>
          </a:p>
        </p:txBody>
      </p:sp>
      <p:sp>
        <p:nvSpPr>
          <p:cNvPr id="17526" name="TextBox 17525"/>
          <p:cNvSpPr txBox="1"/>
          <p:nvPr/>
        </p:nvSpPr>
        <p:spPr>
          <a:xfrm>
            <a:off x="411480" y="4754880"/>
            <a:ext cx="3931920" cy="1463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SIH26068: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Ministry of Earth Sciences · India Meteorological Department.  </a:t>
            </a:r>
            <a:r>
              <a:rPr sz="850" b="0" i="0">
                <a:solidFill>
                  <a:srgbClr val="1B2A30"/>
                </a:solidFill>
                <a:latin typeface="Arial"/>
                <a:hlinkClick r:id="rId11"/>
              </a:rPr>
              <a:t>sih.gov.in/sih2026PS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IMD Mausam: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forecasts, warnings, bulletins.  </a:t>
            </a:r>
            <a:r>
              <a:rPr sz="850" b="0" i="0">
                <a:solidFill>
                  <a:srgbClr val="1B2A30"/>
                </a:solidFill>
                <a:latin typeface="Arial"/>
                <a:hlinkClick r:id="rId12"/>
              </a:rPr>
              <a:t>mausam.imd.gov.in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IMD GeoServer: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district-warning layers.  </a:t>
            </a:r>
            <a:r>
              <a:rPr sz="850" b="0" i="0">
                <a:solidFill>
                  <a:srgbClr val="1B2A30"/>
                </a:solidFill>
                <a:latin typeface="Arial"/>
                <a:hlinkClick r:id="rId13"/>
              </a:rPr>
              <a:t>reactjs.imd.gov.in/geoserver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Mission Mausam: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Cabinet note, 2024.  </a:t>
            </a:r>
            <a:r>
              <a:rPr sz="850" b="0" i="0">
                <a:solidFill>
                  <a:srgbClr val="1B2A30"/>
                </a:solidFill>
                <a:latin typeface="Arial"/>
                <a:hlinkClick r:id="rId14"/>
              </a:rPr>
              <a:t>pib.gov.in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WMO WIS 2.0 · OASIS CAP 1.2: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  </a:t>
            </a:r>
            <a:r>
              <a:rPr sz="850" b="0" i="0">
                <a:solidFill>
                  <a:srgbClr val="1B2A30"/>
                </a:solidFill>
                <a:latin typeface="Arial"/>
                <a:hlinkClick r:id="rId15"/>
              </a:rPr>
              <a:t>community.wmo.int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NDMA SACHET: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national CAP alert portal.  </a:t>
            </a:r>
            <a:r>
              <a:rPr sz="850" b="0" i="0">
                <a:solidFill>
                  <a:srgbClr val="1B2A30"/>
                </a:solidFill>
                <a:latin typeface="Arial"/>
                <a:hlinkClick r:id="rId16"/>
              </a:rPr>
              <a:t>sachet.ndma.gov.in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IMD Pune open data: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rainfall &amp; temperature since 1901.  </a:t>
            </a:r>
            <a:r>
              <a:rPr sz="850" b="0" i="0">
                <a:solidFill>
                  <a:srgbClr val="1B2A30"/>
                </a:solidFill>
                <a:latin typeface="Arial"/>
                <a:hlinkClick r:id="rId17"/>
              </a:rPr>
              <a:t>dsp.imdpune.gov.in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data.gov.in · CERT-In: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open IMD datasets · log directions.  </a:t>
            </a:r>
            <a:r>
              <a:rPr sz="850" b="0" i="0">
                <a:solidFill>
                  <a:srgbClr val="1B2A30"/>
                </a:solidFill>
                <a:latin typeface="Arial"/>
                <a:hlinkClick r:id="rId18"/>
              </a:rPr>
              <a:t>data.gov.in</a:t>
            </a:r>
          </a:p>
        </p:txBody>
      </p:sp>
      <p:sp>
        <p:nvSpPr>
          <p:cNvPr id="17527" name="TextBox 17526"/>
          <p:cNvSpPr txBox="1"/>
          <p:nvPr/>
        </p:nvSpPr>
        <p:spPr>
          <a:xfrm>
            <a:off x="4434840" y="4754880"/>
            <a:ext cx="3886200" cy="146304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NOAA GFS · Open-Meteo: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numerical weather prediction.  </a:t>
            </a:r>
            <a:r>
              <a:rPr sz="850" b="0" i="0">
                <a:solidFill>
                  <a:srgbClr val="1B2A30"/>
                </a:solidFill>
                <a:latin typeface="Arial"/>
                <a:hlinkClick r:id="rId19"/>
              </a:rPr>
              <a:t>open-meteo.com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Lewis et al., 2020: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Retrieval-Augmented Generation.  </a:t>
            </a:r>
            <a:r>
              <a:rPr sz="850" b="0" i="0">
                <a:solidFill>
                  <a:srgbClr val="1B2A30"/>
                </a:solidFill>
                <a:latin typeface="Arial"/>
                <a:hlinkClick r:id="rId20"/>
              </a:rPr>
              <a:t>arXiv:2005.11401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Ji et al., 2023: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hallucination in NLG, ACM CSUR.  </a:t>
            </a:r>
            <a:r>
              <a:rPr sz="850" b="0" i="0">
                <a:solidFill>
                  <a:srgbClr val="1B2A30"/>
                </a:solidFill>
                <a:latin typeface="Arial"/>
                <a:hlinkClick r:id="rId21"/>
              </a:rPr>
              <a:t>arXiv:2202.03629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NCAER, 2020: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value of weather advisories.  </a:t>
            </a:r>
            <a:r>
              <a:rPr sz="850" b="0" i="0">
                <a:solidFill>
                  <a:srgbClr val="1B2A30"/>
                </a:solidFill>
                <a:latin typeface="Arial"/>
                <a:hlinkClick r:id="rId22"/>
              </a:rPr>
              <a:t>NCAER2020.pdf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CSE · Down To Earth: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Climate India 2025.  </a:t>
            </a:r>
            <a:r>
              <a:rPr sz="850" b="0" i="0">
                <a:solidFill>
                  <a:srgbClr val="1B2A30"/>
                </a:solidFill>
                <a:latin typeface="Arial"/>
                <a:hlinkClick r:id="rId23"/>
              </a:rPr>
              <a:t>cseindia.org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Sarvam AI: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sovereign LLM, IndiaAI Mission; Saaras, Bulbul, Translate.  </a:t>
            </a:r>
            <a:r>
              <a:rPr sz="850" b="0" i="0">
                <a:solidFill>
                  <a:srgbClr val="1B2A30"/>
                </a:solidFill>
                <a:latin typeface="Arial"/>
                <a:hlinkClick r:id="rId24"/>
              </a:rPr>
              <a:t>sarvam.ai/models</a:t>
            </a:r>
          </a:p>
          <a:p>
            <a:pPr algn="l" marL="118872" indent="-118872">
              <a:lnSpc>
                <a:spcPct val="92000"/>
              </a:lnSpc>
              <a:spcBef>
                <a:spcPts val="0"/>
              </a:spcBef>
              <a:spcAft>
                <a:spcPts val="250"/>
              </a:spcAft>
              <a:buClr>
                <a:srgbClr val="0F6E9A"/>
              </a:buClr>
              <a:buFont typeface="Arial"/>
              <a:buChar char="•"/>
            </a:pPr>
            <a:r>
              <a:rPr sz="850" b="1" i="0">
                <a:solidFill>
                  <a:srgbClr val="1B2A30"/>
                </a:solidFill>
                <a:latin typeface="Arial"/>
              </a:rPr>
              <a:t>IndiaAI compute:</a:t>
            </a:r>
            <a:r>
              <a:rPr sz="850" b="0" i="0">
                <a:solidFill>
                  <a:srgbClr val="1B2A30"/>
                </a:solidFill>
                <a:latin typeface="Arial"/>
              </a:rPr>
              <a:t> sovereign GPUs for Indian models.  </a:t>
            </a:r>
            <a:r>
              <a:rPr sz="850" b="0" i="0">
                <a:solidFill>
                  <a:srgbClr val="1B2A30"/>
                </a:solidFill>
                <a:latin typeface="Arial"/>
                <a:hlinkClick r:id="rId25"/>
              </a:rPr>
              <a:t>indiaai.gov.in</a:t>
            </a:r>
          </a:p>
        </p:txBody>
      </p:sp>
      <p:sp>
        <p:nvSpPr>
          <p:cNvPr id="17528" name="Rounded Rectangle 17527"/>
          <p:cNvSpPr/>
          <p:nvPr/>
        </p:nvSpPr>
        <p:spPr>
          <a:xfrm>
            <a:off x="8522208" y="1097280"/>
            <a:ext cx="3392423" cy="5166360"/>
          </a:xfrm>
          <a:prstGeom prst="roundRect">
            <a:avLst>
              <a:gd name="adj" fmla="val 3773"/>
            </a:avLst>
          </a:prstGeom>
          <a:solidFill>
            <a:srgbClr val="0B223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29" name="TextBox 17528"/>
          <p:cNvSpPr txBox="1"/>
          <p:nvPr/>
        </p:nvSpPr>
        <p:spPr>
          <a:xfrm>
            <a:off x="8522208" y="1161288"/>
            <a:ext cx="3392423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AD8F5"/>
                </a:solidFill>
                <a:latin typeface="Times New Roman"/>
              </a:rPr>
              <a:t>See it · Run it · Verify it</a:t>
            </a:r>
          </a:p>
        </p:txBody>
      </p:sp>
      <p:sp>
        <p:nvSpPr>
          <p:cNvPr id="17530" name="Rounded Rectangle 17529"/>
          <p:cNvSpPr/>
          <p:nvPr/>
        </p:nvSpPr>
        <p:spPr>
          <a:xfrm>
            <a:off x="9592056" y="1517904"/>
            <a:ext cx="1252728" cy="1252728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531" name="Picture 17530" descr="QR code to the WeatherGPT demo and prototype: https://youtu.be/NVT6EnklEVQ">
            <a:hlinkClick r:id="rId28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46920" y="1572768"/>
            <a:ext cx="1143000" cy="1143000"/>
          </a:xfrm>
          <a:prstGeom prst="rect">
            <a:avLst/>
          </a:prstGeom>
        </p:spPr>
      </p:pic>
      <p:sp>
        <p:nvSpPr>
          <p:cNvPr id="17532" name="TextBox 17531"/>
          <p:cNvSpPr txBox="1"/>
          <p:nvPr/>
        </p:nvSpPr>
        <p:spPr>
          <a:xfrm>
            <a:off x="8613648" y="2816352"/>
            <a:ext cx="3209543" cy="56692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Scan or click for the demo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8AD8F5"/>
                </a:solidFill>
                <a:latin typeface="Arial"/>
              </a:rPr>
              <a:t>Source code: github.com/Abhichandani-Yash-Manish/WeatherGPT_</a:t>
            </a:r>
          </a:p>
        </p:txBody>
      </p:sp>
      <p:sp>
        <p:nvSpPr>
          <p:cNvPr id="17533" name="Rounded Rectangle 17532"/>
          <p:cNvSpPr/>
          <p:nvPr/>
        </p:nvSpPr>
        <p:spPr>
          <a:xfrm>
            <a:off x="8631936" y="3474720"/>
            <a:ext cx="3172967" cy="2679192"/>
          </a:xfrm>
          <a:prstGeom prst="roundRect">
            <a:avLst>
              <a:gd name="adj" fmla="val 3412"/>
            </a:avLst>
          </a:prstGeom>
          <a:solidFill>
            <a:srgbClr val="163A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534" name="TextBox 17533"/>
          <p:cNvSpPr txBox="1"/>
          <p:nvPr/>
        </p:nvSpPr>
        <p:spPr>
          <a:xfrm>
            <a:off x="8631936" y="3511296"/>
            <a:ext cx="3172967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AD8F5"/>
                </a:solidFill>
                <a:latin typeface="Times New Roman"/>
              </a:rPr>
              <a:t>IMD's evaluation parameters → our answer</a:t>
            </a:r>
          </a:p>
        </p:txBody>
      </p:sp>
      <p:sp>
        <p:nvSpPr>
          <p:cNvPr id="17535" name="TextBox 17534"/>
          <p:cNvSpPr txBox="1"/>
          <p:nvPr/>
        </p:nvSpPr>
        <p:spPr>
          <a:xfrm>
            <a:off x="8705088" y="3813048"/>
            <a:ext cx="3026663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Accuracy &amp; relevance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FE0F2"/>
                </a:solidFill>
                <a:latin typeface="Arial"/>
              </a:rPr>
              <a:t>Satya Gate · 90 % of 306 live scenarios answered</a:t>
            </a:r>
          </a:p>
        </p:txBody>
      </p:sp>
      <p:sp>
        <p:nvSpPr>
          <p:cNvPr id="17536" name="TextBox 17535"/>
          <p:cNvSpPr txBox="1"/>
          <p:nvPr/>
        </p:nvSpPr>
        <p:spPr>
          <a:xfrm>
            <a:off x="8705088" y="4144060"/>
            <a:ext cx="3026663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Response latency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FE0F2"/>
                </a:solidFill>
                <a:latin typeface="Arial"/>
              </a:rPr>
              <a:t>first frame streamed in 0.4 s, measured</a:t>
            </a:r>
          </a:p>
        </p:txBody>
      </p:sp>
      <p:sp>
        <p:nvSpPr>
          <p:cNvPr id="17537" name="TextBox 17536"/>
          <p:cNvSpPr txBox="1"/>
          <p:nvPr/>
        </p:nvSpPr>
        <p:spPr>
          <a:xfrm>
            <a:off x="8705088" y="4475073"/>
            <a:ext cx="3026663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Multilingual capability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FE0F2"/>
                </a:solidFill>
                <a:latin typeface="Arial"/>
              </a:rPr>
              <a:t>Sarvam AI: 22 languages in, 11 spoken back</a:t>
            </a:r>
          </a:p>
        </p:txBody>
      </p:sp>
      <p:sp>
        <p:nvSpPr>
          <p:cNvPr id="17538" name="TextBox 17537"/>
          <p:cNvSpPr txBox="1"/>
          <p:nvPr/>
        </p:nvSpPr>
        <p:spPr>
          <a:xfrm>
            <a:off x="8705088" y="4806086"/>
            <a:ext cx="3026663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UI &amp; accessibility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FE0F2"/>
                </a:solidFill>
                <a:latin typeface="Arial"/>
              </a:rPr>
              <a:t>voice-first, WCAG 2.1 AA, low-end phones</a:t>
            </a:r>
          </a:p>
        </p:txBody>
      </p:sp>
      <p:sp>
        <p:nvSpPr>
          <p:cNvPr id="17539" name="TextBox 17538"/>
          <p:cNvSpPr txBox="1"/>
          <p:nvPr/>
        </p:nvSpPr>
        <p:spPr>
          <a:xfrm>
            <a:off x="8705088" y="5137099"/>
            <a:ext cx="3026663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Scalability &amp; innovation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FE0F2"/>
                </a:solidFill>
                <a:latin typeface="Arial"/>
              </a:rPr>
              <a:t>stateless API on Kubernetes · Pramaan Receipt</a:t>
            </a:r>
          </a:p>
        </p:txBody>
      </p:sp>
      <p:sp>
        <p:nvSpPr>
          <p:cNvPr id="17540" name="TextBox 17539"/>
          <p:cNvSpPr txBox="1"/>
          <p:nvPr/>
        </p:nvSpPr>
        <p:spPr>
          <a:xfrm>
            <a:off x="8705088" y="5468112"/>
            <a:ext cx="3026663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Real-time integration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FE0F2"/>
                </a:solidFill>
                <a:latin typeface="Arial"/>
              </a:rPr>
              <a:t>IMD warnings, nowcast, Mausamgram · WIS 2.0</a:t>
            </a:r>
          </a:p>
        </p:txBody>
      </p:sp>
      <p:sp>
        <p:nvSpPr>
          <p:cNvPr id="17541" name="TextBox 17540"/>
          <p:cNvSpPr txBox="1"/>
          <p:nvPr/>
        </p:nvSpPr>
        <p:spPr>
          <a:xfrm>
            <a:off x="8705088" y="5799124"/>
            <a:ext cx="3026663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Voice for rural access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CFE0F2"/>
                </a:solidFill>
                <a:latin typeface="Arial"/>
              </a:rPr>
              <a:t>Sarvam Saaras + Bulbul voice, IVR call-back</a:t>
            </a:r>
          </a:p>
        </p:txBody>
      </p:sp>
      <p:sp>
        <p:nvSpPr>
          <p:cNvPr id="17542" name="Demo label click target">
            <a:hlinkClick r:id="rId28" tooltip="Watch the submission demo"/>
          </p:cNvPr>
          <p:cNvSpPr/>
          <p:nvPr/>
        </p:nvSpPr>
        <p:spPr>
          <a:xfrm>
            <a:off x="9347200" y="2819400"/>
            <a:ext cx="17526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WeatherGPT – SIH26068 – Team Void Pointers (118709)</dc:title>
  <dc:subject>WeatherGPT: Conversational AI for Weather Forecasting, Alerts, and Climate Information. Ministry of Earth Sciences, India Meteorological Department. Theme: Disaster Management. Category: Software.</dc:subject>
  <dc:creator>Team Void Pointers</dc:creator>
  <cp:keywords>WeatherGPT; SIH26068; conversational AI; chatbot; real-time weather; natural language; NWP; GFS; WRF; early warning; location-based advisory; Indian languages; climate trend; voice-enabled; FastAPI; MQTT; WIS 2.0; LLM; GIS; PostgreSQL; Docker; Kubernetes</cp:keywords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