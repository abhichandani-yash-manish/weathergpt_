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9e1e7857b44408f" /><Relationship Type="http://schemas.openxmlformats.org/officeDocument/2006/relationships/extended-properties" Target="/docProps/app.xml" Id="R60f7332fe54d42b5" /><Relationship Type="http://schemas.openxmlformats.org/officeDocument/2006/relationships/officeDocument" Target="/ppt/presentation.xml" Id="R8dd6839017a44ef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5c2fcb7a47d46ba"/>
  </p:sldMasterIdLst>
  <p:notesMasterIdLst>
    <p:notesMasterId xmlns:r="http://schemas.openxmlformats.org/officeDocument/2006/relationships" r:id="R846caa9fa1754a9b"/>
  </p:notesMasterIdLst>
  <p:sldIdLst>
    <p:sldId xmlns:r="http://schemas.openxmlformats.org/officeDocument/2006/relationships" id="256" r:id="R9fe74a11283d42e8"/>
    <p:sldId xmlns:r="http://schemas.openxmlformats.org/officeDocument/2006/relationships" id="257" r:id="Re2aa9a58b1564d44"/>
    <p:sldId xmlns:r="http://schemas.openxmlformats.org/officeDocument/2006/relationships" id="258" r:id="Refe00ffeca594b2a"/>
    <p:sldId xmlns:r="http://schemas.openxmlformats.org/officeDocument/2006/relationships" id="259" r:id="Rf0424e79b9de48fd"/>
    <p:sldId xmlns:r="http://schemas.openxmlformats.org/officeDocument/2006/relationships" id="260" r:id="Re6c9e1f6efe946ca"/>
    <p:sldId xmlns:r="http://schemas.openxmlformats.org/officeDocument/2006/relationships" id="261" r:id="Rab8a4e05098149f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3b5182c291e41a9" /><Relationship Type="http://schemas.openxmlformats.org/officeDocument/2006/relationships/slideMaster" Target="/ppt/slideMasters/slideMaster1.xml" Id="Rb5c2fcb7a47d46ba" /><Relationship Type="http://schemas.openxmlformats.org/officeDocument/2006/relationships/notesMaster" Target="/ppt/notesMasters/notesMaster1.xml" Id="R846caa9fa1754a9b" /><Relationship Type="http://schemas.openxmlformats.org/officeDocument/2006/relationships/presProps" Target="/ppt/presProps.xml" Id="R94519185c15a4f1a" /><Relationship Type="http://schemas.openxmlformats.org/officeDocument/2006/relationships/viewProps" Target="/ppt/viewProps.xml" Id="R3b8fafa75d0744a0" /><Relationship Type="http://schemas.openxmlformats.org/officeDocument/2006/relationships/tableStyles" Target="/ppt/tableStyles.xml" Id="R3039cba4996d4cb1" /><Relationship Type="http://schemas.openxmlformats.org/officeDocument/2006/relationships/slide" Target="/ppt/slides/slide1.xml" Id="R9fe74a11283d42e8" /><Relationship Type="http://schemas.openxmlformats.org/officeDocument/2006/relationships/slide" Target="/ppt/slides/slide2.xml" Id="Re2aa9a58b1564d44" /><Relationship Type="http://schemas.openxmlformats.org/officeDocument/2006/relationships/slide" Target="/ppt/slides/slide3.xml" Id="Refe00ffeca594b2a" /><Relationship Type="http://schemas.openxmlformats.org/officeDocument/2006/relationships/slide" Target="/ppt/slides/slide4.xml" Id="Rf0424e79b9de48fd" /><Relationship Type="http://schemas.openxmlformats.org/officeDocument/2006/relationships/slide" Target="/ppt/slides/slide5.xml" Id="Re6c9e1f6efe946ca" /><Relationship Type="http://schemas.openxmlformats.org/officeDocument/2006/relationships/slide" Target="/ppt/slides/slide6.xml" Id="Rab8a4e05098149f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60a263a20ef448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b1af61328984215" /><Relationship Type="http://schemas.openxmlformats.org/officeDocument/2006/relationships/notesMaster" Target="/ppt/notesMasters/notesMaster1.xml" Id="Rcfbdd40826e444f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c7450e3110b42f4" /><Relationship Type="http://schemas.openxmlformats.org/officeDocument/2006/relationships/notesMaster" Target="/ppt/notesMasters/notesMaster1.xml" Id="Rd68dd306db674a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45bb25fb9454cb8" /><Relationship Type="http://schemas.openxmlformats.org/officeDocument/2006/relationships/notesMaster" Target="/ppt/notesMasters/notesMaster1.xml" Id="Rc153fce7836a47c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efb41f3ba854e47" /><Relationship Type="http://schemas.openxmlformats.org/officeDocument/2006/relationships/notesMaster" Target="/ppt/notesMasters/notesMaster1.xml" Id="Rfcc3b9261d09484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d545da317b74e06" /><Relationship Type="http://schemas.openxmlformats.org/officeDocument/2006/relationships/notesMaster" Target="/ppt/notesMasters/notesMaster1.xml" Id="R3e26ad19bfc34ae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394e13d1c354a5d" /><Relationship Type="http://schemas.openxmlformats.org/officeDocument/2006/relationships/notesMaster" Target="/ppt/notesMasters/notesMaster1.xml" Id="R94732aef31af4b5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Submission demo: https://youtu.be/NVT6EnklEVQ</a:t>
            </a:r>
          </a:p>
          <a:p xmlns:a="http://schemas.openxmlformats.org/drawingml/2006/main">
            <a:r>
              <a:t>Current scope: https://github.com/Abhichandani-Yash-Manish/WeatherGPT_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ct val="0"/>
              </a:spcBef>
              <a:buNone/>
            </a:pPr>
            <a:r>
              <a:t/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Submission demo: https://youtu.be/NVT6EnklEVQ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Current scope: https://github.com/Abhichandani-Yash-Manish/WeatherGPT_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ct val="0"/>
              </a:spcBef>
              <a:buNone/>
            </a:pPr>
            <a:r>
              <a:t/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Submission demo: https://youtu.be/NVT6EnklEVQ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Current scope: https://github.com/Abhichandani-Yash-Manish/WeatherGPT_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ct val="0"/>
              </a:spcBef>
              <a:buNone/>
            </a:pPr>
            <a:r>
              <a:t/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Submission demo: https://youtu.be/NVT6EnklEVQ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Current scope: https://github.com/Abhichandani-Yash-Manish/WeatherGPT_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ct val="0"/>
              </a:spcBef>
              <a:buNone/>
            </a:pPr>
            <a:r>
              <a:t/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Submission demo: https://youtu.be/NVT6EnklEVQ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Current scope: https://github.com/Abhichandani-Yash-Manish/WeatherGPT_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ct val="0"/>
              </a:spcBef>
              <a:buNone/>
            </a:pPr>
            <a:r>
              <a:t/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Submission demo: https://youtu.be/NVT6EnklEVQ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Current scope: https://github.com/Abhichandani-Yash-Manish/WeatherGPT_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77e396da134cb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4efe3dd19343e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6dbbe1aa48481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ac7ec56989482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b0cbaf015f48e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fc1b01329d420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0892ef07fd49b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80e39887664fc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41237fb5074cf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9654d6a1e0425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640474da7c4418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2BCBC-6DC9-430A-8877-63B04E2AA15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914400" y="2130428"/>
            <a:ext cx="103632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E0A626A-A016-40E3-B802-19771CD2E8A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886200"/>
            <a:ext cx="85344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3CFA282-A688-464A-9985-5267C7DFA6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E60792E3-D524-454C-8AFD-A91972900BCB}" type="datetime1">
              <a:t>6/2/2026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EFEF918-8EE0-4F1C-84BA-6B9B0E571EE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 · SIH26068 · WeatherGPT · Team Void Pointers (118709)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95C00CC-A796-47F0-A5E7-A8A9FD9A81A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5B7E1BAA-A38D-40DE-B22C-DF9BD7D82058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1E0E9B8-9BCD-4E28-AA04-B38D43FDF3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7952BDD-629E-4786-893C-BD665286AD5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8B25FE9-1F42-4D56-A5F3-33177A8A64F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708B7524-32A2-4C20-A58C-BC3BAA1042FC}" type="datetime1">
              <a:t>6/2/2026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FD61683-3C74-48DB-B14D-F3FF74C7559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 · SIH26068 · WeatherGPT · Team Void Pointers (118709)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749F0F9-D77B-4434-A256-1A4A53D50C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677C3CE7-23F7-4828-823C-E0205DF2CF97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6ABB5F-2410-43CA-95C2-A7A0F9DCAA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63084" y="4406903"/>
            <a:ext cx="103632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648FD4B-2205-44EC-B705-05F8A2B751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963084" y="2906713"/>
            <a:ext cx="103632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C532844-684E-4A21-97F6-F81928294D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1E994447-D6B2-43BB-A877-57F1A267B999}" type="datetime1">
              <a:t>6/2/2026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05C1227-A1AD-488F-BF09-941CA3DCC6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 · SIH26068 · WeatherGPT · Team Void Pointers (118709)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11BD846-B31F-417F-B1CB-8EFD5228A5C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41DB31D2-2A87-4F4C-A9AD-05C6CC2B321D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AD8116C-2D54-44B2-BC14-E516996EBB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25E6B2-F29E-440C-912F-CB16CFEBA03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09600" y="1600203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5888145-31DA-4A5D-8651-CB96C7ECF68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97600" y="1600203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4374AA1-E081-443E-9145-62BD898244C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68920E16-BD35-483C-AA6B-346FC7E46DEA}" type="datetime1">
              <a:t>6/2/2026</a:t>
            </a:fld>
            <a:endParaRPr/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8E98E4E-4B33-437B-9AAF-A5886BE2E66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 · SIH26068 · WeatherGPT · Team Void Pointers (118709)</a:t>
            </a:r>
          </a:p>
        </p:txBody>
      </p:sp>
      <p:sp>
        <p:nvSpPr>
          <p:cNvPr id="7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F2D049D-324B-4B67-BF16-E0210928F69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E1FC16D9-1635-4844-816A-0A8A2160FADA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A87D75E-7DF0-4D30-9EF0-665C357140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DF6AF8D-7317-4DF5-B2B0-8C304EB5F5A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535113"/>
            <a:ext cx="5386917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0788961-5614-4D36-BF01-5E1B84491EB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09600" y="2174875"/>
            <a:ext cx="5386917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04E7E492-E132-4932-B8F4-C77C432D83E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93369" y="1535113"/>
            <a:ext cx="5389033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7384B2D-827A-42A0-9E44-0EDBC191F86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93369" y="2174875"/>
            <a:ext cx="5389033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2161A8C-27AA-48A7-9B9D-DE9F4349ABD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2FEAC6F8-5103-4FC0-A69E-5C6AE6469DA8}" type="datetime1">
              <a:t>6/2/2026</a:t>
            </a:fld>
            <a:endParaRPr/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78E25AA-3141-49FF-A1C4-AF2CAA2488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 · SIH26068 · WeatherGPT · Team Void Pointers (118709)</a:t>
            </a:r>
          </a:p>
        </p:txBody>
      </p:sp>
      <p:sp>
        <p:nvSpPr>
          <p:cNvPr id="9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DE05518-1EA5-4907-B236-3D0FC7C1CA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71C4100A-98DE-4944-910A-A93F5CA9F72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4A956F-D402-44FB-974E-AC13EDC9D0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55CA231-90E1-4B66-9DD1-6BD4E52DDBE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C60C6921-0627-4C8F-83D5-0CF936D2FFDD}" type="datetime1">
              <a:t>6/2/2026</a:t>
            </a:fld>
            <a:endParaRPr/>
          </a:p>
        </p:txBody>
      </p:sp>
      <p:sp>
        <p:nvSpPr>
          <p:cNvPr id="4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9DFA649-DFFF-4304-9BBC-7C21281ABD0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 · SIH26068 · WeatherGPT · Team Void Pointers (118709)</a:t>
            </a:r>
          </a:p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29A40B5-8D49-4948-92C0-F70918CBC8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6A63342B-5A73-45DC-864D-086DE78037E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D10B28C-5F13-4465-ABAA-68968CBAD9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2FF08AD7-8103-40F8-983C-E2BA6BB9CBE0}" type="datetime1">
              <a:t>6/2/2026</a:t>
            </a:fld>
            <a:endParaRPr/>
          </a:p>
        </p:txBody>
      </p:sp>
      <p:sp>
        <p:nvSpPr>
          <p:cNvPr id="3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46DA73E-2E8D-4566-AB25-6139C511E7F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 · SIH26068 · WeatherGPT · Team Void Pointers (118709)</a:t>
            </a:r>
          </a:p>
        </p:txBody>
      </p:sp>
      <p:sp>
        <p:nvSpPr>
          <p:cNvPr id="4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2D65672-6949-47EB-8D50-F6BCCADD5D9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B635AFB3-1ACD-44AC-8702-86B1729DF035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A06FEBF-BBAA-46BA-96AB-D81BC1B759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2" y="273050"/>
            <a:ext cx="4011084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45BD5C8-8359-4167-B91D-D8FC8510B41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766733" y="273053"/>
            <a:ext cx="6815667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5A3C2FF-9CD9-4195-8A27-F808AE8FE05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2" y="1435103"/>
            <a:ext cx="4011084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9F726B5-0A79-432D-8064-A633D05B05E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DF8C06B4-9380-4A4D-AF49-A3596E17DAF5}" type="datetime1">
              <a:t>6/2/2026</a:t>
            </a:fld>
            <a:endParaRPr/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62EE27-EE00-44B7-B53C-60A17FA755C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 · SIH26068 · WeatherGPT · Team Void Pointers (118709)</a:t>
            </a:r>
          </a:p>
        </p:txBody>
      </p:sp>
      <p:sp>
        <p:nvSpPr>
          <p:cNvPr id="7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C6BDCED-B176-4603-B1ED-2043D77005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05CF15F3-5E77-4C57-9E21-50D6D1D6C022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8E72946-DB40-4E5C-8E7D-6A9F3068930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389717" y="4800600"/>
            <a:ext cx="73152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40768BA-5870-48DF-A3E5-6402CDA974E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2389717" y="612775"/>
            <a:ext cx="7315200" cy="4114800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E321662-4CAB-4318-969A-F72B53FA994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89717" y="5367338"/>
            <a:ext cx="73152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26970E0-41D2-4AB5-9AB4-BFEA950DC75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EF7FDEF1-C582-4E22-9E77-D68326471F28}" type="datetime1">
              <a:t>6/2/2026</a:t>
            </a:fld>
            <a:endParaRPr/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2474835-3C47-4A81-8C9E-D4EC21079C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 · SIH26068 · WeatherGPT · Team Void Pointers (118709)</a:t>
            </a:r>
          </a:p>
        </p:txBody>
      </p:sp>
      <p:sp>
        <p:nvSpPr>
          <p:cNvPr id="7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8F2E5D8-22B7-47D9-8E42-57FC5BDF1F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1242169A-B3C7-4FB6-967F-AF95F4EB3315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D61D4FD-EC58-4E23-838C-2D8B1D4BFB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9F68E15-3824-4A33-B0F6-E2037A53B5D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741B72B-4E19-4FCF-A1A0-D9F0B30DEAF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053C3A68-6922-42D3-8905-ECC2D82A3469}" type="datetime1">
              <a:t>6/2/2026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F7A6733-DE97-4C47-AAF1-59C0F86D4E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 · SIH26068 · WeatherGPT · Team Void Pointers (118709)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B565435-77D4-4752-B2C8-8D14DDC4DA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94FDD027-5576-4F27-AAB6-1D994836EE78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C26ACA4-3EC2-4E04-8CA2-CEB9B73B1A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839200" y="274641"/>
            <a:ext cx="27432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817E57-3F18-420C-B7BF-DC5F99EEF2B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274641"/>
            <a:ext cx="8026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98ABCFA-30F5-47F8-897F-7966EFF6EEF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CB69E9F4-7604-4950-A8B2-8ACDEDB1506E}" type="datetime1">
              <a:t>6/2/2026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C5EE0B5-3944-411D-99C6-2212711DEBB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 · SIH26068 · WeatherGPT · Team Void Pointers (118709)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77C6223-D901-4672-B349-3FE2489A53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2957CE61-8714-431B-A40A-01B1C5541AB7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19592ba21984921" /><Relationship Type="http://schemas.openxmlformats.org/officeDocument/2006/relationships/slideLayout" Target="/ppt/slideLayouts/slideLayout1.xml" Id="R2f4341cd72744a76" /><Relationship Type="http://schemas.openxmlformats.org/officeDocument/2006/relationships/slideLayout" Target="/ppt/slideLayouts/slideLayout2.xml" Id="R6b2a702679f44b45" /><Relationship Type="http://schemas.openxmlformats.org/officeDocument/2006/relationships/slideLayout" Target="/ppt/slideLayouts/slideLayout3.xml" Id="R049cc31a81204891" /><Relationship Type="http://schemas.openxmlformats.org/officeDocument/2006/relationships/slideLayout" Target="/ppt/slideLayouts/slideLayout4.xml" Id="R2341948712d2474a" /><Relationship Type="http://schemas.openxmlformats.org/officeDocument/2006/relationships/slideLayout" Target="/ppt/slideLayouts/slideLayout5.xml" Id="R9f5f428e4ab34db7" /><Relationship Type="http://schemas.openxmlformats.org/officeDocument/2006/relationships/slideLayout" Target="/ppt/slideLayouts/slideLayout6.xml" Id="R0365f908e89149ba" /><Relationship Type="http://schemas.openxmlformats.org/officeDocument/2006/relationships/slideLayout" Target="/ppt/slideLayouts/slideLayout7.xml" Id="R461a75fe98294f42" /><Relationship Type="http://schemas.openxmlformats.org/officeDocument/2006/relationships/slideLayout" Target="/ppt/slideLayouts/slideLayout8.xml" Id="R60953c7d09a840ee" /><Relationship Type="http://schemas.openxmlformats.org/officeDocument/2006/relationships/slideLayout" Target="/ppt/slideLayouts/slideLayout9.xml" Id="Rdb8f1f05bafe4282" /><Relationship Type="http://schemas.openxmlformats.org/officeDocument/2006/relationships/slideLayout" Target="/ppt/slideLayouts/slideLayout10.xml" Id="Ra397528d99984c5c" /><Relationship Type="http://schemas.openxmlformats.org/officeDocument/2006/relationships/slideLayout" Target="/ppt/slideLayouts/slideLayout11.xml" Id="Ra1a421dd3db2429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6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F902FA50-7B32-4182-8EB2-3DDF0900B0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-47625"/>
            <a:ext cx="109728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title style</a:t>
            </a:r>
          </a:p>
        </p:txBody>
      </p:sp>
      <p:sp>
        <p:nvSpPr>
          <p:cNvPr id="1027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95D4E63-5151-46C4-A8F6-C8A7E41CDD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095375"/>
            <a:ext cx="10972800" cy="50307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FFBCE15-E90F-4F6C-BFAE-2D8ECCDC6FF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09600" y="6356353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>
            <a:lvl1pPr>
              <a:buNone/>
              <a:defRPr sz="1200">
                <a:solidFill>
                  <a:srgbClr val="898989"/>
                </a:solidFill>
                <a:latin typeface="TradeGothic"/>
                <a:ea typeface="TradeGothic"/>
                <a:cs typeface="TradeGothic"/>
              </a:defRPr>
            </a:lvl1pPr>
          </a:lstStyle>
          <a:p xmlns:a="http://schemas.openxmlformats.org/drawingml/2006/main">
            <a:fld id="{780A9602-A9A9-453F-AEF1-37B5837E02CD}" type="datetime1">
              <a:t>6/2/2026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1E6977A-38B1-451B-A2C7-EB2CDD4A43F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165600" y="6356353"/>
            <a:ext cx="3860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TradeGothic"/>
                <a:cs typeface="TradeGothic"/>
              </a:defRPr>
            </a:lvl1pPr>
          </a:lstStyle>
          <a:p xmlns:a="http://schemas.openxmlformats.org/drawingml/2006/main">
            <a:pPr>
              <a:buNone/>
            </a:pPr>
            <a:r>
              <a:t>@SIH Idea Submission · SIH26068 · WeatherGPT · Team Void Pointers (118709)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C28A2D8-FB74-4AF4-8B9C-5C0410E6289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737600" y="6356353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rgbClr val="898989"/>
                </a:solidFill>
                <a:latin typeface="TradeGothic"/>
                <a:ea typeface="TradeGothic"/>
                <a:cs typeface="TradeGothic"/>
              </a:defRPr>
            </a:lvl1pPr>
          </a:lstStyle>
          <a:p xmlns:a="http://schemas.openxmlformats.org/drawingml/2006/main">
            <a:fld id="{1411BA53-830D-4830-BB65-E58DBE17D0B7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4341cd72744a76"/>
    <p:sldLayoutId xmlns:r="http://schemas.openxmlformats.org/officeDocument/2006/relationships" id="2147483650" r:id="R6b2a702679f44b45"/>
    <p:sldLayoutId xmlns:r="http://schemas.openxmlformats.org/officeDocument/2006/relationships" id="2147483651" r:id="R049cc31a81204891"/>
    <p:sldLayoutId xmlns:r="http://schemas.openxmlformats.org/officeDocument/2006/relationships" id="2147483652" r:id="R2341948712d2474a"/>
    <p:sldLayoutId xmlns:r="http://schemas.openxmlformats.org/officeDocument/2006/relationships" id="2147483653" r:id="R9f5f428e4ab34db7"/>
    <p:sldLayoutId xmlns:r="http://schemas.openxmlformats.org/officeDocument/2006/relationships" id="2147483654" r:id="R0365f908e89149ba"/>
    <p:sldLayoutId xmlns:r="http://schemas.openxmlformats.org/officeDocument/2006/relationships" id="2147483655" r:id="R461a75fe98294f42"/>
    <p:sldLayoutId xmlns:r="http://schemas.openxmlformats.org/officeDocument/2006/relationships" id="2147483656" r:id="R60953c7d09a840ee"/>
    <p:sldLayoutId xmlns:r="http://schemas.openxmlformats.org/officeDocument/2006/relationships" id="2147483657" r:id="Rdb8f1f05bafe4282"/>
    <p:sldLayoutId xmlns:r="http://schemas.openxmlformats.org/officeDocument/2006/relationships" id="2147483658" r:id="Ra397528d99984c5c"/>
    <p:sldLayoutId xmlns:r="http://schemas.openxmlformats.org/officeDocument/2006/relationships" id="2147483659" r:id="Ra1a421dd3db2429a"/>
  </p:sldLayoutIdLst>
  <p:hf hdr="0" dt="0"/>
  <p:txStyles>
    <p:titleStyle>
      <a:lvl1pPr xmlns:a="http://schemas.openxmlformats.org/drawingml/2006/main" algn="ctr" defTabSz="457200">
        <a:spcBef>
          <a:spcPct val="0"/>
        </a:spcBef>
        <a:spcAft>
          <a:spcPct val="0"/>
        </a:spcAft>
        <a:buNone/>
        <a:defRPr sz="4400" kern="1200">
          <a:solidFill>
            <a:schemeClr val="tx1"/>
          </a:solidFill>
          <a:latin typeface="TradeGothic"/>
          <a:ea typeface="TradeGothic"/>
          <a:cs typeface="TradeGothic"/>
        </a:defRPr>
      </a:lvl1pPr>
      <a:lvl2pPr xmlns:a="http://schemas.openxmlformats.org/drawingml/2006/main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2pPr>
      <a:lvl3pPr xmlns:a="http://schemas.openxmlformats.org/drawingml/2006/main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3pPr>
      <a:lvl4pPr xmlns:a="http://schemas.openxmlformats.org/drawingml/2006/main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4pPr>
      <a:lvl5pPr xmlns:a="http://schemas.openxmlformats.org/drawingml/2006/main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5pPr>
      <a:lvl6pPr xmlns:a="http://schemas.openxmlformats.org/drawingml/2006/main" marL="4572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6pPr>
      <a:lvl7pPr xmlns:a="http://schemas.openxmlformats.org/drawingml/2006/main" marL="9144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7pPr>
      <a:lvl8pPr xmlns:a="http://schemas.openxmlformats.org/drawingml/2006/main" marL="13716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8pPr>
      <a:lvl9pPr xmlns:a="http://schemas.openxmlformats.org/drawingml/2006/main" marL="18288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9pPr>
    </p:titleStyle>
    <p:bodyStyle>
      <a:lvl1pPr xmlns:a="http://schemas.openxmlformats.org/drawingml/2006/main" marL="342900" indent="-342900" algn="l" defTabSz="457200">
        <a:spcBef>
          <a:spcPct val="20000"/>
        </a:spcBef>
        <a:spcAft>
          <a:spcPct val="0"/>
        </a:spcAft>
        <a:buFont typeface="Arial"/>
        <a:buChar char="•"/>
        <a:defRPr sz="3200" kern="1200">
          <a:solidFill>
            <a:schemeClr val="tx1"/>
          </a:solidFill>
          <a:latin typeface="TradeGothic"/>
          <a:ea typeface="TradeGothic"/>
          <a:cs typeface="TradeGothic"/>
        </a:defRPr>
      </a:lvl1pPr>
      <a:lvl2pPr xmlns:a="http://schemas.openxmlformats.org/drawingml/2006/main" marL="742950" indent="-285750" algn="l" defTabSz="457200">
        <a:spcBef>
          <a:spcPct val="20000"/>
        </a:spcBef>
        <a:spcAft>
          <a:spcPct val="0"/>
        </a:spcAft>
        <a:buFont typeface="Arial"/>
        <a:buChar char="–"/>
        <a:defRPr sz="2800" kern="1200">
          <a:solidFill>
            <a:schemeClr val="tx1"/>
          </a:solidFill>
          <a:latin typeface="TradeGothic"/>
          <a:ea typeface="TradeGothic"/>
          <a:cs typeface="TradeGothic"/>
        </a:defRPr>
      </a:lvl2pPr>
      <a:lvl3pPr xmlns:a="http://schemas.openxmlformats.org/drawingml/2006/main" marL="1143000" indent="-228600" algn="l" defTabSz="457200">
        <a:spcBef>
          <a:spcPct val="20000"/>
        </a:spcBef>
        <a:spcAft>
          <a:spcPct val="0"/>
        </a:spcAft>
        <a:buFont typeface="Arial"/>
        <a:buChar char="•"/>
        <a:defRPr sz="2400" kern="1200">
          <a:solidFill>
            <a:schemeClr val="tx1"/>
          </a:solidFill>
          <a:latin typeface="TradeGothic"/>
          <a:ea typeface="TradeGothic"/>
          <a:cs typeface="TradeGothic"/>
        </a:defRPr>
      </a:lvl3pPr>
      <a:lvl4pPr xmlns:a="http://schemas.openxmlformats.org/drawingml/2006/main" marL="1600200" indent="-228600" algn="l" defTabSz="457200">
        <a:spcBef>
          <a:spcPct val="20000"/>
        </a:spcBef>
        <a:spcAft>
          <a:spcPct val="0"/>
        </a:spcAft>
        <a:buFont typeface="Arial"/>
        <a:buChar char="–"/>
        <a:defRPr sz="2000" kern="1200">
          <a:solidFill>
            <a:schemeClr val="tx1"/>
          </a:solidFill>
          <a:latin typeface="TradeGothic"/>
          <a:ea typeface="TradeGothic"/>
          <a:cs typeface="TradeGothic"/>
        </a:defRPr>
      </a:lvl4pPr>
      <a:lvl5pPr xmlns:a="http://schemas.openxmlformats.org/drawingml/2006/main" marL="2057400" indent="-228600" algn="l" defTabSz="457200">
        <a:spcBef>
          <a:spcPct val="20000"/>
        </a:spcBef>
        <a:spcAft>
          <a:spcPct val="0"/>
        </a:spcAft>
        <a:buFont typeface="Arial"/>
        <a:buChar char="»"/>
        <a:defRPr sz="2000" kern="1200">
          <a:solidFill>
            <a:schemeClr val="tx1"/>
          </a:solidFill>
          <a:latin typeface="TradeGothic"/>
          <a:ea typeface="TradeGothic"/>
          <a:cs typeface="TradeGothic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21855d85eb4254" /><Relationship Type="http://schemas.openxmlformats.org/officeDocument/2006/relationships/image" Target="/ppt/media/image.png" Id="R451a8c0956ad4be9" /><Relationship Type="http://schemas.openxmlformats.org/officeDocument/2006/relationships/image" Target="/ppt/media/image2.png" Id="R0393c029a2214fd9" /><Relationship Type="http://schemas.openxmlformats.org/officeDocument/2006/relationships/image" Target="/ppt/media/image3.png" Id="R1e49db06d24d497a" /><Relationship Type="http://schemas.openxmlformats.org/officeDocument/2006/relationships/notesSlide" Target="/ppt/notesSlides/notesSlide1.xml" Id="R3005a64bbd5d4ae5" 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2.xml" Id="R1152557b6a3c4fd8"/><Relationship Type="http://schemas.openxmlformats.org/officeDocument/2006/relationships/image" Target="/ppt/media/image4.png" Id="R929b3fda3a0e4cac"/><Relationship Type="http://schemas.openxmlformats.org/officeDocument/2006/relationships/image" Target="/ppt/media/image2.png" Id="R88dceb867a6b48d8"/><Relationship Type="http://schemas.openxmlformats.org/officeDocument/2006/relationships/image" Target="/ppt/media/image5.png" Id="R65a4b2c1979d42f1"/><Relationship Type="http://schemas.openxmlformats.org/officeDocument/2006/relationships/image" Target="/ppt/media/image6.png" Id="Ra2d6ea8c18f24d66"/><Relationship Type="http://schemas.openxmlformats.org/officeDocument/2006/relationships/image" Target="/ppt/media/image7.png" Id="Rd158ade7d51a41d9"/><Relationship Type="http://schemas.openxmlformats.org/officeDocument/2006/relationships/image" Target="/ppt/media/image8.png" Id="R103336883f8c4e07"/><Relationship Type="http://schemas.openxmlformats.org/officeDocument/2006/relationships/image" Target="/ppt/media/image9.png" Id="R83ceef86f9e74efa"/><Relationship Type="http://schemas.openxmlformats.org/officeDocument/2006/relationships/image" Target="/ppt/media/image10.png" Id="R1205675530914b47"/><Relationship Type="http://schemas.openxmlformats.org/officeDocument/2006/relationships/image" Target="/ppt/media/image11.png" Id="R3c2a21b020f948ee"/><Relationship Type="http://schemas.openxmlformats.org/officeDocument/2006/relationships/image" Target="/ppt/media/image12.png" Id="R7d85544c28dd422f"/><Relationship Type="http://schemas.openxmlformats.org/officeDocument/2006/relationships/image" Target="/ppt/media/image13.png" Id="Ra27cb916d3e54f32"/><Relationship Type="http://schemas.openxmlformats.org/officeDocument/2006/relationships/image" Target="/ppt/media/image14.png" Id="Re9165e364131450e"/><Relationship Type="http://schemas.openxmlformats.org/officeDocument/2006/relationships/image" Target="/ppt/media/image15.png" Id="R9999ed6e65ef41ee"/><Relationship Type="http://schemas.openxmlformats.org/officeDocument/2006/relationships/image" Target="/ppt/media/image16.png" Id="Rd96de5d2227a4693"/><Relationship Type="http://schemas.openxmlformats.org/officeDocument/2006/relationships/image" Target="/ppt/media/image17.png" Id="R6f754093f3fc4a60"/><Relationship Type="http://schemas.openxmlformats.org/officeDocument/2006/relationships/image" Target="/ppt/media/image18.png" Id="R69f67172c2f44d7c"/><Relationship Type="http://schemas.openxmlformats.org/officeDocument/2006/relationships/image" Target="/ppt/media/image19.png" Id="Re31db5fd69c243a0"/><Relationship Type="http://schemas.openxmlformats.org/officeDocument/2006/relationships/image" Target="/ppt/media/image20.png" Id="Rfddb8e63cfeb4067"/><Relationship Type="http://schemas.openxmlformats.org/officeDocument/2006/relationships/image" Target="/ppt/media/image21.png" Id="R923a2837d5814130"/><Relationship Type="http://schemas.openxmlformats.org/officeDocument/2006/relationships/image" Target="/ppt/media/image22.png" Id="Rc90d1831e63f4587"/><Relationship Type="http://schemas.openxmlformats.org/officeDocument/2006/relationships/hyperlink" Target="https://youtu.be/NVT6EnklEVQ" TargetMode="External" Id="R9b10e6d6512c4020"/><Relationship Type="http://schemas.openxmlformats.org/officeDocument/2006/relationships/image" Target="/ppt/media/image23.png" Id="R10e80559a73c4d19"/><Relationship Type="http://schemas.openxmlformats.org/officeDocument/2006/relationships/notesSlide" Target="/ppt/notesSlides/notesSlide2.xml" Id="Raa0d4b4838984ff8"/><Relationship Id="rIdSubmission1" Type="http://schemas.openxmlformats.org/officeDocument/2006/relationships/hyperlink" Target="https://youtu.be/NVT6EnklEVQ" TargetMode="External"/><Relationship Id="rIdSubmission2" Type="http://schemas.openxmlformats.org/officeDocument/2006/relationships/hyperlink" Target="https://youtu.be/NVT6EnklEVQ" TargetMode="External"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fe6587f97d4969" /><Relationship Type="http://schemas.openxmlformats.org/officeDocument/2006/relationships/image" Target="/ppt/media/image4.png" Id="R5a57551d70ec4bcc" /><Relationship Type="http://schemas.openxmlformats.org/officeDocument/2006/relationships/image" Target="/ppt/media/image24.png" Id="Re6d9d16261ae42d7" /><Relationship Type="http://schemas.openxmlformats.org/officeDocument/2006/relationships/image" Target="/ppt/media/image25.png" Id="R41582c27912842ba" /><Relationship Type="http://schemas.openxmlformats.org/officeDocument/2006/relationships/image" Target="/ppt/media/image26.png" Id="Rce7cdf65b8c54823" /><Relationship Type="http://schemas.openxmlformats.org/officeDocument/2006/relationships/image" Target="/ppt/media/image27.png" Id="R120f627a4f254b9f" /><Relationship Type="http://schemas.openxmlformats.org/officeDocument/2006/relationships/image" Target="/ppt/media/image28.png" Id="R7200197f25b84b6a" /><Relationship Type="http://schemas.openxmlformats.org/officeDocument/2006/relationships/image" Target="/ppt/media/image29.png" Id="Rb58191360196499c" /><Relationship Type="http://schemas.openxmlformats.org/officeDocument/2006/relationships/image" Target="/ppt/media/image30.png" Id="R8aa537971d654dd1" /><Relationship Type="http://schemas.openxmlformats.org/officeDocument/2006/relationships/image" Target="/ppt/media/image31.png" Id="R6a1d7a9ff06444c5" /><Relationship Type="http://schemas.openxmlformats.org/officeDocument/2006/relationships/image" Target="/ppt/media/image32.png" Id="R41ab4ca11acd4ede" /><Relationship Type="http://schemas.openxmlformats.org/officeDocument/2006/relationships/image" Target="/ppt/media/image33.png" Id="Rcbd0cd1256b54b5c" /><Relationship Type="http://schemas.openxmlformats.org/officeDocument/2006/relationships/image" Target="/ppt/media/image34.png" Id="Re6f16df6d90d4054" /><Relationship Type="http://schemas.openxmlformats.org/officeDocument/2006/relationships/image" Target="/ppt/media/image14.png" Id="Rc8abe81b2d224163" /><Relationship Type="http://schemas.openxmlformats.org/officeDocument/2006/relationships/image" Target="/ppt/media/image17.png" Id="Rc16896e20e9a4f4d" /><Relationship Type="http://schemas.openxmlformats.org/officeDocument/2006/relationships/image" Target="/ppt/media/image35.png" Id="R5ca4a081aeeb4a55" /><Relationship Type="http://schemas.openxmlformats.org/officeDocument/2006/relationships/image" Target="/ppt/media/image18.png" Id="R2e672cae7e0e43df" /><Relationship Type="http://schemas.openxmlformats.org/officeDocument/2006/relationships/image" Target="/ppt/media/image19.png" Id="Rfefcd5d824da4fd4" /><Relationship Type="http://schemas.openxmlformats.org/officeDocument/2006/relationships/image" Target="/ppt/media/image36.png" Id="R729721b1306b4521" /><Relationship Type="http://schemas.openxmlformats.org/officeDocument/2006/relationships/image" Target="/ppt/media/image13.png" Id="Rd393c7abc34e493b" /><Relationship Type="http://schemas.openxmlformats.org/officeDocument/2006/relationships/image" Target="/ppt/media/image37.png" Id="R13ba2d76f4ee41c6" /><Relationship Type="http://schemas.openxmlformats.org/officeDocument/2006/relationships/image" Target="/ppt/media/image38.png" Id="R7fb15a6cea964d96" /><Relationship Type="http://schemas.openxmlformats.org/officeDocument/2006/relationships/image" Target="/ppt/media/image39.png" Id="R2232a9f586d241ae" /><Relationship Type="http://schemas.openxmlformats.org/officeDocument/2006/relationships/image" Target="/ppt/media/image12.png" Id="Rd6da7377f391432d" /><Relationship Type="http://schemas.openxmlformats.org/officeDocument/2006/relationships/image" Target="/ppt/media/image7.png" Id="Rf87e4978abd1410b" /><Relationship Type="http://schemas.openxmlformats.org/officeDocument/2006/relationships/image" Target="/ppt/media/image40.png" Id="R11dedb2d39644aab" /><Relationship Type="http://schemas.openxmlformats.org/officeDocument/2006/relationships/image" Target="/ppt/media/image41.png" Id="Raaeb0447476f4d64" /><Relationship Type="http://schemas.openxmlformats.org/officeDocument/2006/relationships/image" Target="/ppt/media/image42.png" Id="Rb36d0cd14af44fa0" /><Relationship Type="http://schemas.openxmlformats.org/officeDocument/2006/relationships/image" Target="/ppt/media/image43.png" Id="Rc3e3e7ea194b490b" /><Relationship Type="http://schemas.openxmlformats.org/officeDocument/2006/relationships/image" Target="/ppt/media/image44.png" Id="R3073a8c109bb4ae8" /><Relationship Type="http://schemas.openxmlformats.org/officeDocument/2006/relationships/image" Target="/ppt/media/image45.png" Id="R41b7e510d7994833" /><Relationship Type="http://schemas.openxmlformats.org/officeDocument/2006/relationships/image" Target="/ppt/media/image46.png" Id="R1c0749e244d343dd" /><Relationship Type="http://schemas.openxmlformats.org/officeDocument/2006/relationships/image" Target="/ppt/media/image47.png" Id="Re1bb13fbc2024356" /><Relationship Type="http://schemas.openxmlformats.org/officeDocument/2006/relationships/image" Target="/ppt/media/image48.png" Id="R970e5881ef954f87" /><Relationship Type="http://schemas.openxmlformats.org/officeDocument/2006/relationships/image" Target="/ppt/media/image49.png" Id="R456792ce5f2846dc" /><Relationship Type="http://schemas.openxmlformats.org/officeDocument/2006/relationships/image" Target="/ppt/media/image50.png" Id="R2d74e456ccac49e3" /><Relationship Type="http://schemas.openxmlformats.org/officeDocument/2006/relationships/image" Target="/ppt/media/image51.png" Id="R51791e03beec43ac" /><Relationship Type="http://schemas.openxmlformats.org/officeDocument/2006/relationships/image" Target="/ppt/media/image52.png" Id="R5161924928e8498b" /><Relationship Type="http://schemas.openxmlformats.org/officeDocument/2006/relationships/notesSlide" Target="/ppt/notesSlides/notesSlide3.xml" Id="R452d5a48d77e4b1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2a32ecc4dfe4730" /><Relationship Type="http://schemas.openxmlformats.org/officeDocument/2006/relationships/image" Target="/ppt/media/image4.png" Id="R845e30a2f018419d" /><Relationship Type="http://schemas.openxmlformats.org/officeDocument/2006/relationships/image" Target="/ppt/media/image53.png" Id="R2925eb8aea024158" /><Relationship Type="http://schemas.openxmlformats.org/officeDocument/2006/relationships/image" Target="/ppt/media/image54.png" Id="R0736009f6846492e" /><Relationship Type="http://schemas.openxmlformats.org/officeDocument/2006/relationships/image" Target="/ppt/media/image55.png" Id="R14346657fa924e10" /><Relationship Type="http://schemas.openxmlformats.org/officeDocument/2006/relationships/image" Target="/ppt/media/image56.png" Id="R1a9b4d2077d4436c" /><Relationship Type="http://schemas.openxmlformats.org/officeDocument/2006/relationships/image" Target="/ppt/media/image57.png" Id="R51abdc8e0ad74905" /><Relationship Type="http://schemas.openxmlformats.org/officeDocument/2006/relationships/image" Target="/ppt/media/image58.png" Id="R17f94111ce9c4383" /><Relationship Type="http://schemas.openxmlformats.org/officeDocument/2006/relationships/image" Target="/ppt/media/image59.png" Id="R59d0484a94b040ba" /><Relationship Type="http://schemas.openxmlformats.org/officeDocument/2006/relationships/image" Target="/ppt/media/image60.png" Id="Rb141f99c114c4b17" /><Relationship Type="http://schemas.openxmlformats.org/officeDocument/2006/relationships/image" Target="/ppt/media/image61.png" Id="R5cbb8e1084704211" /><Relationship Type="http://schemas.openxmlformats.org/officeDocument/2006/relationships/image" Target="/ppt/media/image62.png" Id="R0465e75568714dc5" /><Relationship Type="http://schemas.openxmlformats.org/officeDocument/2006/relationships/notesSlide" Target="/ppt/notesSlides/notesSlide4.xml" Id="Rb0d14d430cdd47f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568ac5d6634d9b" /><Relationship Type="http://schemas.openxmlformats.org/officeDocument/2006/relationships/image" Target="/ppt/media/image4.png" Id="R8f444191bf834fba" /><Relationship Type="http://schemas.openxmlformats.org/officeDocument/2006/relationships/hyperlink" Target="https://www.cseindia.org/climate-india-2025-an-assessment-of-extreme-weather-events-12927" TargetMode="External" Id="Rc2b7324724d44129" /><Relationship Type="http://schemas.openxmlformats.org/officeDocument/2006/relationships/hyperlink" Target="https://www.cseindia.org/climate-india-2025-an-assessment-of-extreme-weather-events-12927" TargetMode="External" Id="R2c2beb67a933436d" /><Relationship Type="http://schemas.openxmlformats.org/officeDocument/2006/relationships/hyperlink" Target="https://www.cseindia.org/climate-india-2025-an-assessment-of-extreme-weather-events-12927" TargetMode="External" Id="Rfd68518e7c534faf" /><Relationship Type="http://schemas.openxmlformats.org/officeDocument/2006/relationships/hyperlink" Target="https://rsmcnewdelhi.imd.gov.in/uploads/survey/NCAER2020.pdf" TargetMode="External" Id="Rc407c7e2ee214869" /><Relationship Type="http://schemas.openxmlformats.org/officeDocument/2006/relationships/image" Target="/ppt/media/image20.png" Id="R16e865c2af034332" /><Relationship Type="http://schemas.openxmlformats.org/officeDocument/2006/relationships/image" Target="/ppt/media/image24.png" Id="Rcc08f5b5c9e7482b" /><Relationship Type="http://schemas.openxmlformats.org/officeDocument/2006/relationships/image" Target="/ppt/media/image25.png" Id="R0a02600bd2564724" /><Relationship Type="http://schemas.openxmlformats.org/officeDocument/2006/relationships/image" Target="/ppt/media/image26.png" Id="R472396d5d32e4215" /><Relationship Type="http://schemas.openxmlformats.org/officeDocument/2006/relationships/image" Target="/ppt/media/image63.png" Id="R4a8c25027d864fed" /><Relationship Type="http://schemas.openxmlformats.org/officeDocument/2006/relationships/image" Target="/ppt/media/image28.png" Id="Re3f3e063d8b04a27" /><Relationship Type="http://schemas.openxmlformats.org/officeDocument/2006/relationships/image" Target="/ppt/media/image64.png" Id="Rfaab0b62588747ab" /><Relationship Type="http://schemas.openxmlformats.org/officeDocument/2006/relationships/image" Target="/ppt/media/image29.png" Id="R1d12ba71f6154f67" /><Relationship Type="http://schemas.openxmlformats.org/officeDocument/2006/relationships/image" Target="/ppt/media/image65.png" Id="Rb5a32772b0b1475d" /><Relationship Type="http://schemas.openxmlformats.org/officeDocument/2006/relationships/image" Target="/ppt/media/image66.png" Id="Rb1bba2cb8d50445c" /><Relationship Type="http://schemas.openxmlformats.org/officeDocument/2006/relationships/image" Target="/ppt/media/image67.png" Id="R2f2fb114eb434afc" /><Relationship Type="http://schemas.openxmlformats.org/officeDocument/2006/relationships/image" Target="/ppt/media/image17.png" Id="R4eeca3f91ffb4e69" /><Relationship Type="http://schemas.openxmlformats.org/officeDocument/2006/relationships/image" Target="/ppt/media/image68.png" Id="Rd88155222b564626" /><Relationship Type="http://schemas.openxmlformats.org/officeDocument/2006/relationships/image" Target="/ppt/media/image69.png" Id="Rd4c0091811e14fbb" /><Relationship Type="http://schemas.openxmlformats.org/officeDocument/2006/relationships/image" Target="/ppt/media/image70.png" Id="R9f05dbcaaf3547a6" /><Relationship Type="http://schemas.openxmlformats.org/officeDocument/2006/relationships/notesSlide" Target="/ppt/notesSlides/notesSlide5.xml" Id="R53e677f65b0947d0" 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2.xml" Id="Rada9343a44b94306"/><Relationship Type="http://schemas.openxmlformats.org/officeDocument/2006/relationships/image" Target="/ppt/media/image4.png" Id="R553d690ce078452a"/><Relationship Type="http://schemas.openxmlformats.org/officeDocument/2006/relationships/image" Target="/ppt/media/image71.png" Id="R5354b4ab979143fc"/><Relationship Type="http://schemas.openxmlformats.org/officeDocument/2006/relationships/image" Target="/ppt/media/image72.png" Id="R5c872ebffb314801"/><Relationship Type="http://schemas.openxmlformats.org/officeDocument/2006/relationships/image" Target="/ppt/media/image5.png" Id="R1a2c0d2077cf4d90"/><Relationship Type="http://schemas.openxmlformats.org/officeDocument/2006/relationships/hyperlink" Target="https://play.google.com/store/apps/details?id=com.imd.masuam" TargetMode="External" Id="Ra3395d493dca4194"/><Relationship Type="http://schemas.openxmlformats.org/officeDocument/2006/relationships/hyperlink" Target="https://play.google.com/store/apps/details?id=com.aas.meghdoot" TargetMode="External" Id="R256b5d3050c4453e"/><Relationship Type="http://schemas.openxmlformats.org/officeDocument/2006/relationships/hyperlink" Target="https://mausamgram.imd.gov.in/" TargetMode="External" Id="R7affc1c0d8d74b8a"/><Relationship Type="http://schemas.openxmlformats.org/officeDocument/2006/relationships/hyperlink" Target="https://sih.gov.in/sih2026PS" TargetMode="External" Id="R793a13933ada4a38"/><Relationship Type="http://schemas.openxmlformats.org/officeDocument/2006/relationships/hyperlink" Target="https://mausam.imd.gov.in/" TargetMode="External" Id="R784e77b81a0841e1"/><Relationship Type="http://schemas.openxmlformats.org/officeDocument/2006/relationships/hyperlink" Target="https://reactjs.imd.gov.in/geoserver" TargetMode="External" Id="R883eea99eec44102"/><Relationship Type="http://schemas.openxmlformats.org/officeDocument/2006/relationships/hyperlink" Target="https://www.pib.gov.in/PressReleasePage.aspx?PRID=2054427" TargetMode="External" Id="R2b362bfbc0364671"/><Relationship Type="http://schemas.openxmlformats.org/officeDocument/2006/relationships/hyperlink" Target="https://community.wmo.int/site/knowledge-hub/programmes-and-initiatives/wmo-information-system-wis/wis2-overview" TargetMode="External" Id="R8aa6fba62f0248be"/><Relationship Type="http://schemas.openxmlformats.org/officeDocument/2006/relationships/hyperlink" Target="https://sachet.ndma.gov.in/" TargetMode="External" Id="Rd8ef283d93fc48ea"/><Relationship Type="http://schemas.openxmlformats.org/officeDocument/2006/relationships/hyperlink" Target="https://dsp.imdpune.gov.in/" TargetMode="External" Id="R30d1cce9dc6c4a75"/><Relationship Type="http://schemas.openxmlformats.org/officeDocument/2006/relationships/hyperlink" Target="https://www.data.gov.in/" TargetMode="External" Id="R8b24f5659b774fe7"/><Relationship Type="http://schemas.openxmlformats.org/officeDocument/2006/relationships/hyperlink" Target="https://open-meteo.com/" TargetMode="External" Id="Rf2af7bb1ef7c4e94"/><Relationship Type="http://schemas.openxmlformats.org/officeDocument/2006/relationships/hyperlink" Target="https://arxiv.org/abs/2005.11401" TargetMode="External" Id="R6ab898866909447b"/><Relationship Type="http://schemas.openxmlformats.org/officeDocument/2006/relationships/hyperlink" Target="https://arxiv.org/abs/2202.03629" TargetMode="External" Id="Re478b317aee44244"/><Relationship Type="http://schemas.openxmlformats.org/officeDocument/2006/relationships/hyperlink" Target="https://rsmcnewdelhi.imd.gov.in/uploads/survey/NCAER2020.pdf" TargetMode="External" Id="R26127da7972345c4"/><Relationship Type="http://schemas.openxmlformats.org/officeDocument/2006/relationships/hyperlink" Target="https://www.cseindia.org/climate-india-2025-an-assessment-of-extreme-weather-events-12927" TargetMode="External" Id="Ra777ab81e2f04519"/><Relationship Type="http://schemas.openxmlformats.org/officeDocument/2006/relationships/hyperlink" Target="https://www.sarvam.ai/models" TargetMode="External" Id="R387b46d0aa9a4c67"/><Relationship Type="http://schemas.openxmlformats.org/officeDocument/2006/relationships/hyperlink" Target="https://indiaai.gov.in/" TargetMode="External" Id="R99444248e10f471b"/><Relationship Type="http://schemas.openxmlformats.org/officeDocument/2006/relationships/image" Target="/ppt/media/image22.png" Id="R4ad60f200fa44c8c"/><Relationship Type="http://schemas.openxmlformats.org/officeDocument/2006/relationships/hyperlink" Target="https://youtu.be/NVT6EnklEVQ" TargetMode="External" Id="Rc81bff773ee349bf"/><Relationship Type="http://schemas.openxmlformats.org/officeDocument/2006/relationships/hyperlink" Target="https://youtu.be/NVT6EnklEVQ" TargetMode="External" Id="R65c4fc42c2734122"/><Relationship Type="http://schemas.openxmlformats.org/officeDocument/2006/relationships/hyperlink" Target="https://github.com/Abhichandani-Yash-Manish/WeatherGPT_" TargetMode="External" Id="R255ae99ce229471c"/><Relationship Type="http://schemas.openxmlformats.org/officeDocument/2006/relationships/image" Target="/ppt/media/image73.png" Id="R4fb9308c00064a37"/><Relationship Type="http://schemas.openxmlformats.org/officeDocument/2006/relationships/notesSlide" Target="/ppt/notesSlides/notesSlide6.xml" Id="R98169b63df2a4d03"/><Relationship Id="rIdSubmission3" Type="http://schemas.openxmlformats.org/officeDocument/2006/relationships/hyperlink" Target="https://youtu.be/NVT6EnklEVQ" TargetMode="External"/><Relationship Id="rIdSubmission4" Type="http://schemas.openxmlformats.org/officeDocument/2006/relationships/hyperlink" Target="https://youtu.be/NVT6EnklEVQ" TargetMode="External"/><Relationship Id="rIdSubmission5" Type="http://schemas.openxmlformats.org/officeDocument/2006/relationships/hyperlink" Target="https://github.com/Abhichandani-Yash-Manish/WeatherGPT_" TargetMode="Externa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 useBgFill="1">
        <p:nvSpPr>
          <p:cNvPr id="36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3E443FD7-A66B-4AA0-872D-B088B9BC5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14400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7" name="Freeform: Shape 26">
            <a:extLst xmlns:a="http://schemas.openxmlformats.org/drawingml/2006/main">
              <a:ext uri="{FF2B5EF4-FFF2-40B4-BE49-F238E27FC236}">
                <a16:creationId xmlns:a16="http://schemas.microsoft.com/office/drawing/2014/main" id="{C04BE0EF-3561-49B4-9A29-F283168A9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6780" y="851521"/>
            <a:ext cx="4638605" cy="5154967"/>
          </a:xfrm>
          <a:custGeom xmlns:a="http://schemas.openxmlformats.org/drawingml/2006/main"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 xmlns:a="http://schemas.openxmlformats.org/drawingml/2006/main">
            <a:schemeClr val="tx1">
              <a:lumMod val="50000"/>
              <a:lumOff val="50000"/>
              <a:alpha val="1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46" name="Picture 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51a8c0956ad4be9"/>
          <a:srcRect xmlns:a="http://schemas.openxmlformats.org/drawingml/2006/main" l="0" t="0" r="59916" b="0"/>
          <a:stretch xmlns:a="http://schemas.openxmlformats.org/drawingml/2006/main"/>
        </p:blipFill>
        <p:spPr>
          <a:xfrm xmlns:a="http://schemas.openxmlformats.org/drawingml/2006/main">
            <a:off x="6854891" y="1715881"/>
            <a:ext cx="3203509" cy="3426237"/>
          </a:xfrm>
          <a:prstGeom xmlns:a="http://schemas.openxmlformats.org/drawingml/2006/main" prst="rect">
            <a:avLst/>
          </a:prstGeom>
        </p:spPr>
      </p:pic>
      <p:sp>
        <p:nvSpPr>
          <p:cNvPr id="4" name="Subtitle 3">
            <a:extLst xmlns:a="http://schemas.openxmlformats.org/drawingml/2006/main">
              <a:ext uri="{FF2B5EF4-FFF2-40B4-BE49-F238E27FC236}">
                <a16:creationId xmlns:a16="http://schemas.microsoft.com/office/drawing/2014/main" id="{E191641F-C7CA-496D-B6D1-C3D2D0FD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45686" y="648614"/>
            <a:ext cx="85344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  <a:p xmlns:a="http://schemas.openxmlformats.org/drawingml/2006/main">
            <a:r>
              <a:rPr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TITLE PAGE</a:t>
            </a:r>
            <a:endParaRPr b="1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Title 7">
            <a:extLst xmlns:a="http://schemas.openxmlformats.org/drawingml/2006/main">
              <a:ext uri="{FF2B5EF4-FFF2-40B4-BE49-F238E27FC236}">
                <a16:creationId xmlns:a16="http://schemas.microsoft.com/office/drawing/2014/main" id="{8A25245C-E824-4277-A26C-38088ED232E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31286" y="-526757"/>
            <a:ext cx="10363200" cy="20764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4000" b="1">
                <a:solidFill>
                  <a:schemeClr val="tx2"/>
                </a:solidFill>
                <a:latin typeface="Garamond"/>
                <a:ea typeface="Garamond"/>
                <a:cs typeface="Garamond"/>
              </a:rPr>
              <a:t>SMART INDIA HACKATHON </a:t>
            </a:r>
            <a:r>
              <a:rPr sz="4000" b="1">
                <a:solidFill>
                  <a:schemeClr val="tx2"/>
                </a:solidFill>
                <a:latin typeface="Garamond"/>
                <a:ea typeface="Garamond"/>
                <a:cs typeface="Garamond"/>
              </a:rPr>
              <a:t>2026</a:t>
            </a:r>
            <a:endParaRPr sz="4000" b="1">
              <a:solidFill>
                <a:schemeClr val="tx2"/>
              </a:solidFill>
              <a:latin typeface="Garamond"/>
              <a:ea typeface="Garamond"/>
              <a:cs typeface="Garamond"/>
            </a:endParaR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75D6617-2AAD-4619-91EB-BA827BD56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86" y="2011680"/>
            <a:ext cx="5924550" cy="365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900"/>
              </a:spcAft>
              <a:buNone/>
            </a:pPr>
            <a:endParaRPr/>
          </a:p>
          <a:p xmlns:a="http://schemas.openxmlformats.org/drawingml/2006/main">
            <a:pPr marL="285750" indent="-285750" algn="l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600" b="1">
                <a:latin typeface="Arial"/>
                <a:ea typeface="Arial"/>
                <a:cs typeface="Arial"/>
              </a:rPr>
              <a:t>Problem Statement ID – SIH26068</a:t>
            </a:r>
          </a:p>
          <a:p xmlns:a="http://schemas.openxmlformats.org/drawingml/2006/main">
            <a:pPr marL="285750" indent="-285750" algn="l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600" b="1">
                <a:latin typeface="Arial"/>
                <a:ea typeface="Arial"/>
                <a:cs typeface="Arial"/>
              </a:rPr>
              <a:t>Problem Statement Title- WeatherGPT: Conversational AI for Weather Forecasting, Alerts, and Climate Information</a:t>
            </a:r>
          </a:p>
          <a:p xmlns:a="http://schemas.openxmlformats.org/drawingml/2006/main">
            <a:pPr marL="285750" indent="-285750" algn="l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600" b="1">
                <a:latin typeface="Arial"/>
                <a:ea typeface="Arial"/>
                <a:cs typeface="Arial"/>
              </a:rPr>
              <a:t>Theme- Disaster Management</a:t>
            </a:r>
          </a:p>
          <a:p xmlns:a="http://schemas.openxmlformats.org/drawingml/2006/main">
            <a:pPr marL="285750" indent="-285750" algn="l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600" b="1">
                <a:latin typeface="Arial"/>
                <a:ea typeface="Arial"/>
                <a:cs typeface="Arial"/>
              </a:rPr>
              <a:t>PS Category- Software</a:t>
            </a:r>
          </a:p>
          <a:p xmlns:a="http://schemas.openxmlformats.org/drawingml/2006/main">
            <a:pPr marL="285750" indent="-285750" algn="l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600" b="1">
                <a:latin typeface="Arial"/>
                <a:ea typeface="Arial"/>
                <a:cs typeface="Arial"/>
              </a:rPr>
              <a:t>Team ID- 118709</a:t>
            </a:r>
          </a:p>
          <a:p xmlns:a="http://schemas.openxmlformats.org/drawingml/2006/main">
            <a:pPr marL="285750" indent="-285750" algn="l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600" b="1">
                <a:latin typeface="Arial"/>
                <a:ea typeface="Arial"/>
                <a:cs typeface="Arial"/>
              </a:rPr>
              <a:t>Team Name- Void Pointers</a:t>
            </a:r>
            <a:endParaRPr sz="2400" b="1">
              <a:latin typeface="Arial"/>
              <a:ea typeface="Arial"/>
              <a:cs typeface="Arial"/>
            </a:endParaRPr>
          </a:p>
        </p:txBody>
      </p:sp>
      <p:pic>
        <p:nvPicPr>
          <p:cNvPr id="50" name="Picture 3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93c029a2214f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632704"/>
            <a:ext cx="658368" cy="658368"/>
          </a:xfrm>
          <a:prstGeom xmlns:a="http://schemas.openxmlformats.org/drawingml/2006/main" prst="rect">
            <a:avLst/>
          </a:prstGeom>
        </p:spPr>
      </p:pic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D5477B05-090A-489B-AA56-65E0E3323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5623560"/>
            <a:ext cx="51206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700" b="1" i="0">
                <a:solidFill>
                  <a:srgbClr val="0F6E9A"/>
                </a:solidFill>
                <a:latin typeface="Times New Roman"/>
                <a:ea typeface="Times New Roman"/>
                <a:cs typeface="Times New Roman"/>
              </a:rPr>
              <a:t>WeatherGPT</a:t>
            </a:r>
            <a:r>
              <a:rPr sz="1700" b="1" i="0">
                <a:solidFill>
                  <a:srgbClr val="0B2239"/>
                </a:solidFill>
                <a:latin typeface="Times New Roman"/>
                <a:ea typeface="Times New Roman"/>
                <a:cs typeface="Times New Roman"/>
              </a:rPr>
              <a:t>: ask the sky, trust the answer.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000" b="0" i="1">
                <a:solidFill>
                  <a:srgbClr val="55666E"/>
                </a:solidFill>
                <a:latin typeface="Arial"/>
                <a:ea typeface="Arial"/>
                <a:cs typeface="Arial"/>
              </a:rPr>
              <a:t>Source-linked weather conversations, with Indian-language and voice access.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49db06d24d497a"/>
          <a:stretch xmlns:a="http://schemas.openxmlformats.org/drawingml/2006/main"/>
        </p:blipFill>
        <p:spPr>
          <a:xfrm xmlns:a="http://schemas.openxmlformats.org/drawingml/2006/main">
            <a:off x="9780822" y="1524"/>
            <a:ext cx="2248320" cy="106232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99736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2B2577C-5242-434F-A6CB-06154173B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4762"/>
            <a:ext cx="12191999" cy="503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0C0"/>
          </a:solidFill>
          <a:ln xmlns:a="http://schemas.openxmlformats.org/drawingml/2006/main" w="9525">
            <a:noFill/>
          </a:ln>
          <a:effectLst xmlns:a="http://schemas.openxmlformats.org/drawingml/2006/main"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2">
                  <a:lumMod val="75000"/>
                </a:schemeClr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5361" name="Title 1">
            <a:extLst xmlns:a="http://schemas.openxmlformats.org/drawingml/2006/main">
              <a:ext uri="{FF2B5EF4-FFF2-40B4-BE49-F238E27FC236}">
                <a16:creationId xmlns:a16="http://schemas.microsoft.com/office/drawing/2014/main" id="{70136980-5E5F-4658-9EEB-A518D5A7D4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2920" y="18288"/>
            <a:ext cx="10972800" cy="71323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200" b="1">
                <a:latin typeface="Times New Roman"/>
                <a:ea typeface="Times New Roman"/>
                <a:cs typeface="Times New Roman"/>
              </a:rPr>
              <a:t>WEATHERGPT</a:t>
            </a:r>
            <a:r>
              <a:rPr sz="3600" b="1"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5C93CC0-6F89-498B-B8FC-E0C9BA9F9D6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77C3CE7-23F7-4828-823C-E0205DF2CF97}" type="slidenum">
              <a:rPr b="1">
                <a:solidFill>
                  <a:schemeClr val="bg1"/>
                </a:solidFill>
              </a:rPr>
              <a:t>2</a:t>
            </a:fld>
            <a:endParaRPr b="1">
              <a:solidFill>
                <a:schemeClr val="bg1"/>
              </a:solidFill>
            </a:endParaRPr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F1334D8D-12EE-4527-98CD-902774E5D1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2651760" y="6356353"/>
            <a:ext cx="7223760" cy="365125"/>
          </a:xfrm>
        </p:spPr>
        <p:txBody>
          <a:bodyPr xmlns:a="http://schemas.openxmlformats.org/drawingml/2006/main" wrap="none"/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chemeClr val="bg1"/>
                </a:solidFill>
              </a:rPr>
              <a:t>@SIH Idea Submission · SIH26068 · WeatherGPT · Team Void Pointers (118709)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5DBCE864-823D-4A13-9607-5DA1F0ED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773" y="252246"/>
            <a:ext cx="1251857" cy="807334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4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lIns="18288" rIns="18288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/>
              <a:t>Void Pointers</a:t>
            </a:r>
            <a:endParaRPr/>
          </a:p>
        </p:txBody>
      </p:sp>
      <p:pic>
        <p:nvPicPr>
          <p:cNvPr id="15592" name="Picture 1536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9b3fda3a0e4c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6428232"/>
            <a:ext cx="334959" cy="219456"/>
          </a:xfrm>
          <a:prstGeom xmlns:a="http://schemas.openxmlformats.org/drawingml/2006/main" prst="rect">
            <a:avLst/>
          </a:prstGeom>
        </p:spPr>
      </p:pic>
      <p:pic>
        <p:nvPicPr>
          <p:cNvPr id="15593" name="Picture 1536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dceb867a6b48d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86200" y="118872"/>
            <a:ext cx="512064" cy="512064"/>
          </a:xfrm>
          <a:prstGeom xmlns:a="http://schemas.openxmlformats.org/drawingml/2006/main" prst="rect">
            <a:avLst/>
          </a:prstGeom>
        </p:spPr>
      </p:pic>
      <p:sp>
        <p:nvSpPr>
          <p:cNvPr id="15364" name="TextBox 15363">
            <a:extLst xmlns:a="http://schemas.openxmlformats.org/drawingml/2006/main">
              <a:ext uri="{FF2B5EF4-FFF2-40B4-BE49-F238E27FC236}">
                <a16:creationId xmlns:a16="http://schemas.microsoft.com/office/drawing/2014/main" id="{091A5281-5C33-4280-85D9-236EC010F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360" y="676656"/>
            <a:ext cx="7955279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500" b="0" i="1">
                <a:solidFill>
                  <a:srgbClr val="0B2239"/>
                </a:solidFill>
                <a:latin typeface="Times New Roman"/>
                <a:ea typeface="Times New Roman"/>
                <a:cs typeface="Times New Roman"/>
              </a:rPr>
              <a:t>IMD's forecasts, in your language.</a:t>
            </a:r>
            <a:r>
              <a:rPr sz="1500" b="0" i="0">
                <a:solidFill>
                  <a:srgbClr val="0B2239"/>
                </a:solidFill>
                <a:latin typeface="Times New Roman"/>
                <a:ea typeface="Times New Roman"/>
                <a:cs typeface="Times New Roman"/>
              </a:rPr>
              <a:t>  </a:t>
            </a:r>
            <a:r>
              <a:rPr sz="1500" b="1" i="0">
                <a:solidFill>
                  <a:srgbClr val="0A4F70"/>
                </a:solidFill>
                <a:latin typeface="Times New Roman"/>
                <a:ea typeface="Times New Roman"/>
                <a:cs typeface="Times New Roman"/>
              </a:rPr>
              <a:t>Every number comes with a receipt.</a:t>
            </a:r>
          </a:p>
        </p:txBody>
      </p:sp>
      <p:sp>
        <p:nvSpPr>
          <p:cNvPr id="15365" name="Rounded Rectangle 15364">
            <a:extLst xmlns:a="http://schemas.openxmlformats.org/drawingml/2006/main">
              <a:ext uri="{FF2B5EF4-FFF2-40B4-BE49-F238E27FC236}">
                <a16:creationId xmlns:a16="http://schemas.microsoft.com/office/drawing/2014/main" id="{A48572A5-4201-435A-8480-4F048D03A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097280"/>
            <a:ext cx="960120" cy="640080"/>
          </a:xfrm>
          <a:prstGeom xmlns:a="http://schemas.openxmlformats.org/drawingml/2006/main" prst="roundRect">
            <a:avLst>
              <a:gd name="adj" fmla="val 14285"/>
            </a:avLst>
          </a:prstGeom>
          <a:solidFill xmlns:a="http://schemas.openxmlformats.org/drawingml/2006/main">
            <a:srgbClr val="0B2239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FFC766"/>
                </a:solidFill>
                <a:latin typeface="Times New Roman"/>
                <a:ea typeface="Times New Roman"/>
                <a:cs typeface="Times New Roman"/>
              </a:rPr>
              <a:t>How it addresses the problem</a:t>
            </a:r>
          </a:p>
        </p:txBody>
      </p:sp>
      <p:sp>
        <p:nvSpPr>
          <p:cNvPr id="15366" name="Rounded Rectangle 15365">
            <a:extLst xmlns:a="http://schemas.openxmlformats.org/drawingml/2006/main">
              <a:ext uri="{FF2B5EF4-FFF2-40B4-BE49-F238E27FC236}">
                <a16:creationId xmlns:a16="http://schemas.microsoft.com/office/drawing/2014/main" id="{9E8E7FC4-193D-4E2D-9D24-400949CD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7592" y="1097280"/>
            <a:ext cx="1627632" cy="640080"/>
          </a:xfrm>
          <a:prstGeom xmlns:a="http://schemas.openxmlformats.org/drawingml/2006/main" prst="roundRect">
            <a:avLst>
              <a:gd name="adj" fmla="val 14285"/>
            </a:avLst>
          </a:prstGeom>
          <a:solidFill xmlns:a="http://schemas.openxmlformats.org/drawingml/2006/main">
            <a:srgbClr val="FDE9E7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5367" name="Oval 15366">
            <a:extLst xmlns:a="http://schemas.openxmlformats.org/drawingml/2006/main">
              <a:ext uri="{FF2B5EF4-FFF2-40B4-BE49-F238E27FC236}">
                <a16:creationId xmlns:a16="http://schemas.microsoft.com/office/drawing/2014/main" id="{2AC8BDDA-3F35-47E7-836E-B711DA38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1152144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23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598" name="Picture 1536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a4b2c1979d42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07627" y="1206459"/>
            <a:ext cx="92537" cy="92537"/>
          </a:xfrm>
          <a:prstGeom xmlns:a="http://schemas.openxmlformats.org/drawingml/2006/main" prst="rect">
            <a:avLst/>
          </a:prstGeom>
        </p:spPr>
      </p:pic>
      <p:sp>
        <p:nvSpPr>
          <p:cNvPr id="15369" name="TextBox 15368">
            <a:extLst xmlns:a="http://schemas.openxmlformats.org/drawingml/2006/main">
              <a:ext uri="{FF2B5EF4-FFF2-40B4-BE49-F238E27FC236}">
                <a16:creationId xmlns:a16="http://schemas.microsoft.com/office/drawing/2014/main" id="{22747474-6106-415B-BF5B-FF727209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912" y="1097280"/>
            <a:ext cx="1335024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Weather data is scattered across portals, bulletins, satellite products &amp; forecast systems</a:t>
            </a:r>
          </a:p>
        </p:txBody>
      </p:sp>
      <p:sp>
        <p:nvSpPr>
          <p:cNvPr id="15370" name="Isosceles Triangle 15369">
            <a:extLst xmlns:a="http://schemas.openxmlformats.org/drawingml/2006/main">
              <a:ext uri="{FF2B5EF4-FFF2-40B4-BE49-F238E27FC236}">
                <a16:creationId xmlns:a16="http://schemas.microsoft.com/office/drawing/2014/main" id="{5DAF9D0D-C6E7-4AD1-8917-93EF0281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953512" y="1353311"/>
            <a:ext cx="128016" cy="128016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B2239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5371" name="Rounded Rectangle 15370">
            <a:extLst xmlns:a="http://schemas.openxmlformats.org/drawingml/2006/main">
              <a:ext uri="{FF2B5EF4-FFF2-40B4-BE49-F238E27FC236}">
                <a16:creationId xmlns:a16="http://schemas.microsoft.com/office/drawing/2014/main" id="{41478466-0370-4D03-A17B-CD5B3A3B4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1097280"/>
            <a:ext cx="1648968" cy="640080"/>
          </a:xfrm>
          <a:prstGeom xmlns:a="http://schemas.openxmlformats.org/drawingml/2006/main" prst="roundRect">
            <a:avLst>
              <a:gd name="adj" fmla="val 14285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5372" name="Oval 15371">
            <a:extLst xmlns:a="http://schemas.openxmlformats.org/drawingml/2006/main">
              <a:ext uri="{FF2B5EF4-FFF2-40B4-BE49-F238E27FC236}">
                <a16:creationId xmlns:a16="http://schemas.microsoft.com/office/drawing/2014/main" id="{E7B7040F-5178-4F65-97FE-A9C5CDC21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1271016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603" name="Picture 1537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d6ea8c18f24d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19053" y="1335389"/>
            <a:ext cx="163860" cy="163860"/>
          </a:xfrm>
          <a:prstGeom xmlns:a="http://schemas.openxmlformats.org/drawingml/2006/main" prst="rect">
            <a:avLst/>
          </a:prstGeom>
        </p:spPr>
      </p:pic>
      <p:sp>
        <p:nvSpPr>
          <p:cNvPr id="15374" name="TextBox 15373">
            <a:extLst xmlns:a="http://schemas.openxmlformats.org/drawingml/2006/main">
              <a:ext uri="{FF2B5EF4-FFF2-40B4-BE49-F238E27FC236}">
                <a16:creationId xmlns:a16="http://schemas.microsoft.com/office/drawing/2014/main" id="{0D20B979-0663-4AF1-A1D8-771CCFCF4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863" y="1097280"/>
            <a:ext cx="1237488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14683E"/>
                </a:solidFill>
                <a:latin typeface="Arial"/>
                <a:ea typeface="Arial"/>
                <a:cs typeface="Arial"/>
              </a:rPr>
              <a:t>One conversational interface: actionable insight in seconds</a:t>
            </a:r>
          </a:p>
        </p:txBody>
      </p:sp>
      <p:sp>
        <p:nvSpPr>
          <p:cNvPr id="15375" name="Rounded Rectangle 15374">
            <a:extLst xmlns:a="http://schemas.openxmlformats.org/drawingml/2006/main">
              <a:ext uri="{FF2B5EF4-FFF2-40B4-BE49-F238E27FC236}">
                <a16:creationId xmlns:a16="http://schemas.microsoft.com/office/drawing/2014/main" id="{6DAD510D-87B7-4617-AC76-CA015AB49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5944" y="1097280"/>
            <a:ext cx="1627632" cy="640080"/>
          </a:xfrm>
          <a:prstGeom xmlns:a="http://schemas.openxmlformats.org/drawingml/2006/main" prst="roundRect">
            <a:avLst>
              <a:gd name="adj" fmla="val 14285"/>
            </a:avLst>
          </a:prstGeom>
          <a:solidFill xmlns:a="http://schemas.openxmlformats.org/drawingml/2006/main">
            <a:srgbClr val="FDE9E7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5376" name="Oval 15375">
            <a:extLst xmlns:a="http://schemas.openxmlformats.org/drawingml/2006/main">
              <a:ext uri="{FF2B5EF4-FFF2-40B4-BE49-F238E27FC236}">
                <a16:creationId xmlns:a16="http://schemas.microsoft.com/office/drawing/2014/main" id="{EB81077D-C999-4E1D-B928-26BFAE15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1664" y="1152144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23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607" name="Picture 1537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a4b2c1979d42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85979" y="1206459"/>
            <a:ext cx="92537" cy="92537"/>
          </a:xfrm>
          <a:prstGeom xmlns:a="http://schemas.openxmlformats.org/drawingml/2006/main" prst="rect">
            <a:avLst/>
          </a:prstGeom>
        </p:spPr>
      </p:pic>
      <p:sp>
        <p:nvSpPr>
          <p:cNvPr id="15378" name="TextBox 15377">
            <a:extLst xmlns:a="http://schemas.openxmlformats.org/drawingml/2006/main">
              <a:ext uri="{FF2B5EF4-FFF2-40B4-BE49-F238E27FC236}">
                <a16:creationId xmlns:a16="http://schemas.microsoft.com/office/drawing/2014/main" id="{179FBE6A-6E10-4937-A3EB-C5745060B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0264" y="1097280"/>
            <a:ext cx="1335024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Generic AI chatbots invent forecasts, even warnings</a:t>
            </a:r>
          </a:p>
        </p:txBody>
      </p:sp>
      <p:sp>
        <p:nvSpPr>
          <p:cNvPr id="15379" name="Isosceles Triangle 15378">
            <a:extLst xmlns:a="http://schemas.openxmlformats.org/drawingml/2006/main">
              <a:ext uri="{FF2B5EF4-FFF2-40B4-BE49-F238E27FC236}">
                <a16:creationId xmlns:a16="http://schemas.microsoft.com/office/drawing/2014/main" id="{78BE64BA-0F5E-4912-8B88-4F662023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531864" y="1353311"/>
            <a:ext cx="128016" cy="128016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B2239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5380" name="Rounded Rectangle 15379">
            <a:extLst xmlns:a="http://schemas.openxmlformats.org/drawingml/2006/main">
              <a:ext uri="{FF2B5EF4-FFF2-40B4-BE49-F238E27FC236}">
                <a16:creationId xmlns:a16="http://schemas.microsoft.com/office/drawing/2014/main" id="{BC75478F-710D-4A2E-8C29-D151058BC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7312" y="1097280"/>
            <a:ext cx="1648968" cy="640080"/>
          </a:xfrm>
          <a:prstGeom xmlns:a="http://schemas.openxmlformats.org/drawingml/2006/main" prst="roundRect">
            <a:avLst>
              <a:gd name="adj" fmla="val 14285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5381" name="Oval 15380">
            <a:extLst xmlns:a="http://schemas.openxmlformats.org/drawingml/2006/main">
              <a:ext uri="{FF2B5EF4-FFF2-40B4-BE49-F238E27FC236}">
                <a16:creationId xmlns:a16="http://schemas.microsoft.com/office/drawing/2014/main" id="{2617DD79-64E6-45FD-B76A-9CC0A31F1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3032" y="1271016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612" name="Picture 1538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58ade7d51a41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97405" y="1335389"/>
            <a:ext cx="163860" cy="163860"/>
          </a:xfrm>
          <a:prstGeom xmlns:a="http://schemas.openxmlformats.org/drawingml/2006/main" prst="rect">
            <a:avLst/>
          </a:prstGeom>
        </p:spPr>
      </p:pic>
      <p:sp>
        <p:nvSpPr>
          <p:cNvPr id="15383" name="TextBox 15382">
            <a:extLst xmlns:a="http://schemas.openxmlformats.org/drawingml/2006/main">
              <a:ext uri="{FF2B5EF4-FFF2-40B4-BE49-F238E27FC236}">
                <a16:creationId xmlns:a16="http://schemas.microsoft.com/office/drawing/2014/main" id="{689A5896-8B4F-4645-8219-B71038A78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2216" y="1097280"/>
            <a:ext cx="1237488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14683E"/>
                </a:solidFill>
                <a:latin typeface="Arial"/>
                <a:ea typeface="Arial"/>
                <a:cs typeface="Arial"/>
              </a:rPr>
              <a:t>Grounded: values checked against source records</a:t>
            </a:r>
          </a:p>
        </p:txBody>
      </p:sp>
      <p:sp>
        <p:nvSpPr>
          <p:cNvPr id="15384" name="Rounded Rectangle 15383">
            <a:extLst xmlns:a="http://schemas.openxmlformats.org/drawingml/2006/main">
              <a:ext uri="{FF2B5EF4-FFF2-40B4-BE49-F238E27FC236}">
                <a16:creationId xmlns:a16="http://schemas.microsoft.com/office/drawing/2014/main" id="{EFB9746E-4AD5-43B6-9F00-336DD08FC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4296" y="1097280"/>
            <a:ext cx="1627632" cy="640080"/>
          </a:xfrm>
          <a:prstGeom xmlns:a="http://schemas.openxmlformats.org/drawingml/2006/main" prst="roundRect">
            <a:avLst>
              <a:gd name="adj" fmla="val 14285"/>
            </a:avLst>
          </a:prstGeom>
          <a:solidFill xmlns:a="http://schemas.openxmlformats.org/drawingml/2006/main">
            <a:srgbClr val="FDE9E7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5385" name="Oval 15384">
            <a:extLst xmlns:a="http://schemas.openxmlformats.org/drawingml/2006/main">
              <a:ext uri="{FF2B5EF4-FFF2-40B4-BE49-F238E27FC236}">
                <a16:creationId xmlns:a16="http://schemas.microsoft.com/office/drawing/2014/main" id="{E5E0C72E-0C90-4BB6-9C35-9E9C5F91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0016" y="1152144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23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616" name="Picture 1538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a4b2c1979d42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64331" y="1206459"/>
            <a:ext cx="92537" cy="92537"/>
          </a:xfrm>
          <a:prstGeom xmlns:a="http://schemas.openxmlformats.org/drawingml/2006/main" prst="rect">
            <a:avLst/>
          </a:prstGeom>
        </p:spPr>
      </p:pic>
      <p:sp>
        <p:nvSpPr>
          <p:cNvPr id="15387" name="TextBox 15386">
            <a:extLst xmlns:a="http://schemas.openxmlformats.org/drawingml/2006/main">
              <a:ext uri="{FF2B5EF4-FFF2-40B4-BE49-F238E27FC236}">
                <a16:creationId xmlns:a16="http://schemas.microsoft.com/office/drawing/2014/main" id="{5C7D8560-BF4F-45C3-98B8-A2C2A7D63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8616" y="1097280"/>
            <a:ext cx="1335024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English-only, text-heavy portals shut out rural India</a:t>
            </a:r>
          </a:p>
        </p:txBody>
      </p:sp>
      <p:sp>
        <p:nvSpPr>
          <p:cNvPr id="15388" name="Isosceles Triangle 15387">
            <a:extLst xmlns:a="http://schemas.openxmlformats.org/drawingml/2006/main">
              <a:ext uri="{FF2B5EF4-FFF2-40B4-BE49-F238E27FC236}">
                <a16:creationId xmlns:a16="http://schemas.microsoft.com/office/drawing/2014/main" id="{2DD31122-4D16-43E1-92C1-44D35AB28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0110216" y="1353311"/>
            <a:ext cx="128016" cy="128016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B2239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5389" name="Rounded Rectangle 15388">
            <a:extLst xmlns:a="http://schemas.openxmlformats.org/drawingml/2006/main">
              <a:ext uri="{FF2B5EF4-FFF2-40B4-BE49-F238E27FC236}">
                <a16:creationId xmlns:a16="http://schemas.microsoft.com/office/drawing/2014/main" id="{776EB39B-6A60-495D-9842-88422227C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5664" y="1097280"/>
            <a:ext cx="1648968" cy="640080"/>
          </a:xfrm>
          <a:prstGeom xmlns:a="http://schemas.openxmlformats.org/drawingml/2006/main" prst="roundRect">
            <a:avLst>
              <a:gd name="adj" fmla="val 14285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5390" name="Oval 15389">
            <a:extLst xmlns:a="http://schemas.openxmlformats.org/drawingml/2006/main">
              <a:ext uri="{FF2B5EF4-FFF2-40B4-BE49-F238E27FC236}">
                <a16:creationId xmlns:a16="http://schemas.microsoft.com/office/drawing/2014/main" id="{13BFB895-5EDA-4495-8949-44A2A0551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1384" y="1271016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621" name="Picture 1539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3336883f8c4e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375757" y="1335389"/>
            <a:ext cx="163860" cy="163860"/>
          </a:xfrm>
          <a:prstGeom xmlns:a="http://schemas.openxmlformats.org/drawingml/2006/main" prst="rect">
            <a:avLst/>
          </a:prstGeom>
        </p:spPr>
      </p:pic>
      <p:sp>
        <p:nvSpPr>
          <p:cNvPr id="15392" name="TextBox 15391">
            <a:extLst xmlns:a="http://schemas.openxmlformats.org/drawingml/2006/main">
              <a:ext uri="{FF2B5EF4-FFF2-40B4-BE49-F238E27FC236}">
                <a16:creationId xmlns:a16="http://schemas.microsoft.com/office/drawing/2014/main" id="{38F4200F-3ADD-4A04-825F-AFEBA4373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0568" y="1097280"/>
            <a:ext cx="1237488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14683E"/>
                </a:solidFill>
                <a:latin typeface="Arial"/>
                <a:ea typeface="Arial"/>
                <a:cs typeface="Arial"/>
              </a:rPr>
              <a:t>Indian-language answers &amp; voice input; acceptance ongoing</a:t>
            </a:r>
          </a:p>
        </p:txBody>
      </p:sp>
      <p:sp>
        <p:nvSpPr>
          <p:cNvPr id="15393" name="Rounded Rectangle 15392">
            <a:extLst xmlns:a="http://schemas.openxmlformats.org/drawingml/2006/main">
              <a:ext uri="{FF2B5EF4-FFF2-40B4-BE49-F238E27FC236}">
                <a16:creationId xmlns:a16="http://schemas.microsoft.com/office/drawing/2014/main" id="{3EEC1B95-9EA0-4944-9973-72CD343DD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792224"/>
            <a:ext cx="2194560" cy="4242816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B2239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5394" name="Rounded Rectangle 15393">
            <a:extLst xmlns:a="http://schemas.openxmlformats.org/drawingml/2006/main">
              <a:ext uri="{FF2B5EF4-FFF2-40B4-BE49-F238E27FC236}">
                <a16:creationId xmlns:a16="http://schemas.microsoft.com/office/drawing/2014/main" id="{76E1E1FF-EBE2-45FB-9B08-24997AFFA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" y="1874519"/>
            <a:ext cx="2029967" cy="4078224"/>
          </a:xfrm>
          <a:prstGeom xmlns:a="http://schemas.openxmlformats.org/drawingml/2006/main" prst="roundRect">
            <a:avLst>
              <a:gd name="adj" fmla="val 9909"/>
            </a:avLst>
          </a:prstGeom>
          <a:gradFill xmlns:a="http://schemas.openxmlformats.org/drawingml/2006/main" rotWithShape="1">
            <a:gsLst>
              <a:gs pos="0">
                <a:srgbClr val="D6E8F7"/>
              </a:gs>
              <a:gs pos="100000">
                <a:srgbClr val="FFFFFF"/>
              </a:gs>
            </a:gsLst>
            <a:lin ang="5400000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5395" name="Rounded Rectangle 15394">
            <a:extLst xmlns:a="http://schemas.openxmlformats.org/drawingml/2006/main">
              <a:ext uri="{FF2B5EF4-FFF2-40B4-BE49-F238E27FC236}">
                <a16:creationId xmlns:a16="http://schemas.microsoft.com/office/drawing/2014/main" id="{4F320B1D-4386-4410-A179-BAAEC9065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911095"/>
            <a:ext cx="548640" cy="914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2239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626" name="Picture 1539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dceb867a6b48d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6344" y="2148839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397" name="TextBox 15396">
            <a:extLst xmlns:a="http://schemas.openxmlformats.org/drawingml/2006/main">
              <a:ext uri="{FF2B5EF4-FFF2-40B4-BE49-F238E27FC236}">
                <a16:creationId xmlns:a16="http://schemas.microsoft.com/office/drawing/2014/main" id="{BB2F0582-25E4-4DAE-B951-BE61B469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2130551"/>
            <a:ext cx="10058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0B2239"/>
                </a:solidFill>
                <a:latin typeface="Times New Roman"/>
                <a:ea typeface="Times New Roman"/>
                <a:cs typeface="Times New Roman"/>
              </a:rPr>
              <a:t>WeatherGPT</a:t>
            </a:r>
          </a:p>
        </p:txBody>
      </p:sp>
      <p:sp>
        <p:nvSpPr>
          <p:cNvPr id="15398" name="Rounded Rectangle 15397">
            <a:extLst xmlns:a="http://schemas.openxmlformats.org/drawingml/2006/main">
              <a:ext uri="{FF2B5EF4-FFF2-40B4-BE49-F238E27FC236}">
                <a16:creationId xmlns:a16="http://schemas.microsoft.com/office/drawing/2014/main" id="{CB66E186-0EDF-4E9E-A6DE-229001936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9928" y="2194559"/>
            <a:ext cx="585216" cy="201168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6E9A"/>
            </a:solidFill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1" i="0">
                <a:solidFill>
                  <a:srgbClr val="0A4F70"/>
                </a:solidFill>
                <a:latin typeface="Noto Sans Gujarati"/>
                <a:ea typeface="Noto Sans Gujarati"/>
                <a:cs typeface="Noto Sans Gujarati"/>
              </a:rPr>
              <a:t>ગુજરાતી</a:t>
            </a:r>
          </a:p>
        </p:txBody>
      </p:sp>
      <p:pic>
        <p:nvPicPr>
          <p:cNvPr id="15629" name="Picture 1539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ceef86f9e74ef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4632" y="2542032"/>
            <a:ext cx="118872" cy="118872"/>
          </a:xfrm>
          <a:prstGeom xmlns:a="http://schemas.openxmlformats.org/drawingml/2006/main" prst="rect">
            <a:avLst/>
          </a:prstGeom>
        </p:spPr>
      </p:pic>
      <p:sp>
        <p:nvSpPr>
          <p:cNvPr id="15400" name="TextBox 15399">
            <a:extLst xmlns:a="http://schemas.openxmlformats.org/drawingml/2006/main">
              <a:ext uri="{FF2B5EF4-FFF2-40B4-BE49-F238E27FC236}">
                <a16:creationId xmlns:a16="http://schemas.microsoft.com/office/drawing/2014/main" id="{C7626878-5248-4055-9D2B-12457D337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" y="2496311"/>
            <a:ext cx="14630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Surat, Gujarat</a:t>
            </a:r>
          </a:p>
        </p:txBody>
      </p:sp>
      <p:sp>
        <p:nvSpPr>
          <p:cNvPr id="15401" name="Rounded Rectangle 15400">
            <a:extLst xmlns:a="http://schemas.openxmlformats.org/drawingml/2006/main">
              <a:ext uri="{FF2B5EF4-FFF2-40B4-BE49-F238E27FC236}">
                <a16:creationId xmlns:a16="http://schemas.microsoft.com/office/drawing/2014/main" id="{EDB25E93-256E-42EB-B89D-A407A794B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799" y="2788920"/>
            <a:ext cx="1609344" cy="457200"/>
          </a:xfrm>
          <a:prstGeom xmlns:a="http://schemas.openxmlformats.org/drawingml/2006/main" prst="roundRect">
            <a:avLst>
              <a:gd name="adj" fmla="val 32000"/>
            </a:avLst>
          </a:prstGeom>
          <a:solidFill xmlns:a="http://schemas.openxmlformats.org/drawingml/2006/main">
            <a:srgbClr val="0F6E9A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632" name="Picture 1540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3336883f8c4e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0663" y="2935224"/>
            <a:ext cx="155448" cy="155448"/>
          </a:xfrm>
          <a:prstGeom xmlns:a="http://schemas.openxmlformats.org/drawingml/2006/main" prst="rect">
            <a:avLst/>
          </a:prstGeom>
        </p:spPr>
      </p:pic>
      <p:sp>
        <p:nvSpPr>
          <p:cNvPr id="15403" name="TextBox 15402">
            <a:extLst xmlns:a="http://schemas.openxmlformats.org/drawingml/2006/main">
              <a:ext uri="{FF2B5EF4-FFF2-40B4-BE49-F238E27FC236}">
                <a16:creationId xmlns:a16="http://schemas.microsoft.com/office/drawing/2014/main" id="{31C4DA56-97E0-4D36-B6B5-EEAEF3485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3" y="2788920"/>
            <a:ext cx="13533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FFFFFF"/>
                </a:solidFill>
                <a:latin typeface="Noto Sans Gujarati"/>
                <a:ea typeface="Noto Sans Gujarati"/>
                <a:cs typeface="Noto Sans Gujarati"/>
              </a:rPr>
              <a:t>કાલે સવારે સુરતમાં વરસાદ પડશે?</a:t>
            </a:r>
          </a:p>
        </p:txBody>
      </p:sp>
      <p:sp>
        <p:nvSpPr>
          <p:cNvPr id="15404" name="Rounded Rectangle 15403">
            <a:extLst xmlns:a="http://schemas.openxmlformats.org/drawingml/2006/main">
              <a:ext uri="{FF2B5EF4-FFF2-40B4-BE49-F238E27FC236}">
                <a16:creationId xmlns:a16="http://schemas.microsoft.com/office/drawing/2014/main" id="{6CB34656-1DBA-42CB-B49D-13B62E44C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" y="3355848"/>
            <a:ext cx="1847087" cy="1792224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D5E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5405" name="TextBox 15404">
            <a:extLst xmlns:a="http://schemas.openxmlformats.org/drawingml/2006/main">
              <a:ext uri="{FF2B5EF4-FFF2-40B4-BE49-F238E27FC236}">
                <a16:creationId xmlns:a16="http://schemas.microsoft.com/office/drawing/2014/main" id="{133494AD-1883-4B8A-B4F6-DA9321B9D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3401568"/>
            <a:ext cx="1371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650" b="1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FORECAST RAINFALL</a:t>
            </a:r>
          </a:p>
        </p:txBody>
      </p:sp>
      <p:sp>
        <p:nvSpPr>
          <p:cNvPr id="15406" name="TextBox 15405">
            <a:extLst xmlns:a="http://schemas.openxmlformats.org/drawingml/2006/main">
              <a:ext uri="{FF2B5EF4-FFF2-40B4-BE49-F238E27FC236}">
                <a16:creationId xmlns:a16="http://schemas.microsoft.com/office/drawing/2014/main" id="{985E9FC5-3B88-44F8-8FAA-5E348B61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38728"/>
            <a:ext cx="128016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>
                <a:solidFill>
                  <a:srgbClr val="0B2239"/>
                </a:solidFill>
                <a:latin typeface="Times New Roman"/>
                <a:ea typeface="Times New Roman"/>
                <a:cs typeface="Times New Roman"/>
              </a:rPr>
              <a:t>0.4 mm</a:t>
            </a:r>
          </a:p>
        </p:txBody>
      </p:sp>
      <p:sp>
        <p:nvSpPr>
          <p:cNvPr id="15407" name="Oval 15406">
            <a:extLst xmlns:a="http://schemas.openxmlformats.org/drawingml/2006/main">
              <a:ext uri="{FF2B5EF4-FFF2-40B4-BE49-F238E27FC236}">
                <a16:creationId xmlns:a16="http://schemas.microsoft.com/office/drawing/2014/main" id="{C5B7E0C5-FE84-40E0-B135-4E13A72D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655" y="35387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F1F3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638" name="Picture 1540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05675530914b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892807" y="3611880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5409" name="TextBox 15408">
            <a:extLst xmlns:a="http://schemas.openxmlformats.org/drawingml/2006/main">
              <a:ext uri="{FF2B5EF4-FFF2-40B4-BE49-F238E27FC236}">
                <a16:creationId xmlns:a16="http://schemas.microsoft.com/office/drawing/2014/main" id="{EE8C6C12-8B90-4B52-A4BF-411CE9992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3959352"/>
            <a:ext cx="1700783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1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સુરત · કાલે 09:30–12:30</a:t>
            </a:r>
          </a:p>
        </p:txBody>
      </p:sp>
      <p:sp>
        <p:nvSpPr>
          <p:cNvPr id="15410" name="Rounded Rectangle 15409">
            <a:extLst xmlns:a="http://schemas.openxmlformats.org/drawingml/2006/main">
              <a:ext uri="{FF2B5EF4-FFF2-40B4-BE49-F238E27FC236}">
                <a16:creationId xmlns:a16="http://schemas.microsoft.com/office/drawing/2014/main" id="{1DE6CD79-0D1D-45BD-8A71-E9614F81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" y="4206240"/>
            <a:ext cx="1664207" cy="7315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6E9A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5411" name="Rectangle 15410">
            <a:extLst xmlns:a="http://schemas.openxmlformats.org/drawingml/2006/main">
              <a:ext uri="{FF2B5EF4-FFF2-40B4-BE49-F238E27FC236}">
                <a16:creationId xmlns:a16="http://schemas.microsoft.com/office/drawing/2014/main" id="{53AF3B68-7274-4623-B671-E9AE052AE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" y="4178808"/>
            <a:ext cx="10972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239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5412" name="Rectangle 15411">
            <a:extLst xmlns:a="http://schemas.openxmlformats.org/drawingml/2006/main">
              <a:ext uri="{FF2B5EF4-FFF2-40B4-BE49-F238E27FC236}">
                <a16:creationId xmlns:a16="http://schemas.microsoft.com/office/drawing/2014/main" id="{6F9D072C-A51C-40EF-927A-08FA05C82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6113" y="4178808"/>
            <a:ext cx="10972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239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5413" name="Rectangle 15412">
            <a:extLst xmlns:a="http://schemas.openxmlformats.org/drawingml/2006/main">
              <a:ext uri="{FF2B5EF4-FFF2-40B4-BE49-F238E27FC236}">
                <a16:creationId xmlns:a16="http://schemas.microsoft.com/office/drawing/2014/main" id="{B6E23174-3CC9-4852-9A68-FAE75E2B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8217" y="4178808"/>
            <a:ext cx="10972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239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5414" name="TextBox 15413">
            <a:extLst xmlns:a="http://schemas.openxmlformats.org/drawingml/2006/main">
              <a:ext uri="{FF2B5EF4-FFF2-40B4-BE49-F238E27FC236}">
                <a16:creationId xmlns:a16="http://schemas.microsoft.com/office/drawing/2014/main" id="{FE68CE70-1D50-4266-8092-0DD90F2E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306824"/>
            <a:ext cx="54864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60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09:30</a:t>
            </a:r>
          </a:p>
        </p:txBody>
      </p:sp>
      <p:sp>
        <p:nvSpPr>
          <p:cNvPr id="15415" name="TextBox 15414">
            <a:extLst xmlns:a="http://schemas.openxmlformats.org/drawingml/2006/main">
              <a:ext uri="{FF2B5EF4-FFF2-40B4-BE49-F238E27FC236}">
                <a16:creationId xmlns:a16="http://schemas.microsoft.com/office/drawing/2014/main" id="{5C377A38-F784-4A5C-8F2A-9D05D14AA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39" y="4306824"/>
            <a:ext cx="54864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60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12:30</a:t>
            </a:r>
          </a:p>
        </p:txBody>
      </p:sp>
      <p:sp>
        <p:nvSpPr>
          <p:cNvPr id="15416" name="TextBox 15415">
            <a:extLst xmlns:a="http://schemas.openxmlformats.org/drawingml/2006/main">
              <a:ext uri="{FF2B5EF4-FFF2-40B4-BE49-F238E27FC236}">
                <a16:creationId xmlns:a16="http://schemas.microsoft.com/office/drawing/2014/main" id="{CF878062-AE8C-417D-A8CC-39FECE956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306824"/>
            <a:ext cx="932687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60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evidence covers window</a:t>
            </a:r>
          </a:p>
        </p:txBody>
      </p:sp>
      <p:sp>
        <p:nvSpPr>
          <p:cNvPr id="15417" name="Rounded Rectangle 15416">
            <a:extLst xmlns:a="http://schemas.openxmlformats.org/drawingml/2006/main">
              <a:ext uri="{FF2B5EF4-FFF2-40B4-BE49-F238E27FC236}">
                <a16:creationId xmlns:a16="http://schemas.microsoft.com/office/drawing/2014/main" id="{801FE090-75B0-4990-A8B8-7F66B5730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" y="4489704"/>
            <a:ext cx="1298448" cy="18288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5418" name="Oval 15417">
            <a:extLst xmlns:a="http://schemas.openxmlformats.org/drawingml/2006/main">
              <a:ext uri="{FF2B5EF4-FFF2-40B4-BE49-F238E27FC236}">
                <a16:creationId xmlns:a16="http://schemas.microsoft.com/office/drawing/2014/main" id="{870B1F70-939C-4CDA-956B-0E71719B8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4530852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5419" name="TextBox 15418">
            <a:extLst xmlns:a="http://schemas.openxmlformats.org/drawingml/2006/main">
              <a:ext uri="{FF2B5EF4-FFF2-40B4-BE49-F238E27FC236}">
                <a16:creationId xmlns:a16="http://schemas.microsoft.com/office/drawing/2014/main" id="{A3AADDB2-635B-4771-95FD-5BF3D1740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4489704"/>
            <a:ext cx="113385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650" b="1" i="0">
                <a:solidFill>
                  <a:srgbClr val="14683E"/>
                </a:solidFill>
                <a:latin typeface="Arial"/>
                <a:ea typeface="Arial"/>
                <a:cs typeface="Arial"/>
              </a:rPr>
              <a:t>IMD · Green: no warning</a:t>
            </a:r>
          </a:p>
        </p:txBody>
      </p:sp>
      <p:sp>
        <p:nvSpPr>
          <p:cNvPr id="15420" name="Rounded Rectangle 15419">
            <a:extLst xmlns:a="http://schemas.openxmlformats.org/drawingml/2006/main">
              <a:ext uri="{FF2B5EF4-FFF2-40B4-BE49-F238E27FC236}">
                <a16:creationId xmlns:a16="http://schemas.microsoft.com/office/drawing/2014/main" id="{FAEEDA4F-9088-4F10-828E-CBAFA96EC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4745736"/>
            <a:ext cx="1700783" cy="329184"/>
          </a:xfrm>
          <a:prstGeom xmlns:a="http://schemas.openxmlformats.org/drawingml/2006/main" prst="roundRect">
            <a:avLst>
              <a:gd name="adj" fmla="val 16666"/>
            </a:avLst>
          </a:prstGeom>
          <a:solidFill xmlns:a="http://schemas.openxmlformats.org/drawingml/2006/main">
            <a:srgbClr val="0B2239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54864" tIns="0" rIns="18288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00" b="0" i="0">
                <a:solidFill>
                  <a:srgbClr val="8AD8F5"/>
                </a:solidFill>
                <a:latin typeface="Courier New"/>
                <a:ea typeface="Courier New"/>
                <a:cs typeface="Courier New"/>
              </a:rPr>
              <a:t>PRAMAAN · GFS 12Z · f+18–21 h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00" b="0" i="0">
                <a:solidFill>
                  <a:srgbClr val="8AD8F5"/>
                </a:solidFill>
                <a:latin typeface="Courier New"/>
                <a:ea typeface="Courier New"/>
                <a:cs typeface="Courier New"/>
              </a:rPr>
              <a:t>cell 21.25N 72.75E · 23:03 IST</a:t>
            </a:r>
          </a:p>
        </p:txBody>
      </p:sp>
      <p:sp>
        <p:nvSpPr>
          <p:cNvPr id="15421" name="Rounded Rectangle 15420">
            <a:extLst xmlns:a="http://schemas.openxmlformats.org/drawingml/2006/main">
              <a:ext uri="{FF2B5EF4-FFF2-40B4-BE49-F238E27FC236}">
                <a16:creationId xmlns:a16="http://schemas.microsoft.com/office/drawing/2014/main" id="{EF8E7299-2E0B-4D2C-A7DA-CD73B33EE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" y="5239512"/>
            <a:ext cx="512064" cy="201168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6E9A"/>
            </a:solidFill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1" i="0">
                <a:solidFill>
                  <a:srgbClr val="0A4F70"/>
                </a:solidFill>
                <a:latin typeface="Noto Sans Gujarati"/>
                <a:ea typeface="Noto Sans Gujarati"/>
                <a:cs typeface="Noto Sans Gujarati"/>
              </a:rPr>
              <a:t>સાંજે?</a:t>
            </a:r>
          </a:p>
        </p:txBody>
      </p:sp>
      <p:sp>
        <p:nvSpPr>
          <p:cNvPr id="15422" name="Rounded Rectangle 15421">
            <a:extLst xmlns:a="http://schemas.openxmlformats.org/drawingml/2006/main">
              <a:ext uri="{FF2B5EF4-FFF2-40B4-BE49-F238E27FC236}">
                <a16:creationId xmlns:a16="http://schemas.microsoft.com/office/drawing/2014/main" id="{B86FD1DF-5606-4B83-81B1-A9D839AC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983" y="5239512"/>
            <a:ext cx="841248" cy="201168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6E9A"/>
            </a:solidFill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1" i="0">
                <a:solidFill>
                  <a:srgbClr val="0A4F70"/>
                </a:solidFill>
                <a:latin typeface="Noto Sans Gujarati"/>
                <a:ea typeface="Noto Sans Gujarati"/>
                <a:cs typeface="Noto Sans Gujarati"/>
              </a:rPr>
              <a:t>કોઈ ચેતવણી?</a:t>
            </a:r>
          </a:p>
        </p:txBody>
      </p:sp>
      <p:sp>
        <p:nvSpPr>
          <p:cNvPr id="15423" name="Oval 15422">
            <a:extLst xmlns:a="http://schemas.openxmlformats.org/drawingml/2006/main">
              <a:ext uri="{FF2B5EF4-FFF2-40B4-BE49-F238E27FC236}">
                <a16:creationId xmlns:a16="http://schemas.microsoft.com/office/drawing/2014/main" id="{A7B92753-FA83-40FA-B9BE-42BC90A4F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5221224"/>
            <a:ext cx="237744" cy="2377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A0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654" name="Picture 1542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2a21b020f948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71115" y="5271516"/>
            <a:ext cx="137160" cy="137160"/>
          </a:xfrm>
          <a:prstGeom xmlns:a="http://schemas.openxmlformats.org/drawingml/2006/main" prst="rect">
            <a:avLst/>
          </a:prstGeom>
        </p:spPr>
      </p:pic>
      <p:sp>
        <p:nvSpPr>
          <p:cNvPr id="15425" name="Rounded Rectangle 15424">
            <a:extLst xmlns:a="http://schemas.openxmlformats.org/drawingml/2006/main">
              <a:ext uri="{FF2B5EF4-FFF2-40B4-BE49-F238E27FC236}">
                <a16:creationId xmlns:a16="http://schemas.microsoft.com/office/drawing/2014/main" id="{6430A0B8-330A-4119-B06D-90A9F1F5D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" y="5495544"/>
            <a:ext cx="1499615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D5E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5426" name="TextBox 15425">
            <a:extLst xmlns:a="http://schemas.openxmlformats.org/drawingml/2006/main">
              <a:ext uri="{FF2B5EF4-FFF2-40B4-BE49-F238E27FC236}">
                <a16:creationId xmlns:a16="http://schemas.microsoft.com/office/drawing/2014/main" id="{613CD877-70D1-461E-AF58-7C604D5E9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" y="5495544"/>
            <a:ext cx="1344167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0" i="0">
                <a:solidFill>
                  <a:srgbClr val="55666E"/>
                </a:solidFill>
                <a:latin typeface="Noto Sans Gujarati"/>
                <a:ea typeface="Noto Sans Gujarati"/>
                <a:cs typeface="Noto Sans Gujarati"/>
              </a:rPr>
              <a:t>તમારો પ્રશ્ન પૂછો…</a:t>
            </a:r>
          </a:p>
        </p:txBody>
      </p:sp>
      <p:sp>
        <p:nvSpPr>
          <p:cNvPr id="15427" name="Oval 15426">
            <a:extLst xmlns:a="http://schemas.openxmlformats.org/drawingml/2006/main">
              <a:ext uri="{FF2B5EF4-FFF2-40B4-BE49-F238E27FC236}">
                <a16:creationId xmlns:a16="http://schemas.microsoft.com/office/drawing/2014/main" id="{CD4B3DCC-7781-4D7C-BE95-D13208D0D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4248" y="5495544"/>
            <a:ext cx="310896" cy="3108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23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658" name="Picture 1542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3336883f8c4e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57400" y="5568696"/>
            <a:ext cx="164592" cy="164592"/>
          </a:xfrm>
          <a:prstGeom xmlns:a="http://schemas.openxmlformats.org/drawingml/2006/main" prst="rect">
            <a:avLst/>
          </a:prstGeom>
        </p:spPr>
      </p:pic>
      <p:sp>
        <p:nvSpPr>
          <p:cNvPr id="15429" name="TextBox 15428">
            <a:extLst xmlns:a="http://schemas.openxmlformats.org/drawingml/2006/main">
              <a:ext uri="{FF2B5EF4-FFF2-40B4-BE49-F238E27FC236}">
                <a16:creationId xmlns:a16="http://schemas.microsoft.com/office/drawing/2014/main" id="{7A23CB0D-E979-4C5C-A5C6-C70E0F8ED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6053328"/>
            <a:ext cx="21945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1">
                <a:solidFill>
                  <a:srgbClr val="55666E"/>
                </a:solidFill>
                <a:latin typeface="Arial"/>
                <a:ea typeface="Arial"/>
                <a:cs typeface="Arial"/>
              </a:rPr>
              <a:t>Concept screen · Gujarati in, Gujarati out</a:t>
            </a:r>
          </a:p>
        </p:txBody>
      </p:sp>
      <p:sp>
        <p:nvSpPr>
          <p:cNvPr id="15430" name="Rounded Rectangle 15429">
            <a:extLst xmlns:a="http://schemas.openxmlformats.org/drawingml/2006/main">
              <a:ext uri="{FF2B5EF4-FFF2-40B4-BE49-F238E27FC236}">
                <a16:creationId xmlns:a16="http://schemas.microsoft.com/office/drawing/2014/main" id="{FC878CE0-55D2-4FDE-BDCF-B81D421E5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1792224"/>
            <a:ext cx="9308592" cy="1975104"/>
          </a:xfrm>
          <a:prstGeom xmlns:a="http://schemas.openxmlformats.org/drawingml/2006/main" prst="roundRect">
            <a:avLst>
              <a:gd name="adj" fmla="val 55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0B2239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5431" name="TextBox 15430">
            <a:extLst xmlns:a="http://schemas.openxmlformats.org/drawingml/2006/main">
              <a:ext uri="{FF2B5EF4-FFF2-40B4-BE49-F238E27FC236}">
                <a16:creationId xmlns:a16="http://schemas.microsoft.com/office/drawing/2014/main" id="{8BC13AFF-25A8-45C4-B751-22E469379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4056" y="1819656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350" b="1" i="0">
                <a:solidFill>
                  <a:srgbClr val="0B2239"/>
                </a:solidFill>
                <a:latin typeface="Times New Roman"/>
                <a:ea typeface="Times New Roman"/>
                <a:cs typeface="Times New Roman"/>
              </a:rPr>
              <a:t>How every answer is made</a:t>
            </a:r>
          </a:p>
        </p:txBody>
      </p:sp>
      <p:sp>
        <p:nvSpPr>
          <p:cNvPr id="15432" name="Rounded Rectangle 15431">
            <a:extLst xmlns:a="http://schemas.openxmlformats.org/drawingml/2006/main">
              <a:ext uri="{FF2B5EF4-FFF2-40B4-BE49-F238E27FC236}">
                <a16:creationId xmlns:a16="http://schemas.microsoft.com/office/drawing/2014/main" id="{F9ECAFC9-EF4E-4585-AE8E-913576261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5592" y="1856231"/>
            <a:ext cx="3621024" cy="210312"/>
          </a:xfrm>
          <a:prstGeom xmlns:a="http://schemas.openxmlformats.org/drawingml/2006/main" prst="roundRect">
            <a:avLst>
              <a:gd name="adj" fmla="val 30434"/>
            </a:avLst>
          </a:prstGeom>
          <a:solidFill xmlns:a="http://schemas.openxmlformats.org/drawingml/2006/main">
            <a:srgbClr val="FFF0D1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36576" tIns="0" rIns="36576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7A4A00"/>
                </a:solidFill>
                <a:latin typeface="Arial"/>
                <a:ea typeface="Arial"/>
                <a:cs typeface="Arial"/>
              </a:rPr>
              <a:t>IMD first: warnings · nowcast · Mausamgram · stations · bulletins</a:t>
            </a:r>
          </a:p>
        </p:txBody>
      </p:sp>
      <p:sp>
        <p:nvSpPr>
          <p:cNvPr id="15433" name="Terminator 15432">
            <a:extLst xmlns:a="http://schemas.openxmlformats.org/drawingml/2006/main">
              <a:ext uri="{FF2B5EF4-FFF2-40B4-BE49-F238E27FC236}">
                <a16:creationId xmlns:a16="http://schemas.microsoft.com/office/drawing/2014/main" id="{2331E407-9FA2-4A7F-A4F9-8CB0F525B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4056" y="2368296"/>
            <a:ext cx="1042415" cy="731520"/>
          </a:xfrm>
          <a:prstGeom xmlns:a="http://schemas.openxmlformats.org/drawingml/2006/main" prst="flowChartTerminator">
            <a:avLst/>
          </a:prstGeom>
          <a:solidFill xmlns:a="http://schemas.openxmlformats.org/drawingml/2006/main">
            <a:srgbClr val="0B2239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36576" tIns="0" rIns="36576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ask</a:t>
            </a:r>
          </a:p>
          <a:p xmlns:a="http://schemas.openxmlformats.org/drawingml/2006/main"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CFE0F2"/>
                </a:solidFill>
                <a:latin typeface="Arial"/>
                <a:ea typeface="Arial"/>
                <a:cs typeface="Arial"/>
              </a:rPr>
              <a:t>text or voice · selected language paths</a:t>
            </a:r>
          </a:p>
        </p:txBody>
      </p:sp>
      <p:sp>
        <p:nvSpPr>
          <p:cNvPr id="15434" name="Connector 15433">
            <a:extLst xmlns:a="http://schemas.openxmlformats.org/drawingml/2006/main">
              <a:ext uri="{FF2B5EF4-FFF2-40B4-BE49-F238E27FC236}">
                <a16:creationId xmlns:a16="http://schemas.microsoft.com/office/drawing/2014/main" id="{46698090-B344-4829-8C92-05687C84E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6472" y="2734056"/>
            <a:ext cx="210311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0B2239"/>
            </a:solidFill>
            <a:tailEnd type="triangle" w="med" len="med"/>
          </a:ln>
        </p:spPr>
      </p:sp>
      <p:sp>
        <p:nvSpPr>
          <p:cNvPr id="15435" name="Oval 15434">
            <a:extLst xmlns:a="http://schemas.openxmlformats.org/drawingml/2006/main">
              <a:ext uri="{FF2B5EF4-FFF2-40B4-BE49-F238E27FC236}">
                <a16:creationId xmlns:a16="http://schemas.microsoft.com/office/drawing/2014/main" id="{49DADA15-B149-4358-A12C-3E786EAC4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59" y="2368296"/>
            <a:ext cx="731520" cy="731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FD1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666" name="Picture 1543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85544c28dd422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8924" y="2543860"/>
            <a:ext cx="380390" cy="380390"/>
          </a:xfrm>
          <a:prstGeom xmlns:a="http://schemas.openxmlformats.org/drawingml/2006/main" prst="rect">
            <a:avLst/>
          </a:prstGeom>
        </p:spPr>
      </p:pic>
      <p:sp>
        <p:nvSpPr>
          <p:cNvPr id="15437" name="TextBox 15436">
            <a:extLst xmlns:a="http://schemas.openxmlformats.org/drawingml/2006/main">
              <a:ext uri="{FF2B5EF4-FFF2-40B4-BE49-F238E27FC236}">
                <a16:creationId xmlns:a16="http://schemas.microsoft.com/office/drawing/2014/main" id="{FC00ACAB-7455-4322-B2C2-6879C4BF3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752" y="3118104"/>
            <a:ext cx="1316736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1 · PLAN</a:t>
            </a:r>
          </a:p>
        </p:txBody>
      </p:sp>
      <p:sp>
        <p:nvSpPr>
          <p:cNvPr id="15438" name="TextBox 15437">
            <a:extLst xmlns:a="http://schemas.openxmlformats.org/drawingml/2006/main">
              <a:ext uri="{FF2B5EF4-FFF2-40B4-BE49-F238E27FC236}">
                <a16:creationId xmlns:a16="http://schemas.microsoft.com/office/drawing/2014/main" id="{463A54B4-E99C-41B2-8E1B-188713728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752" y="3337560"/>
            <a:ext cx="131673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Contextual plan: intent, place, time, who asks</a:t>
            </a:r>
          </a:p>
        </p:txBody>
      </p:sp>
      <p:sp>
        <p:nvSpPr>
          <p:cNvPr id="15439" name="Connector 15438">
            <a:extLst xmlns:a="http://schemas.openxmlformats.org/drawingml/2006/main">
              <a:ext uri="{FF2B5EF4-FFF2-40B4-BE49-F238E27FC236}">
                <a16:creationId xmlns:a16="http://schemas.microsoft.com/office/drawing/2014/main" id="{A39A72A9-4418-4778-AE08-878B3B99C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456" y="2734056"/>
            <a:ext cx="539495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0B2239"/>
            </a:solidFill>
            <a:tailEnd type="triangle" w="med" len="med"/>
          </a:ln>
        </p:spPr>
      </p:sp>
      <p:sp>
        <p:nvSpPr>
          <p:cNvPr id="15440" name="Oval 15439">
            <a:extLst xmlns:a="http://schemas.openxmlformats.org/drawingml/2006/main">
              <a:ext uri="{FF2B5EF4-FFF2-40B4-BE49-F238E27FC236}">
                <a16:creationId xmlns:a16="http://schemas.microsoft.com/office/drawing/2014/main" id="{16EEF51C-6F1A-425A-BCCA-15BCCEBA1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7527" y="2368296"/>
            <a:ext cx="731520" cy="731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6E9A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671" name="Picture 1544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7cb916d3e54f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43092" y="2543860"/>
            <a:ext cx="380390" cy="380390"/>
          </a:xfrm>
          <a:prstGeom xmlns:a="http://schemas.openxmlformats.org/drawingml/2006/main" prst="rect">
            <a:avLst/>
          </a:prstGeom>
        </p:spPr>
      </p:pic>
      <p:sp>
        <p:nvSpPr>
          <p:cNvPr id="15442" name="TextBox 15441">
            <a:extLst xmlns:a="http://schemas.openxmlformats.org/drawingml/2006/main">
              <a:ext uri="{FF2B5EF4-FFF2-40B4-BE49-F238E27FC236}">
                <a16:creationId xmlns:a16="http://schemas.microsoft.com/office/drawing/2014/main" id="{A1FD62FD-44F5-4315-B3D3-34B60B88E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3118104"/>
            <a:ext cx="1316736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2 · RETRIEVE</a:t>
            </a:r>
          </a:p>
        </p:txBody>
      </p:sp>
      <p:sp>
        <p:nvSpPr>
          <p:cNvPr id="15443" name="TextBox 15442">
            <a:extLst xmlns:a="http://schemas.openxmlformats.org/drawingml/2006/main">
              <a:ext uri="{FF2B5EF4-FFF2-40B4-BE49-F238E27FC236}">
                <a16:creationId xmlns:a16="http://schemas.microsoft.com/office/drawing/2014/main" id="{85A5BDFE-9942-4539-B6A9-D24D6F0C8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3337560"/>
            <a:ext cx="131673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IMD first, then global models</a:t>
            </a:r>
          </a:p>
        </p:txBody>
      </p:sp>
      <p:sp>
        <p:nvSpPr>
          <p:cNvPr id="15444" name="Connector 15443">
            <a:extLst xmlns:a="http://schemas.openxmlformats.org/drawingml/2006/main">
              <a:ext uri="{FF2B5EF4-FFF2-40B4-BE49-F238E27FC236}">
                <a16:creationId xmlns:a16="http://schemas.microsoft.com/office/drawing/2014/main" id="{1D03584E-3230-4FED-9E3B-5E0CE34F8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734056"/>
            <a:ext cx="539495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0B2239"/>
            </a:solidFill>
            <a:tailEnd type="triangle" w="med" len="med"/>
          </a:ln>
        </p:spPr>
      </p:sp>
      <p:sp>
        <p:nvSpPr>
          <p:cNvPr id="15445" name="Oval 15444">
            <a:extLst xmlns:a="http://schemas.openxmlformats.org/drawingml/2006/main">
              <a:ext uri="{FF2B5EF4-FFF2-40B4-BE49-F238E27FC236}">
                <a16:creationId xmlns:a16="http://schemas.microsoft.com/office/drawing/2014/main" id="{559AA2A1-14DC-4BC0-ABB1-E89319590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368296"/>
            <a:ext cx="731520" cy="731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5BC2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676" name="Picture 1544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d6ea8c18f24d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87260" y="2543860"/>
            <a:ext cx="380390" cy="380390"/>
          </a:xfrm>
          <a:prstGeom xmlns:a="http://schemas.openxmlformats.org/drawingml/2006/main" prst="rect">
            <a:avLst/>
          </a:prstGeom>
        </p:spPr>
      </p:pic>
      <p:sp>
        <p:nvSpPr>
          <p:cNvPr id="15447" name="TextBox 15446">
            <a:extLst xmlns:a="http://schemas.openxmlformats.org/drawingml/2006/main">
              <a:ext uri="{FF2B5EF4-FFF2-40B4-BE49-F238E27FC236}">
                <a16:creationId xmlns:a16="http://schemas.microsoft.com/office/drawing/2014/main" id="{020B8223-7A4D-4F76-95DF-9253B4A01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118104"/>
            <a:ext cx="1316736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3 · WEIGH</a:t>
            </a:r>
          </a:p>
        </p:txBody>
      </p:sp>
      <p:sp>
        <p:nvSpPr>
          <p:cNvPr id="15448" name="TextBox 15447">
            <a:extLst xmlns:a="http://schemas.openxmlformats.org/drawingml/2006/main">
              <a:ext uri="{FF2B5EF4-FFF2-40B4-BE49-F238E27FC236}">
                <a16:creationId xmlns:a16="http://schemas.microsoft.com/office/drawing/2014/main" id="{DF99B933-0FA9-41BB-8EFB-BF4F20F78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337560"/>
            <a:ext cx="131673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sources compared, never averaged</a:t>
            </a:r>
          </a:p>
        </p:txBody>
      </p:sp>
      <p:sp>
        <p:nvSpPr>
          <p:cNvPr id="15449" name="Connector 15448">
            <a:extLst xmlns:a="http://schemas.openxmlformats.org/drawingml/2006/main">
              <a:ext uri="{FF2B5EF4-FFF2-40B4-BE49-F238E27FC236}">
                <a16:creationId xmlns:a16="http://schemas.microsoft.com/office/drawing/2014/main" id="{7F1A65A0-E9A9-40EB-9D7B-327534C60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2734056"/>
            <a:ext cx="539496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0B2239"/>
            </a:solidFill>
            <a:tailEnd type="triangle" w="med" len="med"/>
          </a:ln>
        </p:spPr>
      </p:sp>
      <p:sp>
        <p:nvSpPr>
          <p:cNvPr id="15450" name="Oval 15449">
            <a:extLst xmlns:a="http://schemas.openxmlformats.org/drawingml/2006/main">
              <a:ext uri="{FF2B5EF4-FFF2-40B4-BE49-F238E27FC236}">
                <a16:creationId xmlns:a16="http://schemas.microsoft.com/office/drawing/2014/main" id="{D3B0E277-7886-4A9E-80EA-A0331F34D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5864" y="2368296"/>
            <a:ext cx="731520" cy="731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681" name="Picture 1545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165e36413145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31428" y="2543860"/>
            <a:ext cx="380390" cy="380390"/>
          </a:xfrm>
          <a:prstGeom xmlns:a="http://schemas.openxmlformats.org/drawingml/2006/main" prst="rect">
            <a:avLst/>
          </a:prstGeom>
        </p:spPr>
      </p:pic>
      <p:sp>
        <p:nvSpPr>
          <p:cNvPr id="15452" name="TextBox 15451">
            <a:extLst xmlns:a="http://schemas.openxmlformats.org/drawingml/2006/main">
              <a:ext uri="{FF2B5EF4-FFF2-40B4-BE49-F238E27FC236}">
                <a16:creationId xmlns:a16="http://schemas.microsoft.com/office/drawing/2014/main" id="{565113C3-413A-41EA-A0BE-62C2FB34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3256" y="3118104"/>
            <a:ext cx="1316736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4 · COMPOSE</a:t>
            </a:r>
          </a:p>
        </p:txBody>
      </p:sp>
      <p:sp>
        <p:nvSpPr>
          <p:cNvPr id="15453" name="TextBox 15452">
            <a:extLst xmlns:a="http://schemas.openxmlformats.org/drawingml/2006/main">
              <a:ext uri="{FF2B5EF4-FFF2-40B4-BE49-F238E27FC236}">
                <a16:creationId xmlns:a16="http://schemas.microsoft.com/office/drawing/2014/main" id="{D3148670-7EE1-4708-81DF-7F306190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3256" y="3337560"/>
            <a:ext cx="131673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LLM writes from the evidence</a:t>
            </a:r>
          </a:p>
        </p:txBody>
      </p:sp>
      <p:sp>
        <p:nvSpPr>
          <p:cNvPr id="15454" name="Connector 15453">
            <a:extLst xmlns:a="http://schemas.openxmlformats.org/drawingml/2006/main">
              <a:ext uri="{FF2B5EF4-FFF2-40B4-BE49-F238E27FC236}">
                <a16:creationId xmlns:a16="http://schemas.microsoft.com/office/drawing/2014/main" id="{8AE8A241-ED01-43DB-B2E6-D8F15FBE1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734056"/>
            <a:ext cx="539496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0B2239"/>
            </a:solidFill>
            <a:tailEnd type="triangle" w="med" len="med"/>
          </a:ln>
        </p:spPr>
      </p:sp>
      <p:sp>
        <p:nvSpPr>
          <p:cNvPr id="15455" name="Oval 15454">
            <a:extLst xmlns:a="http://schemas.openxmlformats.org/drawingml/2006/main">
              <a:ext uri="{FF2B5EF4-FFF2-40B4-BE49-F238E27FC236}">
                <a16:creationId xmlns:a16="http://schemas.microsoft.com/office/drawing/2014/main" id="{42734C08-A996-4061-97B2-5B2E79B5F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0032" y="2368296"/>
            <a:ext cx="731520" cy="731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A0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686" name="Picture 1545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58ade7d51a41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75596" y="2543860"/>
            <a:ext cx="380390" cy="380390"/>
          </a:xfrm>
          <a:prstGeom xmlns:a="http://schemas.openxmlformats.org/drawingml/2006/main" prst="rect">
            <a:avLst/>
          </a:prstGeom>
        </p:spPr>
      </p:pic>
      <p:sp>
        <p:nvSpPr>
          <p:cNvPr id="15457" name="TextBox 15456">
            <a:extLst xmlns:a="http://schemas.openxmlformats.org/drawingml/2006/main">
              <a:ext uri="{FF2B5EF4-FFF2-40B4-BE49-F238E27FC236}">
                <a16:creationId xmlns:a16="http://schemas.microsoft.com/office/drawing/2014/main" id="{2702AD46-AA63-41F9-BF14-C162A6271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3118104"/>
            <a:ext cx="1316736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9A5B00"/>
                </a:solidFill>
                <a:latin typeface="Arial"/>
                <a:ea typeface="Arial"/>
                <a:cs typeface="Arial"/>
              </a:rPr>
              <a:t>5 · VERIFY</a:t>
            </a:r>
          </a:p>
        </p:txBody>
      </p:sp>
      <p:sp>
        <p:nvSpPr>
          <p:cNvPr id="15458" name="TextBox 15457">
            <a:extLst xmlns:a="http://schemas.openxmlformats.org/drawingml/2006/main">
              <a:ext uri="{FF2B5EF4-FFF2-40B4-BE49-F238E27FC236}">
                <a16:creationId xmlns:a16="http://schemas.microsoft.com/office/drawing/2014/main" id="{8374C868-88C3-4130-855E-4B9427D8C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3337560"/>
            <a:ext cx="131673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Satya Gate checks every number</a:t>
            </a:r>
          </a:p>
        </p:txBody>
      </p:sp>
      <p:sp>
        <p:nvSpPr>
          <p:cNvPr id="15459" name="Rounded Rectangle 15458">
            <a:extLst xmlns:a="http://schemas.openxmlformats.org/drawingml/2006/main">
              <a:ext uri="{FF2B5EF4-FFF2-40B4-BE49-F238E27FC236}">
                <a16:creationId xmlns:a16="http://schemas.microsoft.com/office/drawing/2014/main" id="{49F4F08D-B33D-42B8-937C-CA9F0C66F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4432" y="2331720"/>
            <a:ext cx="1472183" cy="804672"/>
          </a:xfrm>
          <a:prstGeom xmlns:a="http://schemas.openxmlformats.org/drawingml/2006/main" prst="roundRect">
            <a:avLst>
              <a:gd name="adj" fmla="val 7954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 w="12700">
            <a:solidFill>
              <a:srgbClr val="2E9E5B"/>
            </a:solidFill>
          </a:ln>
        </p:spPr>
        <p:txBody>
          <a:bodyPr xmlns:a="http://schemas.openxmlformats.org/drawingml/2006/main" wrap="square" lIns="36576" tIns="0" rIns="36576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14683E"/>
                </a:solidFill>
                <a:latin typeface="Arial"/>
                <a:ea typeface="Arial"/>
                <a:cs typeface="Arial"/>
              </a:rPr>
              <a:t>Answer + Pramaan Receipt</a:t>
            </a:r>
          </a:p>
          <a:p xmlns:a="http://schemas.openxmlformats.org/drawingml/2006/main"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Web now · Push / SMS / IVR roadmap</a:t>
            </a:r>
          </a:p>
        </p:txBody>
      </p:sp>
      <p:sp>
        <p:nvSpPr>
          <p:cNvPr id="15460" name="Connector 15459">
            <a:extLst xmlns:a="http://schemas.openxmlformats.org/drawingml/2006/main">
              <a:ext uri="{FF2B5EF4-FFF2-40B4-BE49-F238E27FC236}">
                <a16:creationId xmlns:a16="http://schemas.microsoft.com/office/drawing/2014/main" id="{15979A78-6F9C-4C2E-8745-71F64C40A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2734056"/>
            <a:ext cx="146304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0B2239"/>
            </a:solidFill>
            <a:tailEnd type="triangle" w="med" len="med"/>
          </a:ln>
        </p:spPr>
      </p:sp>
      <p:sp>
        <p:nvSpPr>
          <p:cNvPr id="15461" name="Connector 15460">
            <a:extLst xmlns:a="http://schemas.openxmlformats.org/drawingml/2006/main">
              <a:ext uri="{FF2B5EF4-FFF2-40B4-BE49-F238E27FC236}">
                <a16:creationId xmlns:a16="http://schemas.microsoft.com/office/drawing/2014/main" id="{FA66B4A7-347D-4725-8C2B-CB263C397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733288" y="2185416"/>
            <a:ext cx="0" cy="18288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97A06"/>
            </a:solidFill>
            <a:prstDash val="dash"/>
          </a:ln>
        </p:spPr>
      </p:sp>
      <p:sp>
        <p:nvSpPr>
          <p:cNvPr id="15462" name="Connector 15461">
            <a:extLst xmlns:a="http://schemas.openxmlformats.org/drawingml/2006/main">
              <a:ext uri="{FF2B5EF4-FFF2-40B4-BE49-F238E27FC236}">
                <a16:creationId xmlns:a16="http://schemas.microsoft.com/office/drawing/2014/main" id="{AD0875D3-D3B6-4CC5-91AC-072AD8D8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4389120" y="2185416"/>
            <a:ext cx="1344168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97A06"/>
            </a:solidFill>
            <a:prstDash val="dash"/>
          </a:ln>
        </p:spPr>
      </p:sp>
      <p:sp>
        <p:nvSpPr>
          <p:cNvPr id="15463" name="Connector 15462">
            <a:extLst xmlns:a="http://schemas.openxmlformats.org/drawingml/2006/main">
              <a:ext uri="{FF2B5EF4-FFF2-40B4-BE49-F238E27FC236}">
                <a16:creationId xmlns:a16="http://schemas.microsoft.com/office/drawing/2014/main" id="{7C1231CC-FECE-4029-AC2A-4D4D330DD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2185416"/>
            <a:ext cx="0" cy="18288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97A06"/>
            </a:solidFill>
            <a:prstDash val="dash"/>
            <a:tailEnd type="triangle" w="med" len="med"/>
          </a:ln>
        </p:spPr>
      </p:sp>
      <p:sp>
        <p:nvSpPr>
          <p:cNvPr id="15464" name="Rounded Rectangle 15463">
            <a:extLst xmlns:a="http://schemas.openxmlformats.org/drawingml/2006/main">
              <a:ext uri="{FF2B5EF4-FFF2-40B4-BE49-F238E27FC236}">
                <a16:creationId xmlns:a16="http://schemas.microsoft.com/office/drawing/2014/main" id="{47642CA1-C8F7-4640-B1CC-BC70CB494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4276" y="2084832"/>
            <a:ext cx="1133856" cy="201168"/>
          </a:xfrm>
          <a:prstGeom xmlns:a="http://schemas.openxmlformats.org/drawingml/2006/main" prst="roundRect">
            <a:avLst>
              <a:gd name="adj" fmla="val 31818"/>
            </a:avLst>
          </a:prstGeom>
          <a:solidFill xmlns:a="http://schemas.openxmlformats.org/drawingml/2006/main">
            <a:srgbClr val="FFF0D1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36576" tIns="0" rIns="36576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7A4A00"/>
                </a:solidFill>
                <a:latin typeface="Arial"/>
                <a:ea typeface="Arial"/>
                <a:cs typeface="Arial"/>
              </a:rPr>
              <a:t>empty? re-plan once</a:t>
            </a:r>
          </a:p>
        </p:txBody>
      </p:sp>
      <p:sp>
        <p:nvSpPr>
          <p:cNvPr id="15465" name="Connector 15464">
            <a:extLst xmlns:a="http://schemas.openxmlformats.org/drawingml/2006/main">
              <a:ext uri="{FF2B5EF4-FFF2-40B4-BE49-F238E27FC236}">
                <a16:creationId xmlns:a16="http://schemas.microsoft.com/office/drawing/2014/main" id="{6091B2C0-ADD5-4A92-A5C6-0461072A7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765792" y="2185416"/>
            <a:ext cx="0" cy="18288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1423F"/>
            </a:solidFill>
            <a:prstDash val="dash"/>
          </a:ln>
        </p:spPr>
      </p:sp>
      <p:sp>
        <p:nvSpPr>
          <p:cNvPr id="15466" name="Connector 15465">
            <a:extLst xmlns:a="http://schemas.openxmlformats.org/drawingml/2006/main">
              <a:ext uri="{FF2B5EF4-FFF2-40B4-BE49-F238E27FC236}">
                <a16:creationId xmlns:a16="http://schemas.microsoft.com/office/drawing/2014/main" id="{4A54301C-EA0E-4A50-8314-43D6AB22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8421624" y="2185416"/>
            <a:ext cx="1344168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1423F"/>
            </a:solidFill>
            <a:prstDash val="dash"/>
          </a:ln>
        </p:spPr>
      </p:sp>
      <p:sp>
        <p:nvSpPr>
          <p:cNvPr id="15467" name="Connector 15466">
            <a:extLst xmlns:a="http://schemas.openxmlformats.org/drawingml/2006/main">
              <a:ext uri="{FF2B5EF4-FFF2-40B4-BE49-F238E27FC236}">
                <a16:creationId xmlns:a16="http://schemas.microsoft.com/office/drawing/2014/main" id="{A398B0B6-74E1-4B26-B81F-D74FBF070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1624" y="2185416"/>
            <a:ext cx="0" cy="18288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1423F"/>
            </a:solidFill>
            <a:prstDash val="dash"/>
            <a:tailEnd type="triangle" w="med" len="med"/>
          </a:ln>
        </p:spPr>
      </p:sp>
      <p:sp>
        <p:nvSpPr>
          <p:cNvPr id="15468" name="Rounded Rectangle 15467">
            <a:extLst xmlns:a="http://schemas.openxmlformats.org/drawingml/2006/main">
              <a:ext uri="{FF2B5EF4-FFF2-40B4-BE49-F238E27FC236}">
                <a16:creationId xmlns:a16="http://schemas.microsoft.com/office/drawing/2014/main" id="{4A2EA6D8-103C-4F4C-AAD2-E2BC536D6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6780" y="2084832"/>
            <a:ext cx="1133856" cy="201168"/>
          </a:xfrm>
          <a:prstGeom xmlns:a="http://schemas.openxmlformats.org/drawingml/2006/main" prst="roundRect">
            <a:avLst>
              <a:gd name="adj" fmla="val 31818"/>
            </a:avLst>
          </a:prstGeom>
          <a:solidFill xmlns:a="http://schemas.openxmlformats.org/drawingml/2006/main">
            <a:srgbClr val="FDE9E7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36576" tIns="0" rIns="36576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8A1C1C"/>
                </a:solidFill>
                <a:latin typeface="Arial"/>
                <a:ea typeface="Arial"/>
                <a:cs typeface="Arial"/>
              </a:rPr>
              <a:t>fails? re-compose</a:t>
            </a:r>
          </a:p>
        </p:txBody>
      </p:sp>
      <p:sp>
        <p:nvSpPr>
          <p:cNvPr id="15469" name="Rounded Rectangle 15468">
            <a:extLst xmlns:a="http://schemas.openxmlformats.org/drawingml/2006/main">
              <a:ext uri="{FF2B5EF4-FFF2-40B4-BE49-F238E27FC236}">
                <a16:creationId xmlns:a16="http://schemas.microsoft.com/office/drawing/2014/main" id="{3BC2B52A-5A08-4ECA-8A4B-064205436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840480"/>
            <a:ext cx="9308592" cy="292608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F6E9A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420624" tIns="0" rIns="73152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Proposed Solution: seven modules, one conversation</a:t>
            </a:r>
          </a:p>
        </p:txBody>
      </p:sp>
      <p:pic>
        <p:nvPicPr>
          <p:cNvPr id="15700" name="Picture 1546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99ed6e65ef41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15768" y="3877056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15471" name="Rounded Rectangle 15470">
            <a:extLst xmlns:a="http://schemas.openxmlformats.org/drawingml/2006/main">
              <a:ext uri="{FF2B5EF4-FFF2-40B4-BE49-F238E27FC236}">
                <a16:creationId xmlns:a16="http://schemas.microsoft.com/office/drawing/2014/main" id="{72FA6B5B-61AB-442F-910E-DF148D86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187952"/>
            <a:ext cx="1267097" cy="9144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C5D5E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5472" name="Oval 15471">
            <a:extLst xmlns:a="http://schemas.openxmlformats.org/drawingml/2006/main">
              <a:ext uri="{FF2B5EF4-FFF2-40B4-BE49-F238E27FC236}">
                <a16:creationId xmlns:a16="http://schemas.microsoft.com/office/drawing/2014/main" id="{2BBB83A2-DF52-4F0D-A7CB-0DF39B61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6708" y="423367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6E9A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703" name="Picture 1547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7cb916d3e54f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29860" y="4306824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15474" name="TextBox 15473">
            <a:extLst xmlns:a="http://schemas.openxmlformats.org/drawingml/2006/main">
              <a:ext uri="{FF2B5EF4-FFF2-40B4-BE49-F238E27FC236}">
                <a16:creationId xmlns:a16="http://schemas.microsoft.com/office/drawing/2014/main" id="{8ADF91DB-C0A7-475B-8D3B-8717255E4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4617720"/>
            <a:ext cx="1212233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0F6E9A"/>
                </a:solidFill>
                <a:latin typeface="Arial"/>
                <a:ea typeface="Arial"/>
                <a:cs typeface="Arial"/>
              </a:rPr>
              <a:t>Mausam Setu</a:t>
            </a:r>
          </a:p>
        </p:txBody>
      </p:sp>
      <p:sp>
        <p:nvSpPr>
          <p:cNvPr id="15475" name="TextBox 15474">
            <a:extLst xmlns:a="http://schemas.openxmlformats.org/drawingml/2006/main">
              <a:ext uri="{FF2B5EF4-FFF2-40B4-BE49-F238E27FC236}">
                <a16:creationId xmlns:a16="http://schemas.microsoft.com/office/drawing/2014/main" id="{B723B5D8-1437-4BFB-B63C-806220373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4818888"/>
            <a:ext cx="1175657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IMD-first real-time data</a:t>
            </a:r>
          </a:p>
        </p:txBody>
      </p:sp>
      <p:sp>
        <p:nvSpPr>
          <p:cNvPr id="15476" name="Rounded Rectangle 15475">
            <a:extLst xmlns:a="http://schemas.openxmlformats.org/drawingml/2006/main">
              <a:ext uri="{FF2B5EF4-FFF2-40B4-BE49-F238E27FC236}">
                <a16:creationId xmlns:a16="http://schemas.microsoft.com/office/drawing/2014/main" id="{4EED84DA-BE8E-4F90-A78B-50C1D7B3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6289" y="4187952"/>
            <a:ext cx="1267097" cy="9144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C5D5E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5477" name="Oval 15476">
            <a:extLst xmlns:a="http://schemas.openxmlformats.org/drawingml/2006/main">
              <a:ext uri="{FF2B5EF4-FFF2-40B4-BE49-F238E27FC236}">
                <a16:creationId xmlns:a16="http://schemas.microsoft.com/office/drawing/2014/main" id="{15456315-B0FA-45C3-B7EB-EBF3107EF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957" y="423367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239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708" name="Picture 1547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58ade7d51a41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70109" y="4306824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15479" name="TextBox 15478">
            <a:extLst xmlns:a="http://schemas.openxmlformats.org/drawingml/2006/main">
              <a:ext uri="{FF2B5EF4-FFF2-40B4-BE49-F238E27FC236}">
                <a16:creationId xmlns:a16="http://schemas.microsoft.com/office/drawing/2014/main" id="{777A1580-0EF1-4375-A6DA-DCF76D7E9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3721" y="4617720"/>
            <a:ext cx="1212233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Satya Gate</a:t>
            </a:r>
          </a:p>
        </p:txBody>
      </p:sp>
      <p:sp>
        <p:nvSpPr>
          <p:cNvPr id="15480" name="TextBox 15479">
            <a:extLst xmlns:a="http://schemas.openxmlformats.org/drawingml/2006/main">
              <a:ext uri="{FF2B5EF4-FFF2-40B4-BE49-F238E27FC236}">
                <a16:creationId xmlns:a16="http://schemas.microsoft.com/office/drawing/2014/main" id="{096437DF-7016-4B51-A8E8-0EB648638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2009" y="4818888"/>
            <a:ext cx="1175657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evidence-bound value checks</a:t>
            </a:r>
          </a:p>
        </p:txBody>
      </p:sp>
      <p:sp>
        <p:nvSpPr>
          <p:cNvPr id="15481" name="Rounded Rectangle 15480">
            <a:extLst xmlns:a="http://schemas.openxmlformats.org/drawingml/2006/main">
              <a:ext uri="{FF2B5EF4-FFF2-40B4-BE49-F238E27FC236}">
                <a16:creationId xmlns:a16="http://schemas.microsoft.com/office/drawing/2014/main" id="{15ADBEDC-E0F8-4C1A-BBDD-5CE790DC6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538" y="4187952"/>
            <a:ext cx="1267097" cy="9144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C5D5E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5482" name="Oval 15481">
            <a:extLst xmlns:a="http://schemas.openxmlformats.org/drawingml/2006/main">
              <a:ext uri="{FF2B5EF4-FFF2-40B4-BE49-F238E27FC236}">
                <a16:creationId xmlns:a16="http://schemas.microsoft.com/office/drawing/2014/main" id="{9B083D7A-D16D-4709-8190-BB2EE30AE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7206" y="423367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FD1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713" name="Picture 1548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6de5d2227a46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10358" y="4306824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15484" name="TextBox 15483">
            <a:extLst xmlns:a="http://schemas.openxmlformats.org/drawingml/2006/main">
              <a:ext uri="{FF2B5EF4-FFF2-40B4-BE49-F238E27FC236}">
                <a16:creationId xmlns:a16="http://schemas.microsoft.com/office/drawing/2014/main" id="{4C5266CE-6556-4A4C-9B23-F4F27E3DA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3970" y="4617720"/>
            <a:ext cx="1212233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3D8FD1"/>
                </a:solidFill>
                <a:latin typeface="Arial"/>
                <a:ea typeface="Arial"/>
                <a:cs typeface="Arial"/>
              </a:rPr>
              <a:t>Pramaan Receipt</a:t>
            </a:r>
          </a:p>
        </p:txBody>
      </p:sp>
      <p:sp>
        <p:nvSpPr>
          <p:cNvPr id="15485" name="TextBox 15484">
            <a:extLst xmlns:a="http://schemas.openxmlformats.org/drawingml/2006/main">
              <a:ext uri="{FF2B5EF4-FFF2-40B4-BE49-F238E27FC236}">
                <a16:creationId xmlns:a16="http://schemas.microsoft.com/office/drawing/2014/main" id="{40944644-4E70-469B-9314-17EF8FC5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2258" y="4818888"/>
            <a:ext cx="1175657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proof on every answer</a:t>
            </a:r>
          </a:p>
        </p:txBody>
      </p:sp>
      <p:sp>
        <p:nvSpPr>
          <p:cNvPr id="15486" name="Rounded Rectangle 15485">
            <a:extLst xmlns:a="http://schemas.openxmlformats.org/drawingml/2006/main">
              <a:ext uri="{FF2B5EF4-FFF2-40B4-BE49-F238E27FC236}">
                <a16:creationId xmlns:a16="http://schemas.microsoft.com/office/drawing/2014/main" id="{B3D64853-AD69-449A-B912-57263636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6787" y="4187952"/>
            <a:ext cx="1267097" cy="9144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C5D5E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5487" name="Oval 15486">
            <a:extLst xmlns:a="http://schemas.openxmlformats.org/drawingml/2006/main">
              <a:ext uri="{FF2B5EF4-FFF2-40B4-BE49-F238E27FC236}">
                <a16:creationId xmlns:a16="http://schemas.microsoft.com/office/drawing/2014/main" id="{3D3512E6-92C1-4CE3-99B0-40A66EEE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455" y="423367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23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718" name="Picture 1548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3336883f8c4e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50607" y="4306824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15489" name="TextBox 15488">
            <a:extLst xmlns:a="http://schemas.openxmlformats.org/drawingml/2006/main">
              <a:ext uri="{FF2B5EF4-FFF2-40B4-BE49-F238E27FC236}">
                <a16:creationId xmlns:a16="http://schemas.microsoft.com/office/drawing/2014/main" id="{2C062AF1-C328-472F-80DE-8502A2865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4219" y="4617720"/>
            <a:ext cx="1212233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D1423F"/>
                </a:solidFill>
                <a:latin typeface="Arial"/>
                <a:ea typeface="Arial"/>
                <a:cs typeface="Arial"/>
              </a:rPr>
              <a:t>Vaani</a:t>
            </a:r>
          </a:p>
        </p:txBody>
      </p:sp>
      <p:sp>
        <p:nvSpPr>
          <p:cNvPr id="15490" name="TextBox 15489">
            <a:extLst xmlns:a="http://schemas.openxmlformats.org/drawingml/2006/main">
              <a:ext uri="{FF2B5EF4-FFF2-40B4-BE49-F238E27FC236}">
                <a16:creationId xmlns:a16="http://schemas.microsoft.com/office/drawing/2014/main" id="{800C17D2-9670-4BE8-B74A-4C1A8A96A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2507" y="4818888"/>
            <a:ext cx="1175657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Selected languages, voice input</a:t>
            </a:r>
          </a:p>
        </p:txBody>
      </p:sp>
      <p:sp>
        <p:nvSpPr>
          <p:cNvPr id="15491" name="Rounded Rectangle 15490">
            <a:extLst xmlns:a="http://schemas.openxmlformats.org/drawingml/2006/main">
              <a:ext uri="{FF2B5EF4-FFF2-40B4-BE49-F238E27FC236}">
                <a16:creationId xmlns:a16="http://schemas.microsoft.com/office/drawing/2014/main" id="{15BE6E40-D26E-4592-8A07-2FBDEC41A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7036" y="4187952"/>
            <a:ext cx="1267097" cy="9144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C5D5E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5492" name="Oval 15491">
            <a:extLst xmlns:a="http://schemas.openxmlformats.org/drawingml/2006/main">
              <a:ext uri="{FF2B5EF4-FFF2-40B4-BE49-F238E27FC236}">
                <a16:creationId xmlns:a16="http://schemas.microsoft.com/office/drawing/2014/main" id="{C871E565-10EF-4D28-B371-513099140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7705" y="423367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A0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723" name="Picture 1549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754093f3fc4a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90857" y="4306824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15494" name="TextBox 15493">
            <a:extLst xmlns:a="http://schemas.openxmlformats.org/drawingml/2006/main">
              <a:ext uri="{FF2B5EF4-FFF2-40B4-BE49-F238E27FC236}">
                <a16:creationId xmlns:a16="http://schemas.microsoft.com/office/drawing/2014/main" id="{5F91EB07-61AD-4D1B-8AE7-7CB1850EA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468" y="4617720"/>
            <a:ext cx="1212233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D97A06"/>
                </a:solidFill>
                <a:latin typeface="Arial"/>
                <a:ea typeface="Arial"/>
                <a:cs typeface="Arial"/>
              </a:rPr>
              <a:t>Chetavani Relay</a:t>
            </a:r>
          </a:p>
        </p:txBody>
      </p:sp>
      <p:sp>
        <p:nvSpPr>
          <p:cNvPr id="15495" name="TextBox 15494">
            <a:extLst xmlns:a="http://schemas.openxmlformats.org/drawingml/2006/main">
              <a:ext uri="{FF2B5EF4-FFF2-40B4-BE49-F238E27FC236}">
                <a16:creationId xmlns:a16="http://schemas.microsoft.com/office/drawing/2014/main" id="{9AD529F0-705C-4084-BA75-0A066B61E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2756" y="4818888"/>
            <a:ext cx="1175657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early warning dissemination</a:t>
            </a:r>
          </a:p>
        </p:txBody>
      </p:sp>
      <p:sp>
        <p:nvSpPr>
          <p:cNvPr id="15496" name="Rounded Rectangle 15495">
            <a:extLst xmlns:a="http://schemas.openxmlformats.org/drawingml/2006/main">
              <a:ext uri="{FF2B5EF4-FFF2-40B4-BE49-F238E27FC236}">
                <a16:creationId xmlns:a16="http://schemas.microsoft.com/office/drawing/2014/main" id="{F38B950C-A01B-4470-A8BD-E23DDD750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7285" y="4187952"/>
            <a:ext cx="1267097" cy="9144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C5D5E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5497" name="Oval 15496">
            <a:extLst xmlns:a="http://schemas.openxmlformats.org/drawingml/2006/main">
              <a:ext uri="{FF2B5EF4-FFF2-40B4-BE49-F238E27FC236}">
                <a16:creationId xmlns:a16="http://schemas.microsoft.com/office/drawing/2014/main" id="{F764CD21-0C3E-45B2-81FA-2F1A06FF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7954" y="423367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728" name="Picture 1549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f67172c2f44d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831106" y="4306824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15499" name="TextBox 15498">
            <a:extLst xmlns:a="http://schemas.openxmlformats.org/drawingml/2006/main">
              <a:ext uri="{FF2B5EF4-FFF2-40B4-BE49-F238E27FC236}">
                <a16:creationId xmlns:a16="http://schemas.microsoft.com/office/drawing/2014/main" id="{5BA9143D-365F-4CF6-9188-1FAA6BCD0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717" y="4617720"/>
            <a:ext cx="1212233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2E9E5B"/>
                </a:solidFill>
                <a:latin typeface="Arial"/>
                <a:ea typeface="Arial"/>
                <a:cs typeface="Arial"/>
              </a:rPr>
              <a:t>Krishi Salah</a:t>
            </a:r>
          </a:p>
        </p:txBody>
      </p:sp>
      <p:sp>
        <p:nvSpPr>
          <p:cNvPr id="15500" name="TextBox 15499">
            <a:extLst xmlns:a="http://schemas.openxmlformats.org/drawingml/2006/main">
              <a:ext uri="{FF2B5EF4-FFF2-40B4-BE49-F238E27FC236}">
                <a16:creationId xmlns:a16="http://schemas.microsoft.com/office/drawing/2014/main" id="{AF696D4B-BEA6-48C2-95A9-B4028E99D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005" y="4818888"/>
            <a:ext cx="1175657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location-based advisory</a:t>
            </a:r>
          </a:p>
        </p:txBody>
      </p:sp>
      <p:sp>
        <p:nvSpPr>
          <p:cNvPr id="15501" name="Rounded Rectangle 15500">
            <a:extLst xmlns:a="http://schemas.openxmlformats.org/drawingml/2006/main">
              <a:ext uri="{FF2B5EF4-FFF2-40B4-BE49-F238E27FC236}">
                <a16:creationId xmlns:a16="http://schemas.microsoft.com/office/drawing/2014/main" id="{E70CAA76-200D-4B68-BD99-ADA016494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7534" y="4187952"/>
            <a:ext cx="1267097" cy="9144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C5D5E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5502" name="Oval 15501">
            <a:extLst xmlns:a="http://schemas.openxmlformats.org/drawingml/2006/main">
              <a:ext uri="{FF2B5EF4-FFF2-40B4-BE49-F238E27FC236}">
                <a16:creationId xmlns:a16="http://schemas.microsoft.com/office/drawing/2014/main" id="{3B95FDAD-6AB4-40D5-92D9-5F0ECEB8A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8203" y="423367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5BC2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733" name="Picture 1550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1db5fd69c243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171355" y="4306824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15504" name="TextBox 15503">
            <a:extLst xmlns:a="http://schemas.openxmlformats.org/drawingml/2006/main">
              <a:ext uri="{FF2B5EF4-FFF2-40B4-BE49-F238E27FC236}">
                <a16:creationId xmlns:a16="http://schemas.microsoft.com/office/drawing/2014/main" id="{EB4CDC5C-E8DD-4C86-A008-E71F632E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74966" y="4617720"/>
            <a:ext cx="1212233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5B5BC2"/>
                </a:solidFill>
                <a:latin typeface="Arial"/>
                <a:ea typeface="Arial"/>
                <a:cs typeface="Arial"/>
              </a:rPr>
              <a:t>Jalvayu Lens</a:t>
            </a:r>
          </a:p>
        </p:txBody>
      </p:sp>
      <p:sp>
        <p:nvSpPr>
          <p:cNvPr id="15505" name="TextBox 15504">
            <a:extLst xmlns:a="http://schemas.openxmlformats.org/drawingml/2006/main">
              <a:ext uri="{FF2B5EF4-FFF2-40B4-BE49-F238E27FC236}">
                <a16:creationId xmlns:a16="http://schemas.microsoft.com/office/drawing/2014/main" id="{06067807-38F5-41AE-B536-D46E4DBFB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3254" y="4818888"/>
            <a:ext cx="1175657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climate trend &amp; historical analysis</a:t>
            </a:r>
          </a:p>
        </p:txBody>
      </p:sp>
      <p:sp>
        <p:nvSpPr>
          <p:cNvPr id="15506" name="Rounded Rectangle 15505">
            <a:extLst xmlns:a="http://schemas.openxmlformats.org/drawingml/2006/main">
              <a:ext uri="{FF2B5EF4-FFF2-40B4-BE49-F238E27FC236}">
                <a16:creationId xmlns:a16="http://schemas.microsoft.com/office/drawing/2014/main" id="{87B71772-79DD-4F93-80A4-BE1E745B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5175504"/>
            <a:ext cx="3611880" cy="274320"/>
          </a:xfrm>
          <a:prstGeom xmlns:a="http://schemas.openxmlformats.org/drawingml/2006/main" prst="roundRect">
            <a:avLst>
              <a:gd name="adj" fmla="val 23333"/>
            </a:avLst>
          </a:prstGeom>
          <a:solidFill xmlns:a="http://schemas.openxmlformats.org/drawingml/2006/main">
            <a:srgbClr val="0B2239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FFC766"/>
                </a:solidFill>
                <a:latin typeface="Arial"/>
                <a:ea typeface="Arial"/>
                <a:cs typeface="Arial"/>
              </a:rPr>
              <a:t>PS SIH26068 · ALL 8 FEATURES ADDRESSED</a:t>
            </a:r>
          </a:p>
        </p:txBody>
      </p:sp>
      <p:sp>
        <p:nvSpPr>
          <p:cNvPr id="15507" name="Rounded Rectangle 15506">
            <a:extLst xmlns:a="http://schemas.openxmlformats.org/drawingml/2006/main">
              <a:ext uri="{FF2B5EF4-FFF2-40B4-BE49-F238E27FC236}">
                <a16:creationId xmlns:a16="http://schemas.microsoft.com/office/drawing/2014/main" id="{291548F5-B388-4602-82C2-37FF25E08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5504688"/>
            <a:ext cx="861822" cy="347472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738" name="Picture 1550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db8e63cfeb40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60904" y="5609844"/>
            <a:ext cx="137160" cy="137160"/>
          </a:xfrm>
          <a:prstGeom xmlns:a="http://schemas.openxmlformats.org/drawingml/2006/main" prst="rect">
            <a:avLst/>
          </a:prstGeom>
        </p:spPr>
      </p:pic>
      <p:sp>
        <p:nvSpPr>
          <p:cNvPr id="15509" name="TextBox 15508">
            <a:extLst xmlns:a="http://schemas.openxmlformats.org/drawingml/2006/main">
              <a:ext uri="{FF2B5EF4-FFF2-40B4-BE49-F238E27FC236}">
                <a16:creationId xmlns:a16="http://schemas.microsoft.com/office/drawing/2014/main" id="{FA71119C-1740-48CB-B3DB-8AE87021C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5504688"/>
            <a:ext cx="63322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14683E"/>
                </a:solidFill>
                <a:latin typeface="Arial"/>
                <a:ea typeface="Arial"/>
                <a:cs typeface="Arial"/>
              </a:rPr>
              <a:t>Real-time</a:t>
            </a:r>
          </a:p>
        </p:txBody>
      </p:sp>
      <p:sp>
        <p:nvSpPr>
          <p:cNvPr id="15510" name="Rounded Rectangle 15509">
            <a:extLst xmlns:a="http://schemas.openxmlformats.org/drawingml/2006/main">
              <a:ext uri="{FF2B5EF4-FFF2-40B4-BE49-F238E27FC236}">
                <a16:creationId xmlns:a16="http://schemas.microsoft.com/office/drawing/2014/main" id="{5635C13E-646C-4465-A6D7-2AFC48C09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2726" y="5504688"/>
            <a:ext cx="861822" cy="347472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741" name="Picture 155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db8e63cfeb40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77590" y="5609844"/>
            <a:ext cx="137160" cy="137160"/>
          </a:xfrm>
          <a:prstGeom xmlns:a="http://schemas.openxmlformats.org/drawingml/2006/main" prst="rect">
            <a:avLst/>
          </a:prstGeom>
        </p:spPr>
      </p:pic>
      <p:sp>
        <p:nvSpPr>
          <p:cNvPr id="15512" name="TextBox 15511">
            <a:extLst xmlns:a="http://schemas.openxmlformats.org/drawingml/2006/main">
              <a:ext uri="{FF2B5EF4-FFF2-40B4-BE49-F238E27FC236}">
                <a16:creationId xmlns:a16="http://schemas.microsoft.com/office/drawing/2014/main" id="{24AB6BEA-2083-4180-80CF-A03D93893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038" y="5504688"/>
            <a:ext cx="63322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14683E"/>
                </a:solidFill>
                <a:latin typeface="Arial"/>
                <a:ea typeface="Arial"/>
                <a:cs typeface="Arial"/>
              </a:rPr>
              <a:t>NL querying</a:t>
            </a:r>
          </a:p>
        </p:txBody>
      </p:sp>
      <p:sp>
        <p:nvSpPr>
          <p:cNvPr id="15513" name="Rounded Rectangle 15512">
            <a:extLst xmlns:a="http://schemas.openxmlformats.org/drawingml/2006/main">
              <a:ext uri="{FF2B5EF4-FFF2-40B4-BE49-F238E27FC236}">
                <a16:creationId xmlns:a16="http://schemas.microsoft.com/office/drawing/2014/main" id="{1F208D80-7EA8-4A02-A806-DEF56E661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9412" y="5504688"/>
            <a:ext cx="861822" cy="347472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744" name="Picture 155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db8e63cfeb40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94276" y="5609844"/>
            <a:ext cx="137160" cy="137160"/>
          </a:xfrm>
          <a:prstGeom xmlns:a="http://schemas.openxmlformats.org/drawingml/2006/main" prst="rect">
            <a:avLst/>
          </a:prstGeom>
        </p:spPr>
      </p:pic>
      <p:sp>
        <p:nvSpPr>
          <p:cNvPr id="15515" name="TextBox 15514">
            <a:extLst xmlns:a="http://schemas.openxmlformats.org/drawingml/2006/main">
              <a:ext uri="{FF2B5EF4-FFF2-40B4-BE49-F238E27FC236}">
                <a16:creationId xmlns:a16="http://schemas.microsoft.com/office/drawing/2014/main" id="{62282189-346D-4FD3-B8F4-E747CE59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9724" y="5504688"/>
            <a:ext cx="63322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14683E"/>
                </a:solidFill>
                <a:latin typeface="Arial"/>
                <a:ea typeface="Arial"/>
                <a:cs typeface="Arial"/>
              </a:rPr>
              <a:t>GFS / IMD</a:t>
            </a:r>
          </a:p>
        </p:txBody>
      </p:sp>
      <p:sp>
        <p:nvSpPr>
          <p:cNvPr id="15516" name="Rounded Rectangle 15515">
            <a:extLst xmlns:a="http://schemas.openxmlformats.org/drawingml/2006/main">
              <a:ext uri="{FF2B5EF4-FFF2-40B4-BE49-F238E27FC236}">
                <a16:creationId xmlns:a16="http://schemas.microsoft.com/office/drawing/2014/main" id="{3E419E45-331A-45AF-855A-8D837B0D3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6098" y="5504688"/>
            <a:ext cx="861822" cy="347472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747" name="Picture 155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db8e63cfeb40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10962" y="5609844"/>
            <a:ext cx="137160" cy="137160"/>
          </a:xfrm>
          <a:prstGeom xmlns:a="http://schemas.openxmlformats.org/drawingml/2006/main" prst="rect">
            <a:avLst/>
          </a:prstGeom>
        </p:spPr>
      </p:pic>
      <p:sp>
        <p:nvSpPr>
          <p:cNvPr id="15518" name="TextBox 15517">
            <a:extLst xmlns:a="http://schemas.openxmlformats.org/drawingml/2006/main">
              <a:ext uri="{FF2B5EF4-FFF2-40B4-BE49-F238E27FC236}">
                <a16:creationId xmlns:a16="http://schemas.microsoft.com/office/drawing/2014/main" id="{343E21BC-130A-456D-8F6D-B6B6CE201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6410" y="5504688"/>
            <a:ext cx="63322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14683E"/>
                </a:solidFill>
                <a:latin typeface="Arial"/>
                <a:ea typeface="Arial"/>
                <a:cs typeface="Arial"/>
              </a:rPr>
              <a:t>Early warning</a:t>
            </a:r>
          </a:p>
        </p:txBody>
      </p:sp>
      <p:sp>
        <p:nvSpPr>
          <p:cNvPr id="15519" name="Rounded Rectangle 15518">
            <a:extLst xmlns:a="http://schemas.openxmlformats.org/drawingml/2006/main">
              <a:ext uri="{FF2B5EF4-FFF2-40B4-BE49-F238E27FC236}">
                <a16:creationId xmlns:a16="http://schemas.microsoft.com/office/drawing/2014/main" id="{A31EB673-70AB-4217-9055-33F02FFE3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5897880"/>
            <a:ext cx="861822" cy="347472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750" name="Picture 155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db8e63cfeb40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60904" y="6003036"/>
            <a:ext cx="137160" cy="137160"/>
          </a:xfrm>
          <a:prstGeom xmlns:a="http://schemas.openxmlformats.org/drawingml/2006/main" prst="rect">
            <a:avLst/>
          </a:prstGeom>
        </p:spPr>
      </p:pic>
      <p:sp>
        <p:nvSpPr>
          <p:cNvPr id="15521" name="TextBox 15520">
            <a:extLst xmlns:a="http://schemas.openxmlformats.org/drawingml/2006/main">
              <a:ext uri="{FF2B5EF4-FFF2-40B4-BE49-F238E27FC236}">
                <a16:creationId xmlns:a16="http://schemas.microsoft.com/office/drawing/2014/main" id="{33164E93-8EA0-4194-AF28-28078F7A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5897880"/>
            <a:ext cx="63322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14683E"/>
                </a:solidFill>
                <a:latin typeface="Arial"/>
                <a:ea typeface="Arial"/>
                <a:cs typeface="Arial"/>
              </a:rPr>
              <a:t>Location</a:t>
            </a:r>
          </a:p>
        </p:txBody>
      </p:sp>
      <p:sp>
        <p:nvSpPr>
          <p:cNvPr id="15522" name="Rounded Rectangle 15521">
            <a:extLst xmlns:a="http://schemas.openxmlformats.org/drawingml/2006/main">
              <a:ext uri="{FF2B5EF4-FFF2-40B4-BE49-F238E27FC236}">
                <a16:creationId xmlns:a16="http://schemas.microsoft.com/office/drawing/2014/main" id="{5E2F6F4F-3F29-4052-9DB1-19075F87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2726" y="5897880"/>
            <a:ext cx="861822" cy="347472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753" name="Picture 155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db8e63cfeb40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77590" y="6003036"/>
            <a:ext cx="137160" cy="137160"/>
          </a:xfrm>
          <a:prstGeom xmlns:a="http://schemas.openxmlformats.org/drawingml/2006/main" prst="rect">
            <a:avLst/>
          </a:prstGeom>
        </p:spPr>
      </p:pic>
      <p:sp>
        <p:nvSpPr>
          <p:cNvPr id="15524" name="TextBox 15523">
            <a:extLst xmlns:a="http://schemas.openxmlformats.org/drawingml/2006/main">
              <a:ext uri="{FF2B5EF4-FFF2-40B4-BE49-F238E27FC236}">
                <a16:creationId xmlns:a16="http://schemas.microsoft.com/office/drawing/2014/main" id="{50CCA3B9-D953-4AC6-8E38-340C17AFC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038" y="5897880"/>
            <a:ext cx="63322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14683E"/>
                </a:solidFill>
                <a:latin typeface="Arial"/>
                <a:ea typeface="Arial"/>
                <a:cs typeface="Arial"/>
              </a:rPr>
              <a:t>Indian languages</a:t>
            </a:r>
          </a:p>
        </p:txBody>
      </p:sp>
      <p:sp>
        <p:nvSpPr>
          <p:cNvPr id="15525" name="Rounded Rectangle 15524">
            <a:extLst xmlns:a="http://schemas.openxmlformats.org/drawingml/2006/main">
              <a:ext uri="{FF2B5EF4-FFF2-40B4-BE49-F238E27FC236}">
                <a16:creationId xmlns:a16="http://schemas.microsoft.com/office/drawing/2014/main" id="{3C3FC6CA-4FA8-4F15-BA97-5D746B7EA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9412" y="5897880"/>
            <a:ext cx="861822" cy="347472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756" name="Picture 155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db8e63cfeb40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94276" y="6003036"/>
            <a:ext cx="137160" cy="137160"/>
          </a:xfrm>
          <a:prstGeom xmlns:a="http://schemas.openxmlformats.org/drawingml/2006/main" prst="rect">
            <a:avLst/>
          </a:prstGeom>
        </p:spPr>
      </p:pic>
      <p:sp>
        <p:nvSpPr>
          <p:cNvPr id="15527" name="TextBox 15526">
            <a:extLst xmlns:a="http://schemas.openxmlformats.org/drawingml/2006/main">
              <a:ext uri="{FF2B5EF4-FFF2-40B4-BE49-F238E27FC236}">
                <a16:creationId xmlns:a16="http://schemas.microsoft.com/office/drawing/2014/main" id="{2EEE1A7E-038D-4C15-986B-8B8B9E217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9724" y="5897880"/>
            <a:ext cx="63322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14683E"/>
                </a:solidFill>
                <a:latin typeface="Arial"/>
                <a:ea typeface="Arial"/>
                <a:cs typeface="Arial"/>
              </a:rPr>
              <a:t>Climate trend</a:t>
            </a:r>
          </a:p>
        </p:txBody>
      </p:sp>
      <p:sp>
        <p:nvSpPr>
          <p:cNvPr id="15528" name="Rounded Rectangle 15527">
            <a:extLst xmlns:a="http://schemas.openxmlformats.org/drawingml/2006/main">
              <a:ext uri="{FF2B5EF4-FFF2-40B4-BE49-F238E27FC236}">
                <a16:creationId xmlns:a16="http://schemas.microsoft.com/office/drawing/2014/main" id="{D857B87E-4A70-47F5-B49A-0AB93D5FE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6098" y="5897880"/>
            <a:ext cx="861822" cy="347472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759" name="Picture 155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db8e63cfeb40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10962" y="6003036"/>
            <a:ext cx="137160" cy="137160"/>
          </a:xfrm>
          <a:prstGeom xmlns:a="http://schemas.openxmlformats.org/drawingml/2006/main" prst="rect">
            <a:avLst/>
          </a:prstGeom>
        </p:spPr>
      </p:pic>
      <p:sp>
        <p:nvSpPr>
          <p:cNvPr id="15530" name="TextBox 15529">
            <a:extLst xmlns:a="http://schemas.openxmlformats.org/drawingml/2006/main">
              <a:ext uri="{FF2B5EF4-FFF2-40B4-BE49-F238E27FC236}">
                <a16:creationId xmlns:a16="http://schemas.microsoft.com/office/drawing/2014/main" id="{0C28E3D3-16FC-4A42-9863-3E05A8695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6410" y="5897880"/>
            <a:ext cx="63322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14683E"/>
                </a:solidFill>
                <a:latin typeface="Arial"/>
                <a:ea typeface="Arial"/>
                <a:cs typeface="Arial"/>
              </a:rPr>
              <a:t>Voice</a:t>
            </a:r>
          </a:p>
        </p:txBody>
      </p:sp>
      <p:sp>
        <p:nvSpPr>
          <p:cNvPr id="15531" name="Rounded Rectangle 15530">
            <a:extLst xmlns:a="http://schemas.openxmlformats.org/drawingml/2006/main">
              <a:ext uri="{FF2B5EF4-FFF2-40B4-BE49-F238E27FC236}">
                <a16:creationId xmlns:a16="http://schemas.microsoft.com/office/drawing/2014/main" id="{49193A0A-A70D-4E99-AADF-1390A2D4D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5175504"/>
            <a:ext cx="4526280" cy="274320"/>
          </a:xfrm>
          <a:prstGeom xmlns:a="http://schemas.openxmlformats.org/drawingml/2006/main" prst="roundRect">
            <a:avLst>
              <a:gd name="adj" fmla="val 23333"/>
            </a:avLst>
          </a:prstGeom>
          <a:solidFill xmlns:a="http://schemas.openxmlformats.org/drawingml/2006/main">
            <a:srgbClr val="0B2239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FFC766"/>
                </a:solidFill>
                <a:latin typeface="Arial"/>
                <a:ea typeface="Arial"/>
                <a:cs typeface="Arial"/>
              </a:rPr>
              <a:t>INNOVATION &amp; UNIQUENESS</a:t>
            </a:r>
          </a:p>
        </p:txBody>
      </p:sp>
      <p:sp>
        <p:nvSpPr>
          <p:cNvPr id="15532" name="Rounded Rectangle 15531">
            <a:extLst xmlns:a="http://schemas.openxmlformats.org/drawingml/2006/main">
              <a:ext uri="{FF2B5EF4-FFF2-40B4-BE49-F238E27FC236}">
                <a16:creationId xmlns:a16="http://schemas.microsoft.com/office/drawing/2014/main" id="{75AFE864-21C5-47E3-A5C0-FC5F7629D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5504688"/>
            <a:ext cx="4526280" cy="758952"/>
          </a:xfrm>
          <a:prstGeom xmlns:a="http://schemas.openxmlformats.org/drawingml/2006/main" prst="roundRect">
            <a:avLst>
              <a:gd name="adj" fmla="val 9638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C5D5E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5533" name="Oval 15532">
            <a:extLst xmlns:a="http://schemas.openxmlformats.org/drawingml/2006/main">
              <a:ext uri="{FF2B5EF4-FFF2-40B4-BE49-F238E27FC236}">
                <a16:creationId xmlns:a16="http://schemas.microsoft.com/office/drawing/2014/main" id="{B4789FF4-3321-4FBB-A68C-F3116CDF8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5559552"/>
            <a:ext cx="192024" cy="1920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A0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764" name="Picture 155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58ade7d51a41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20916" y="5597956"/>
            <a:ext cx="115214" cy="115214"/>
          </a:xfrm>
          <a:prstGeom xmlns:a="http://schemas.openxmlformats.org/drawingml/2006/main" prst="rect">
            <a:avLst/>
          </a:prstGeom>
        </p:spPr>
      </p:pic>
      <p:sp>
        <p:nvSpPr>
          <p:cNvPr id="15535" name="TextBox 15534">
            <a:extLst xmlns:a="http://schemas.openxmlformats.org/drawingml/2006/main">
              <a:ext uri="{FF2B5EF4-FFF2-40B4-BE49-F238E27FC236}">
                <a16:creationId xmlns:a16="http://schemas.microsoft.com/office/drawing/2014/main" id="{F8CBCB09-B825-4E08-BCAC-EF293DDD3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256" y="5541264"/>
            <a:ext cx="41605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Checks before display: tool-owned values; disclosed fallback.</a:t>
            </a:r>
          </a:p>
        </p:txBody>
      </p:sp>
      <p:sp>
        <p:nvSpPr>
          <p:cNvPr id="15536" name="Oval 15535">
            <a:extLst xmlns:a="http://schemas.openxmlformats.org/drawingml/2006/main">
              <a:ext uri="{FF2B5EF4-FFF2-40B4-BE49-F238E27FC236}">
                <a16:creationId xmlns:a16="http://schemas.microsoft.com/office/drawing/2014/main" id="{78827169-8908-47C3-9EB6-B01CA51A1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5797296"/>
            <a:ext cx="192024" cy="1920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6E9A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767" name="Picture 155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7cb916d3e54f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20916" y="5835700"/>
            <a:ext cx="115214" cy="115214"/>
          </a:xfrm>
          <a:prstGeom xmlns:a="http://schemas.openxmlformats.org/drawingml/2006/main" prst="rect">
            <a:avLst/>
          </a:prstGeom>
        </p:spPr>
      </p:pic>
      <p:sp>
        <p:nvSpPr>
          <p:cNvPr id="15538" name="TextBox 15537">
            <a:extLst xmlns:a="http://schemas.openxmlformats.org/drawingml/2006/main">
              <a:ext uri="{FF2B5EF4-FFF2-40B4-BE49-F238E27FC236}">
                <a16:creationId xmlns:a16="http://schemas.microsoft.com/office/drawing/2014/main" id="{EB2DAB59-1873-48BD-958A-920A1F812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256" y="5779008"/>
            <a:ext cx="41605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IMD first: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IMD's warnings, nowcasts &amp; Mausamgram, beside global models.</a:t>
            </a:r>
          </a:p>
        </p:txBody>
      </p:sp>
      <p:sp>
        <p:nvSpPr>
          <p:cNvPr id="15539" name="Oval 15538">
            <a:extLst xmlns:a="http://schemas.openxmlformats.org/drawingml/2006/main">
              <a:ext uri="{FF2B5EF4-FFF2-40B4-BE49-F238E27FC236}">
                <a16:creationId xmlns:a16="http://schemas.microsoft.com/office/drawing/2014/main" id="{058F1054-55F4-48CC-9566-832A6578B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6035040"/>
            <a:ext cx="192024" cy="1920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FD1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5770" name="Picture 1553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3a2837d58141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20916" y="6073444"/>
            <a:ext cx="115214" cy="115214"/>
          </a:xfrm>
          <a:prstGeom xmlns:a="http://schemas.openxmlformats.org/drawingml/2006/main" prst="rect">
            <a:avLst/>
          </a:prstGeom>
        </p:spPr>
      </p:pic>
      <p:sp>
        <p:nvSpPr>
          <p:cNvPr id="15541" name="TextBox 15540">
            <a:extLst xmlns:a="http://schemas.openxmlformats.org/drawingml/2006/main">
              <a:ext uri="{FF2B5EF4-FFF2-40B4-BE49-F238E27FC236}">
                <a16:creationId xmlns:a16="http://schemas.microsoft.com/office/drawing/2014/main" id="{789DAAE8-E8F4-4554-8703-1C5E9BF47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256" y="6016752"/>
            <a:ext cx="41605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Deployment goal: Indian hosting; configured providers used now.</a:t>
            </a:r>
          </a:p>
        </p:txBody>
      </p:sp>
      <p:sp>
        <p:nvSpPr>
          <p:cNvPr id="15542" name="Rounded Rectangle 15541">
            <a:extLst xmlns:a="http://schemas.openxmlformats.org/drawingml/2006/main">
              <a:ext uri="{FF2B5EF4-FFF2-40B4-BE49-F238E27FC236}">
                <a16:creationId xmlns:a16="http://schemas.microsoft.com/office/drawing/2014/main" id="{000AD334-8E95-4C19-A8DD-8ED3BF852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7080" y="5175504"/>
            <a:ext cx="987551" cy="1088136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B2239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5543" name="TextBox 15542">
            <a:extLst xmlns:a="http://schemas.openxmlformats.org/drawingml/2006/main">
              <a:ext uri="{FF2B5EF4-FFF2-40B4-BE49-F238E27FC236}">
                <a16:creationId xmlns:a16="http://schemas.microsoft.com/office/drawing/2014/main" id="{BE2D9F9F-CE30-4E61-A831-40CF1DCB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7080" y="5193792"/>
            <a:ext cx="987551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1" i="0">
                <a:solidFill>
                  <a:srgbClr val="D1423F"/>
                </a:solidFill>
                <a:latin typeface="Arial"/>
                <a:ea typeface="Arial"/>
                <a:cs typeface="Arial"/>
              </a:rPr>
              <a:t>WATCH DEMO</a:t>
            </a:r>
          </a:p>
        </p:txBody>
      </p:sp>
      <p:pic>
        <p:nvPicPr>
          <p:cNvPr id="15774" name="Picture 15543" descr="Scan or click to watch the WeatherGPT submission demo">
            <ns0:hlinkClick xmlns:ns0="http://schemas.openxmlformats.org/drawingml/2006/main" xmlns:ns1="http://schemas.openxmlformats.org/officeDocument/2006/relationships" ns1:id="rIdSubmission1" tooltip="Click to watch the demo"/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0d1831e63f458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091672" y="5376672"/>
            <a:ext cx="658368" cy="658368"/>
          </a:xfrm>
          <a:prstGeom xmlns:a="http://schemas.openxmlformats.org/drawingml/2006/main" prst="rect">
            <a:avLst/>
          </a:prstGeom>
        </p:spPr>
      </p:pic>
      <p:sp>
        <p:nvSpPr>
          <p:cNvPr id="15545" name="TextBox 15544" descr="Scan or click to watch the WeatherGPT submission demo">
            <a:extLst xmlns:a="http://schemas.openxmlformats.org/drawingml/2006/main">
              <a:ext uri="{FF2B5EF4-FFF2-40B4-BE49-F238E27FC236}">
                <a16:creationId xmlns:a16="http://schemas.microsoft.com/office/drawing/2014/main" id="{476065C2-1F09-40B7-8395-CA1F18F94FBE}"/>
              </a:ext>
            </a:extLst>
            <ns2:hlinkClick xmlns:ns2="http://schemas.openxmlformats.org/drawingml/2006/main" xmlns:ns3="http://schemas.openxmlformats.org/officeDocument/2006/relationships" ns3:id="rIdSubmission2" tooltip="Click to watch the demo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7080" y="6044184"/>
            <a:ext cx="987551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Scan or click QR</a:t>
            </a:r>
          </a:p>
        </p:txBody>
      </p:sp>
      <p:pic>
        <p:nvPicPr>
          <p:cNvPr id="157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e80559a73c4d19"/>
          <a:stretch xmlns:a="http://schemas.openxmlformats.org/drawingml/2006/main"/>
        </p:blipFill>
        <p:spPr>
          <a:xfrm xmlns:a="http://schemas.openxmlformats.org/drawingml/2006/main">
            <a:off x="9780822" y="1524"/>
            <a:ext cx="2248320" cy="106232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32781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4762"/>
            <a:ext cx="12191999" cy="503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0C0"/>
          </a:solidFill>
          <a:ln xmlns:a="http://schemas.openxmlformats.org/drawingml/2006/main" w="9525">
            <a:noFill/>
          </a:ln>
          <a:effectLst xmlns:a="http://schemas.openxmlformats.org/drawingml/2006/main"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2">
                  <a:lumMod val="75000"/>
                </a:schemeClr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7409" name="Title 1">
            <a:extLst xmlns:a="http://schemas.openxmlformats.org/drawingml/2006/main">
              <a:ext uri="{FF2B5EF4-FFF2-40B4-BE49-F238E27FC236}">
                <a16:creationId xmlns:a16="http://schemas.microsoft.com/office/drawing/2014/main" id="{E6770EC6-A155-4FB2-8AD3-B7DDE47CC2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TECHNICAL APPROACH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A616F57-51E1-428F-833E-1F3CCA35A63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77C3CE7-23F7-4828-823C-E0205DF2CF97}" type="slidenum">
              <a:rPr b="1">
                <a:solidFill>
                  <a:schemeClr val="bg1"/>
                </a:solidFill>
              </a:rPr>
              <a:t>3</a:t>
            </a:fld>
            <a:endParaRPr b="1">
              <a:solidFill>
                <a:schemeClr val="bg1"/>
              </a:solidFill>
            </a:endParaRPr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31796209-BEA6-4B16-A55A-17CACB40ED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2651760" y="6356353"/>
            <a:ext cx="7223760" cy="365125"/>
          </a:xfrm>
        </p:spPr>
        <p:txBody>
          <a:bodyPr xmlns:a="http://schemas.openxmlformats.org/drawingml/2006/main" wrap="none"/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chemeClr val="bg1"/>
                </a:solidFill>
              </a:rPr>
              <a:t>@SIH Idea Submission · SIH26068 · WeatherGPT · Team Void Pointers (118709)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5DBCE864-823D-4A13-9607-5DA1F0ED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773" y="252246"/>
            <a:ext cx="1251857" cy="807334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4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lIns="18288" rIns="18288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/>
              <a:t>Void Pointers</a:t>
            </a:r>
            <a:endParaRPr/>
          </a:p>
        </p:txBody>
      </p:sp>
      <p:pic>
        <p:nvPicPr>
          <p:cNvPr id="17672" name="Picture 1740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57551d70ec4b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6428232"/>
            <a:ext cx="334959" cy="219456"/>
          </a:xfrm>
          <a:prstGeom xmlns:a="http://schemas.openxmlformats.org/drawingml/2006/main" prst="rect">
            <a:avLst/>
          </a:prstGeom>
        </p:spPr>
      </p:pic>
      <p:sp>
        <p:nvSpPr>
          <p:cNvPr id="17411" name="TextBox 17410">
            <a:extLst xmlns:a="http://schemas.openxmlformats.org/drawingml/2006/main">
              <a:ext uri="{FF2B5EF4-FFF2-40B4-BE49-F238E27FC236}">
                <a16:creationId xmlns:a16="http://schemas.microsoft.com/office/drawing/2014/main" id="{C38A99E6-DF7F-4AD4-8949-F3C0E2941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19" y="786384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1">
                <a:solidFill>
                  <a:srgbClr val="55666E"/>
                </a:solidFill>
                <a:latin typeface="Times New Roman"/>
                <a:ea typeface="Times New Roman"/>
                <a:cs typeface="Times New Roman"/>
              </a:rPr>
              <a:t>Proposed deployment design · Current core: React, Python, SQLite and governed tools</a:t>
            </a:r>
          </a:p>
        </p:txBody>
      </p:sp>
      <p:sp>
        <p:nvSpPr>
          <p:cNvPr id="17412" name="Rounded Rectangle 17411">
            <a:extLst xmlns:a="http://schemas.openxmlformats.org/drawingml/2006/main">
              <a:ext uri="{FF2B5EF4-FFF2-40B4-BE49-F238E27FC236}">
                <a16:creationId xmlns:a16="http://schemas.microsoft.com/office/drawing/2014/main" id="{2C1A1FFC-CA99-4E4F-8257-18158B30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097280"/>
            <a:ext cx="2103120" cy="2194560"/>
          </a:xfrm>
          <a:prstGeom xmlns:a="http://schemas.openxmlformats.org/drawingml/2006/main" prst="roundRect">
            <a:avLst>
              <a:gd name="adj" fmla="val 4347"/>
            </a:avLst>
          </a:prstGeom>
          <a:solidFill xmlns:a="http://schemas.openxmlformats.org/drawingml/2006/main">
            <a:srgbClr val="E8F0FA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13" name="TextBox 17412">
            <a:extLst xmlns:a="http://schemas.openxmlformats.org/drawingml/2006/main">
              <a:ext uri="{FF2B5EF4-FFF2-40B4-BE49-F238E27FC236}">
                <a16:creationId xmlns:a16="http://schemas.microsoft.com/office/drawing/2014/main" id="{F13E7BA8-3C69-4A0B-AE35-5B5C6FFF9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124712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0B2239"/>
                </a:solidFill>
                <a:latin typeface="Times New Roman"/>
                <a:ea typeface="Times New Roman"/>
                <a:cs typeface="Times New Roman"/>
              </a:rPr>
              <a:t>Zone 1</a:t>
            </a:r>
            <a:r>
              <a:rPr sz="1000" b="0" i="0">
                <a:solidFill>
                  <a:srgbClr val="0B2239"/>
                </a:solidFill>
                <a:latin typeface="Times New Roman"/>
                <a:ea typeface="Times New Roman"/>
                <a:cs typeface="Times New Roman"/>
              </a:rPr>
              <a:t> · Users &amp; Channels</a:t>
            </a:r>
          </a:p>
        </p:txBody>
      </p:sp>
      <p:sp>
        <p:nvSpPr>
          <p:cNvPr id="17414" name="Rounded Rectangle 17413">
            <a:extLst xmlns:a="http://schemas.openxmlformats.org/drawingml/2006/main">
              <a:ext uri="{FF2B5EF4-FFF2-40B4-BE49-F238E27FC236}">
                <a16:creationId xmlns:a16="http://schemas.microsoft.com/office/drawing/2014/main" id="{8B3E632A-A0EB-45FB-850D-BC4E4CB8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3744" y="1097280"/>
            <a:ext cx="2514600" cy="2194560"/>
          </a:xfrm>
          <a:prstGeom xmlns:a="http://schemas.openxmlformats.org/drawingml/2006/main" prst="roundRect">
            <a:avLst>
              <a:gd name="adj" fmla="val 4166"/>
            </a:avLst>
          </a:prstGeom>
          <a:solidFill xmlns:a="http://schemas.openxmlformats.org/drawingml/2006/main">
            <a:srgbClr val="E4F3EA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15" name="TextBox 17414">
            <a:extLst xmlns:a="http://schemas.openxmlformats.org/drawingml/2006/main">
              <a:ext uri="{FF2B5EF4-FFF2-40B4-BE49-F238E27FC236}">
                <a16:creationId xmlns:a16="http://schemas.microsoft.com/office/drawing/2014/main" id="{43DFEA2F-23B4-411F-9085-86E697B77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3744" y="1124712"/>
            <a:ext cx="2514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0B2239"/>
                </a:solidFill>
                <a:latin typeface="Times New Roman"/>
                <a:ea typeface="Times New Roman"/>
                <a:cs typeface="Times New Roman"/>
              </a:rPr>
              <a:t>Zone 2</a:t>
            </a:r>
            <a:r>
              <a:rPr sz="1000" b="0" i="0">
                <a:solidFill>
                  <a:srgbClr val="0B2239"/>
                </a:solidFill>
                <a:latin typeface="Times New Roman"/>
                <a:ea typeface="Times New Roman"/>
                <a:cs typeface="Times New Roman"/>
              </a:rPr>
              <a:t> · Mobile &amp; Web · React PWA</a:t>
            </a:r>
          </a:p>
        </p:txBody>
      </p:sp>
      <p:sp>
        <p:nvSpPr>
          <p:cNvPr id="17416" name="Rounded Rectangle 17415">
            <a:extLst xmlns:a="http://schemas.openxmlformats.org/drawingml/2006/main">
              <a:ext uri="{FF2B5EF4-FFF2-40B4-BE49-F238E27FC236}">
                <a16:creationId xmlns:a16="http://schemas.microsoft.com/office/drawing/2014/main" id="{C993F7EB-D8B4-4FFF-8F99-7654451CF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4648" y="1097280"/>
            <a:ext cx="3840480" cy="2194560"/>
          </a:xfrm>
          <a:prstGeom xmlns:a="http://schemas.openxmlformats.org/drawingml/2006/main" prst="roundRect">
            <a:avLst>
              <a:gd name="adj" fmla="val 4166"/>
            </a:avLst>
          </a:prstGeom>
          <a:solidFill xmlns:a="http://schemas.openxmlformats.org/drawingml/2006/main">
            <a:srgbClr val="E9EAFA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17" name="TextBox 17416">
            <a:extLst xmlns:a="http://schemas.openxmlformats.org/drawingml/2006/main">
              <a:ext uri="{FF2B5EF4-FFF2-40B4-BE49-F238E27FC236}">
                <a16:creationId xmlns:a16="http://schemas.microsoft.com/office/drawing/2014/main" id="{8FD27718-75F1-4BC7-8449-F818E2773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4648" y="1124712"/>
            <a:ext cx="3840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0B2239"/>
                </a:solidFill>
                <a:latin typeface="Times New Roman"/>
                <a:ea typeface="Times New Roman"/>
                <a:cs typeface="Times New Roman"/>
              </a:rPr>
              <a:t>Zone 3</a:t>
            </a:r>
            <a:r>
              <a:rPr sz="1000" b="0" i="0">
                <a:solidFill>
                  <a:srgbClr val="0B2239"/>
                </a:solidFill>
                <a:latin typeface="Times New Roman"/>
                <a:ea typeface="Times New Roman"/>
                <a:cs typeface="Times New Roman"/>
              </a:rPr>
              <a:t> · LLM Query-Understanding Engine</a:t>
            </a:r>
          </a:p>
        </p:txBody>
      </p:sp>
      <p:sp>
        <p:nvSpPr>
          <p:cNvPr id="17418" name="Rounded Rectangle 17417">
            <a:extLst xmlns:a="http://schemas.openxmlformats.org/drawingml/2006/main">
              <a:ext uri="{FF2B5EF4-FFF2-40B4-BE49-F238E27FC236}">
                <a16:creationId xmlns:a16="http://schemas.microsoft.com/office/drawing/2014/main" id="{6E26495F-D6ED-4FC9-A975-E5A6AA64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1432" y="1097280"/>
            <a:ext cx="2743200" cy="2194560"/>
          </a:xfrm>
          <a:prstGeom xmlns:a="http://schemas.openxmlformats.org/drawingml/2006/main" prst="roundRect">
            <a:avLst>
              <a:gd name="adj" fmla="val 4166"/>
            </a:avLst>
          </a:prstGeom>
          <a:solidFill xmlns:a="http://schemas.openxmlformats.org/drawingml/2006/main">
            <a:srgbClr val="DFEFF8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19" name="TextBox 17418">
            <a:extLst xmlns:a="http://schemas.openxmlformats.org/drawingml/2006/main">
              <a:ext uri="{FF2B5EF4-FFF2-40B4-BE49-F238E27FC236}">
                <a16:creationId xmlns:a16="http://schemas.microsoft.com/office/drawing/2014/main" id="{41E690E2-30B6-4510-9513-824575FD3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1432" y="1124712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0B2239"/>
                </a:solidFill>
                <a:latin typeface="Times New Roman"/>
                <a:ea typeface="Times New Roman"/>
                <a:cs typeface="Times New Roman"/>
              </a:rPr>
              <a:t>Zone 4</a:t>
            </a:r>
            <a:r>
              <a:rPr sz="1000" b="0" i="0">
                <a:solidFill>
                  <a:srgbClr val="0B2239"/>
                </a:solidFill>
                <a:latin typeface="Times New Roman"/>
                <a:ea typeface="Times New Roman"/>
                <a:cs typeface="Times New Roman"/>
              </a:rPr>
              <a:t> · Mausam Setu · IMD First</a:t>
            </a:r>
          </a:p>
        </p:txBody>
      </p:sp>
      <p:sp>
        <p:nvSpPr>
          <p:cNvPr id="17420" name="Oval 17419">
            <a:extLst xmlns:a="http://schemas.openxmlformats.org/drawingml/2006/main">
              <a:ext uri="{FF2B5EF4-FFF2-40B4-BE49-F238E27FC236}">
                <a16:creationId xmlns:a16="http://schemas.microsoft.com/office/drawing/2014/main" id="{762EFAD1-518C-417D-B355-A93DABED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4752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83" name="Picture 174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d9d16261ae42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4009" y="1521561"/>
            <a:ext cx="230428" cy="230428"/>
          </a:xfrm>
          <a:prstGeom xmlns:a="http://schemas.openxmlformats.org/drawingml/2006/main" prst="rect">
            <a:avLst/>
          </a:prstGeom>
        </p:spPr>
      </p:pic>
      <p:sp>
        <p:nvSpPr>
          <p:cNvPr id="17422" name="TextBox 17421">
            <a:extLst xmlns:a="http://schemas.openxmlformats.org/drawingml/2006/main">
              <a:ext uri="{FF2B5EF4-FFF2-40B4-BE49-F238E27FC236}">
                <a16:creationId xmlns:a16="http://schemas.microsoft.com/office/drawing/2014/main" id="{3A3C9B44-E752-4D5A-80B2-694665859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828800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Farmer</a:t>
            </a:r>
          </a:p>
        </p:txBody>
      </p:sp>
      <p:sp>
        <p:nvSpPr>
          <p:cNvPr id="17423" name="Oval 17422">
            <a:extLst xmlns:a="http://schemas.openxmlformats.org/drawingml/2006/main">
              <a:ext uri="{FF2B5EF4-FFF2-40B4-BE49-F238E27FC236}">
                <a16:creationId xmlns:a16="http://schemas.microsoft.com/office/drawing/2014/main" id="{54E1774B-4AD0-4AA8-A550-A4F14D0A1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" y="1444752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23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86" name="Picture 1742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582c27912842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01521" y="1521561"/>
            <a:ext cx="230428" cy="230428"/>
          </a:xfrm>
          <a:prstGeom xmlns:a="http://schemas.openxmlformats.org/drawingml/2006/main" prst="rect">
            <a:avLst/>
          </a:prstGeom>
        </p:spPr>
      </p:pic>
      <p:sp>
        <p:nvSpPr>
          <p:cNvPr id="17425" name="TextBox 17424">
            <a:extLst xmlns:a="http://schemas.openxmlformats.org/drawingml/2006/main">
              <a:ext uri="{FF2B5EF4-FFF2-40B4-BE49-F238E27FC236}">
                <a16:creationId xmlns:a16="http://schemas.microsoft.com/office/drawing/2014/main" id="{F9ACC0E3-39C7-4A9F-B0AF-D10BC1D1F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1828800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Officer</a:t>
            </a:r>
          </a:p>
        </p:txBody>
      </p:sp>
      <p:sp>
        <p:nvSpPr>
          <p:cNvPr id="17426" name="Oval 17425">
            <a:extLst xmlns:a="http://schemas.openxmlformats.org/drawingml/2006/main">
              <a:ext uri="{FF2B5EF4-FFF2-40B4-BE49-F238E27FC236}">
                <a16:creationId xmlns:a16="http://schemas.microsoft.com/office/drawing/2014/main" id="{82228992-93E9-494F-905F-6FA49C2A0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224" y="1444752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FD1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89" name="Picture 174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7cdf65b8c548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869033" y="1521561"/>
            <a:ext cx="230428" cy="230428"/>
          </a:xfrm>
          <a:prstGeom xmlns:a="http://schemas.openxmlformats.org/drawingml/2006/main" prst="rect">
            <a:avLst/>
          </a:prstGeom>
        </p:spPr>
      </p:pic>
      <p:sp>
        <p:nvSpPr>
          <p:cNvPr id="17428" name="TextBox 17427">
            <a:extLst xmlns:a="http://schemas.openxmlformats.org/drawingml/2006/main">
              <a:ext uri="{FF2B5EF4-FFF2-40B4-BE49-F238E27FC236}">
                <a16:creationId xmlns:a16="http://schemas.microsoft.com/office/drawing/2014/main" id="{2976B523-89C6-4E42-9FA5-BAE35C029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344" y="1828800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Pilot</a:t>
            </a:r>
          </a:p>
        </p:txBody>
      </p:sp>
      <p:sp>
        <p:nvSpPr>
          <p:cNvPr id="17429" name="Oval 17428">
            <a:extLst xmlns:a="http://schemas.openxmlformats.org/drawingml/2006/main">
              <a:ext uri="{FF2B5EF4-FFF2-40B4-BE49-F238E27FC236}">
                <a16:creationId xmlns:a16="http://schemas.microsoft.com/office/drawing/2014/main" id="{D4C32009-3AD2-40BF-91F1-C43FFFE35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2996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6E9A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92" name="Picture 1742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0f627a4f254b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4009" y="2106777"/>
            <a:ext cx="230428" cy="230428"/>
          </a:xfrm>
          <a:prstGeom xmlns:a="http://schemas.openxmlformats.org/drawingml/2006/main" prst="rect">
            <a:avLst/>
          </a:prstGeom>
        </p:spPr>
      </p:pic>
      <p:sp>
        <p:nvSpPr>
          <p:cNvPr id="17431" name="TextBox 17430">
            <a:extLst xmlns:a="http://schemas.openxmlformats.org/drawingml/2006/main">
              <a:ext uri="{FF2B5EF4-FFF2-40B4-BE49-F238E27FC236}">
                <a16:creationId xmlns:a16="http://schemas.microsoft.com/office/drawing/2014/main" id="{4316996C-5F9D-4ACA-BDBD-C8E75DFE7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2414016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Fisher</a:t>
            </a:r>
          </a:p>
        </p:txBody>
      </p:sp>
      <p:sp>
        <p:nvSpPr>
          <p:cNvPr id="17432" name="Oval 17431">
            <a:extLst xmlns:a="http://schemas.openxmlformats.org/drawingml/2006/main">
              <a:ext uri="{FF2B5EF4-FFF2-40B4-BE49-F238E27FC236}">
                <a16:creationId xmlns:a16="http://schemas.microsoft.com/office/drawing/2014/main" id="{AC71B7E9-D9CD-4AA0-9629-774D3C432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" y="202996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5BC2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95" name="Picture 1743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00197f25b84b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01521" y="2106777"/>
            <a:ext cx="230428" cy="230428"/>
          </a:xfrm>
          <a:prstGeom xmlns:a="http://schemas.openxmlformats.org/drawingml/2006/main" prst="rect">
            <a:avLst/>
          </a:prstGeom>
        </p:spPr>
      </p:pic>
      <p:sp>
        <p:nvSpPr>
          <p:cNvPr id="17434" name="TextBox 17433">
            <a:extLst xmlns:a="http://schemas.openxmlformats.org/drawingml/2006/main">
              <a:ext uri="{FF2B5EF4-FFF2-40B4-BE49-F238E27FC236}">
                <a16:creationId xmlns:a16="http://schemas.microsoft.com/office/drawing/2014/main" id="{5C064CAF-0B12-48F1-A9E9-A091A1EC7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2414016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Researcher</a:t>
            </a:r>
          </a:p>
        </p:txBody>
      </p:sp>
      <p:sp>
        <p:nvSpPr>
          <p:cNvPr id="17435" name="Oval 17434">
            <a:extLst xmlns:a="http://schemas.openxmlformats.org/drawingml/2006/main">
              <a:ext uri="{FF2B5EF4-FFF2-40B4-BE49-F238E27FC236}">
                <a16:creationId xmlns:a16="http://schemas.microsoft.com/office/drawing/2014/main" id="{0545AE27-5823-4A04-A929-08BDE2402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224" y="202996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A0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98" name="Picture 1743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819136019649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869033" y="2106777"/>
            <a:ext cx="230428" cy="230428"/>
          </a:xfrm>
          <a:prstGeom xmlns:a="http://schemas.openxmlformats.org/drawingml/2006/main" prst="rect">
            <a:avLst/>
          </a:prstGeom>
        </p:spPr>
      </p:pic>
      <p:sp>
        <p:nvSpPr>
          <p:cNvPr id="17437" name="TextBox 17436">
            <a:extLst xmlns:a="http://schemas.openxmlformats.org/drawingml/2006/main">
              <a:ext uri="{FF2B5EF4-FFF2-40B4-BE49-F238E27FC236}">
                <a16:creationId xmlns:a16="http://schemas.microsoft.com/office/drawing/2014/main" id="{17D79CCA-64CA-4EAB-8957-27E7BB63E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344" y="2414016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Citizen</a:t>
            </a:r>
          </a:p>
        </p:txBody>
      </p:sp>
      <p:sp>
        <p:nvSpPr>
          <p:cNvPr id="17438" name="Rounded Rectangle 17437">
            <a:extLst xmlns:a="http://schemas.openxmlformats.org/drawingml/2006/main">
              <a:ext uri="{FF2B5EF4-FFF2-40B4-BE49-F238E27FC236}">
                <a16:creationId xmlns:a16="http://schemas.microsoft.com/office/drawing/2014/main" id="{1E29508C-A15F-49C1-ACCB-645E5C9A3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651760"/>
            <a:ext cx="1920239" cy="54864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D8FD1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701" name="Picture 1743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a537971d654d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5488" y="2697480"/>
            <a:ext cx="182880" cy="182880"/>
          </a:xfrm>
          <a:prstGeom xmlns:a="http://schemas.openxmlformats.org/drawingml/2006/main" prst="rect">
            <a:avLst/>
          </a:prstGeom>
        </p:spPr>
      </p:pic>
      <p:sp>
        <p:nvSpPr>
          <p:cNvPr id="17440" name="TextBox 17439">
            <a:extLst xmlns:a="http://schemas.openxmlformats.org/drawingml/2006/main">
              <a:ext uri="{FF2B5EF4-FFF2-40B4-BE49-F238E27FC236}">
                <a16:creationId xmlns:a16="http://schemas.microsoft.com/office/drawing/2014/main" id="{B6065D87-7D76-4BC9-8A24-FC53EE18A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2898648"/>
            <a:ext cx="438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App</a:t>
            </a:r>
          </a:p>
        </p:txBody>
      </p:sp>
      <p:pic>
        <p:nvPicPr>
          <p:cNvPr id="17703" name="Picture 1744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1d7a9ff06444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4964" y="2697480"/>
            <a:ext cx="182880" cy="182880"/>
          </a:xfrm>
          <a:prstGeom xmlns:a="http://schemas.openxmlformats.org/drawingml/2006/main" prst="rect">
            <a:avLst/>
          </a:prstGeom>
        </p:spPr>
      </p:pic>
      <p:sp>
        <p:nvSpPr>
          <p:cNvPr id="17442" name="TextBox 17441">
            <a:extLst xmlns:a="http://schemas.openxmlformats.org/drawingml/2006/main">
              <a:ext uri="{FF2B5EF4-FFF2-40B4-BE49-F238E27FC236}">
                <a16:creationId xmlns:a16="http://schemas.microsoft.com/office/drawing/2014/main" id="{4ED87962-4C01-4B09-B356-1102F289E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7" y="2898648"/>
            <a:ext cx="438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Web</a:t>
            </a:r>
          </a:p>
        </p:txBody>
      </p:sp>
      <p:pic>
        <p:nvPicPr>
          <p:cNvPr id="17705" name="Picture 1744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ab4ca11acd4e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34440" y="2697480"/>
            <a:ext cx="182880" cy="182880"/>
          </a:xfrm>
          <a:prstGeom xmlns:a="http://schemas.openxmlformats.org/drawingml/2006/main" prst="rect">
            <a:avLst/>
          </a:prstGeom>
        </p:spPr>
      </p:pic>
      <p:sp>
        <p:nvSpPr>
          <p:cNvPr id="17444" name="TextBox 17443">
            <a:extLst xmlns:a="http://schemas.openxmlformats.org/drawingml/2006/main">
              <a:ext uri="{FF2B5EF4-FFF2-40B4-BE49-F238E27FC236}">
                <a16:creationId xmlns:a16="http://schemas.microsoft.com/office/drawing/2014/main" id="{E62C9A8D-242C-4BD4-980C-1CEEC33DA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" y="2898648"/>
            <a:ext cx="438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Voice</a:t>
            </a:r>
          </a:p>
        </p:txBody>
      </p:sp>
      <p:pic>
        <p:nvPicPr>
          <p:cNvPr id="17707" name="Picture 1744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d0cd1256b54b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613916" y="2697480"/>
            <a:ext cx="182880" cy="182880"/>
          </a:xfrm>
          <a:prstGeom xmlns:a="http://schemas.openxmlformats.org/drawingml/2006/main" prst="rect">
            <a:avLst/>
          </a:prstGeom>
        </p:spPr>
      </p:pic>
      <p:sp>
        <p:nvSpPr>
          <p:cNvPr id="17446" name="TextBox 17445">
            <a:extLst xmlns:a="http://schemas.openxmlformats.org/drawingml/2006/main">
              <a:ext uri="{FF2B5EF4-FFF2-40B4-BE49-F238E27FC236}">
                <a16:creationId xmlns:a16="http://schemas.microsoft.com/office/drawing/2014/main" id="{9A76B6AF-1347-44F6-A17E-2C5D74A28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899" y="2898648"/>
            <a:ext cx="438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Push</a:t>
            </a:r>
          </a:p>
        </p:txBody>
      </p:sp>
      <p:pic>
        <p:nvPicPr>
          <p:cNvPr id="17709" name="Picture 1744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f16df6d90d40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93392" y="2697480"/>
            <a:ext cx="182880" cy="182880"/>
          </a:xfrm>
          <a:prstGeom xmlns:a="http://schemas.openxmlformats.org/drawingml/2006/main" prst="rect">
            <a:avLst/>
          </a:prstGeom>
        </p:spPr>
      </p:pic>
      <p:sp>
        <p:nvSpPr>
          <p:cNvPr id="17448" name="TextBox 17447">
            <a:extLst xmlns:a="http://schemas.openxmlformats.org/drawingml/2006/main">
              <a:ext uri="{FF2B5EF4-FFF2-40B4-BE49-F238E27FC236}">
                <a16:creationId xmlns:a16="http://schemas.microsoft.com/office/drawing/2014/main" id="{6497D57A-3CF6-4BBC-9378-ACC1ADB5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5376" y="2898648"/>
            <a:ext cx="438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SMS</a:t>
            </a:r>
          </a:p>
        </p:txBody>
      </p:sp>
      <p:sp>
        <p:nvSpPr>
          <p:cNvPr id="17449" name="Rounded Rectangle 17448">
            <a:extLst xmlns:a="http://schemas.openxmlformats.org/drawingml/2006/main">
              <a:ext uri="{FF2B5EF4-FFF2-40B4-BE49-F238E27FC236}">
                <a16:creationId xmlns:a16="http://schemas.microsoft.com/office/drawing/2014/main" id="{C4995431-34CD-4730-AE39-1003EB7B4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6896" y="1444752"/>
            <a:ext cx="1147572" cy="512064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E9E5B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50" name="Oval 17449">
            <a:extLst xmlns:a="http://schemas.openxmlformats.org/drawingml/2006/main">
              <a:ext uri="{FF2B5EF4-FFF2-40B4-BE49-F238E27FC236}">
                <a16:creationId xmlns:a16="http://schemas.microsoft.com/office/drawing/2014/main" id="{FA62090D-83F0-441D-BD51-B4800A1C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615" y="1554480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713" name="Picture 1745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abe81b2d2241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01137" y="1613001"/>
            <a:ext cx="175564" cy="175564"/>
          </a:xfrm>
          <a:prstGeom xmlns:a="http://schemas.openxmlformats.org/drawingml/2006/main" prst="rect">
            <a:avLst/>
          </a:prstGeom>
        </p:spPr>
      </p:pic>
      <p:sp>
        <p:nvSpPr>
          <p:cNvPr id="17452" name="TextBox 17451">
            <a:extLst xmlns:a="http://schemas.openxmlformats.org/drawingml/2006/main">
              <a:ext uri="{FF2B5EF4-FFF2-40B4-BE49-F238E27FC236}">
                <a16:creationId xmlns:a16="http://schemas.microsoft.com/office/drawing/2014/main" id="{58F7FB5F-0517-49E7-9F69-804F387D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444752"/>
            <a:ext cx="745235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Chat · Vaani</a:t>
            </a:r>
          </a:p>
        </p:txBody>
      </p:sp>
      <p:sp>
        <p:nvSpPr>
          <p:cNvPr id="17453" name="Rounded Rectangle 17452">
            <a:extLst xmlns:a="http://schemas.openxmlformats.org/drawingml/2006/main">
              <a:ext uri="{FF2B5EF4-FFF2-40B4-BE49-F238E27FC236}">
                <a16:creationId xmlns:a16="http://schemas.microsoft.com/office/drawing/2014/main" id="{60445519-98D7-4095-87B0-A3DF70FA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7620" y="1444752"/>
            <a:ext cx="1147572" cy="512064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E9E5B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54" name="Oval 17453">
            <a:extLst xmlns:a="http://schemas.openxmlformats.org/drawingml/2006/main">
              <a:ext uri="{FF2B5EF4-FFF2-40B4-BE49-F238E27FC236}">
                <a16:creationId xmlns:a16="http://schemas.microsoft.com/office/drawing/2014/main" id="{13DDDC3C-06A5-419B-ACE8-311CBDF3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3339" y="1554480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717" name="Picture 1745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6896e20e9a4f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21861" y="1613001"/>
            <a:ext cx="175564" cy="175564"/>
          </a:xfrm>
          <a:prstGeom xmlns:a="http://schemas.openxmlformats.org/drawingml/2006/main" prst="rect">
            <a:avLst/>
          </a:prstGeom>
        </p:spPr>
      </p:pic>
      <p:sp>
        <p:nvSpPr>
          <p:cNvPr id="17456" name="TextBox 17455">
            <a:extLst xmlns:a="http://schemas.openxmlformats.org/drawingml/2006/main">
              <a:ext uri="{FF2B5EF4-FFF2-40B4-BE49-F238E27FC236}">
                <a16:creationId xmlns:a16="http://schemas.microsoft.com/office/drawing/2014/main" id="{40D0D8AB-F7AC-4A6C-BA17-3A9E4393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2524" y="1444752"/>
            <a:ext cx="745235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Alert inbox</a:t>
            </a:r>
          </a:p>
        </p:txBody>
      </p:sp>
      <p:sp>
        <p:nvSpPr>
          <p:cNvPr id="17457" name="Rounded Rectangle 17456">
            <a:extLst xmlns:a="http://schemas.openxmlformats.org/drawingml/2006/main">
              <a:ext uri="{FF2B5EF4-FFF2-40B4-BE49-F238E27FC236}">
                <a16:creationId xmlns:a16="http://schemas.microsoft.com/office/drawing/2014/main" id="{58D3CE6A-D5FB-4D47-82FF-D6E32B9EE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6896" y="2029968"/>
            <a:ext cx="1147572" cy="512064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E9E5B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58" name="Oval 17457">
            <a:extLst xmlns:a="http://schemas.openxmlformats.org/drawingml/2006/main">
              <a:ext uri="{FF2B5EF4-FFF2-40B4-BE49-F238E27FC236}">
                <a16:creationId xmlns:a16="http://schemas.microsoft.com/office/drawing/2014/main" id="{22CB1D7D-BFEC-4BC0-88A9-104AE612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615" y="2139696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721" name="Picture 1745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a4a081aeeb4a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01137" y="2198217"/>
            <a:ext cx="175564" cy="175564"/>
          </a:xfrm>
          <a:prstGeom xmlns:a="http://schemas.openxmlformats.org/drawingml/2006/main" prst="rect">
            <a:avLst/>
          </a:prstGeom>
        </p:spPr>
      </p:pic>
      <p:sp>
        <p:nvSpPr>
          <p:cNvPr id="17460" name="TextBox 17459">
            <a:extLst xmlns:a="http://schemas.openxmlformats.org/drawingml/2006/main">
              <a:ext uri="{FF2B5EF4-FFF2-40B4-BE49-F238E27FC236}">
                <a16:creationId xmlns:a16="http://schemas.microsoft.com/office/drawing/2014/main" id="{2CB5FCD1-DD9F-4AAD-9A72-11AB66686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029968"/>
            <a:ext cx="745235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Warning map</a:t>
            </a:r>
          </a:p>
        </p:txBody>
      </p:sp>
      <p:sp>
        <p:nvSpPr>
          <p:cNvPr id="17461" name="Rounded Rectangle 17460">
            <a:extLst xmlns:a="http://schemas.openxmlformats.org/drawingml/2006/main">
              <a:ext uri="{FF2B5EF4-FFF2-40B4-BE49-F238E27FC236}">
                <a16:creationId xmlns:a16="http://schemas.microsoft.com/office/drawing/2014/main" id="{1F47F03F-46A7-4C6D-9FC3-5BEE80E41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7620" y="2029968"/>
            <a:ext cx="1147572" cy="512064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E9E5B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62" name="Oval 17461">
            <a:extLst xmlns:a="http://schemas.openxmlformats.org/drawingml/2006/main">
              <a:ext uri="{FF2B5EF4-FFF2-40B4-BE49-F238E27FC236}">
                <a16:creationId xmlns:a16="http://schemas.microsoft.com/office/drawing/2014/main" id="{71DB8983-6611-49A1-B3DC-3BDCC1D50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3339" y="2139696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725" name="Picture 1746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672cae7e0e43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21861" y="2198217"/>
            <a:ext cx="175564" cy="175564"/>
          </a:xfrm>
          <a:prstGeom xmlns:a="http://schemas.openxmlformats.org/drawingml/2006/main" prst="rect">
            <a:avLst/>
          </a:prstGeom>
        </p:spPr>
      </p:pic>
      <p:sp>
        <p:nvSpPr>
          <p:cNvPr id="17464" name="TextBox 17463">
            <a:extLst xmlns:a="http://schemas.openxmlformats.org/drawingml/2006/main">
              <a:ext uri="{FF2B5EF4-FFF2-40B4-BE49-F238E27FC236}">
                <a16:creationId xmlns:a16="http://schemas.microsoft.com/office/drawing/2014/main" id="{260E1BA5-1AA1-490D-B985-684642627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2524" y="2029968"/>
            <a:ext cx="745235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Krishi Salah</a:t>
            </a:r>
          </a:p>
        </p:txBody>
      </p:sp>
      <p:sp>
        <p:nvSpPr>
          <p:cNvPr id="17465" name="Rounded Rectangle 17464">
            <a:extLst xmlns:a="http://schemas.openxmlformats.org/drawingml/2006/main">
              <a:ext uri="{FF2B5EF4-FFF2-40B4-BE49-F238E27FC236}">
                <a16:creationId xmlns:a16="http://schemas.microsoft.com/office/drawing/2014/main" id="{7F9704BF-2FE8-4394-92C2-674A32F7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6896" y="2615184"/>
            <a:ext cx="1147572" cy="512064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E9E5B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66" name="Oval 17465">
            <a:extLst xmlns:a="http://schemas.openxmlformats.org/drawingml/2006/main">
              <a:ext uri="{FF2B5EF4-FFF2-40B4-BE49-F238E27FC236}">
                <a16:creationId xmlns:a16="http://schemas.microsoft.com/office/drawing/2014/main" id="{24EBA78D-E83A-4CD4-AD8D-3BB58DD15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615" y="2724912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729" name="Picture 1746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fcd5d824da4f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01137" y="2783433"/>
            <a:ext cx="175564" cy="175564"/>
          </a:xfrm>
          <a:prstGeom xmlns:a="http://schemas.openxmlformats.org/drawingml/2006/main" prst="rect">
            <a:avLst/>
          </a:prstGeom>
        </p:spPr>
      </p:pic>
      <p:sp>
        <p:nvSpPr>
          <p:cNvPr id="17468" name="TextBox 17467">
            <a:extLst xmlns:a="http://schemas.openxmlformats.org/drawingml/2006/main">
              <a:ext uri="{FF2B5EF4-FFF2-40B4-BE49-F238E27FC236}">
                <a16:creationId xmlns:a16="http://schemas.microsoft.com/office/drawing/2014/main" id="{DFBC476A-5427-4D8D-8DCC-2D5150212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615184"/>
            <a:ext cx="745235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Jalvayu Lens</a:t>
            </a:r>
          </a:p>
        </p:txBody>
      </p:sp>
      <p:sp>
        <p:nvSpPr>
          <p:cNvPr id="17469" name="Rounded Rectangle 17468">
            <a:extLst xmlns:a="http://schemas.openxmlformats.org/drawingml/2006/main">
              <a:ext uri="{FF2B5EF4-FFF2-40B4-BE49-F238E27FC236}">
                <a16:creationId xmlns:a16="http://schemas.microsoft.com/office/drawing/2014/main" id="{6886D173-0505-4E9E-B465-148D1D2BA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7620" y="2615184"/>
            <a:ext cx="1147572" cy="512064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E9E5B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70" name="Oval 17469">
            <a:extLst xmlns:a="http://schemas.openxmlformats.org/drawingml/2006/main">
              <a:ext uri="{FF2B5EF4-FFF2-40B4-BE49-F238E27FC236}">
                <a16:creationId xmlns:a16="http://schemas.microsoft.com/office/drawing/2014/main" id="{B3D9274F-145B-4967-B00B-D46386E2F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3339" y="2724912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733" name="Picture 1747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9721b1306b45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21861" y="2783433"/>
            <a:ext cx="175564" cy="175564"/>
          </a:xfrm>
          <a:prstGeom xmlns:a="http://schemas.openxmlformats.org/drawingml/2006/main" prst="rect">
            <a:avLst/>
          </a:prstGeom>
        </p:spPr>
      </p:pic>
      <p:sp>
        <p:nvSpPr>
          <p:cNvPr id="17472" name="TextBox 17471">
            <a:extLst xmlns:a="http://schemas.openxmlformats.org/drawingml/2006/main">
              <a:ext uri="{FF2B5EF4-FFF2-40B4-BE49-F238E27FC236}">
                <a16:creationId xmlns:a16="http://schemas.microsoft.com/office/drawing/2014/main" id="{82D37C7A-5ED4-4D60-9F8F-64F54AC18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2524" y="2615184"/>
            <a:ext cx="745235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Offline cache</a:t>
            </a:r>
          </a:p>
        </p:txBody>
      </p:sp>
      <p:sp>
        <p:nvSpPr>
          <p:cNvPr id="17473" name="Rounded Rectangle 17472">
            <a:extLst xmlns:a="http://schemas.openxmlformats.org/drawingml/2006/main">
              <a:ext uri="{FF2B5EF4-FFF2-40B4-BE49-F238E27FC236}">
                <a16:creationId xmlns:a16="http://schemas.microsoft.com/office/drawing/2014/main" id="{5B242E9B-AE84-4B11-BA3A-4C5C24DF1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088" y="1481328"/>
            <a:ext cx="868680" cy="603504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B5BC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74" name="TextBox 17473">
            <a:extLst xmlns:a="http://schemas.openxmlformats.org/drawingml/2006/main">
              <a:ext uri="{FF2B5EF4-FFF2-40B4-BE49-F238E27FC236}">
                <a16:creationId xmlns:a16="http://schemas.microsoft.com/office/drawing/2014/main" id="{B7DB1B93-505E-4079-ADB0-77A31CE8B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1807" y="1481328"/>
            <a:ext cx="795528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Gateway</a:t>
            </a:r>
          </a:p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WebSocket · SSE</a:t>
            </a:r>
          </a:p>
        </p:txBody>
      </p:sp>
      <p:sp>
        <p:nvSpPr>
          <p:cNvPr id="17475" name="Oval 17474">
            <a:extLst xmlns:a="http://schemas.openxmlformats.org/drawingml/2006/main">
              <a:ext uri="{FF2B5EF4-FFF2-40B4-BE49-F238E27FC236}">
                <a16:creationId xmlns:a16="http://schemas.microsoft.com/office/drawing/2014/main" id="{5DA41421-15FE-4043-A924-F280ABD11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1224" y="1417320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5BC2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476" name="Connector 17475">
            <a:extLst xmlns:a="http://schemas.openxmlformats.org/drawingml/2006/main">
              <a:ext uri="{FF2B5EF4-FFF2-40B4-BE49-F238E27FC236}">
                <a16:creationId xmlns:a16="http://schemas.microsoft.com/office/drawing/2014/main" id="{136A9837-BC43-401E-93BF-E06A2B22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1783080"/>
            <a:ext cx="75895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5B5BC2"/>
            </a:solidFill>
            <a:tailEnd type="triangle" w="med" len="med"/>
          </a:ln>
        </p:spPr>
      </p:sp>
      <p:sp>
        <p:nvSpPr>
          <p:cNvPr id="17477" name="Rounded Rectangle 17476">
            <a:extLst xmlns:a="http://schemas.openxmlformats.org/drawingml/2006/main">
              <a:ext uri="{FF2B5EF4-FFF2-40B4-BE49-F238E27FC236}">
                <a16:creationId xmlns:a16="http://schemas.microsoft.com/office/drawing/2014/main" id="{3D775FA9-C6A3-49F7-BEBC-F9A6C921D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0663" y="1481328"/>
            <a:ext cx="868680" cy="603504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B5BC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78" name="TextBox 17477">
            <a:extLst xmlns:a="http://schemas.openxmlformats.org/drawingml/2006/main">
              <a:ext uri="{FF2B5EF4-FFF2-40B4-BE49-F238E27FC236}">
                <a16:creationId xmlns:a16="http://schemas.microsoft.com/office/drawing/2014/main" id="{296F07F7-7A6C-4237-8B28-62328EC78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6383" y="1481328"/>
            <a:ext cx="795528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PLAN</a:t>
            </a:r>
          </a:p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LLM, re-plans once</a:t>
            </a:r>
          </a:p>
        </p:txBody>
      </p:sp>
      <p:sp>
        <p:nvSpPr>
          <p:cNvPr id="17479" name="Oval 17478">
            <a:extLst xmlns:a="http://schemas.openxmlformats.org/drawingml/2006/main">
              <a:ext uri="{FF2B5EF4-FFF2-40B4-BE49-F238E27FC236}">
                <a16:creationId xmlns:a16="http://schemas.microsoft.com/office/drawing/2014/main" id="{3311706F-4968-4125-A980-D09B1627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5799" y="1417320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5BC2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480" name="Connector 17479">
            <a:extLst xmlns:a="http://schemas.openxmlformats.org/drawingml/2006/main">
              <a:ext uri="{FF2B5EF4-FFF2-40B4-BE49-F238E27FC236}">
                <a16:creationId xmlns:a16="http://schemas.microsoft.com/office/drawing/2014/main" id="{A89E3747-3D3D-4177-9772-7D7D6437B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9343" y="1783080"/>
            <a:ext cx="75895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5B5BC2"/>
            </a:solidFill>
            <a:tailEnd type="triangle" w="med" len="med"/>
          </a:ln>
        </p:spPr>
      </p:sp>
      <p:sp>
        <p:nvSpPr>
          <p:cNvPr id="17481" name="Rounded Rectangle 17480">
            <a:extLst xmlns:a="http://schemas.openxmlformats.org/drawingml/2006/main">
              <a:ext uri="{FF2B5EF4-FFF2-40B4-BE49-F238E27FC236}">
                <a16:creationId xmlns:a16="http://schemas.microsoft.com/office/drawing/2014/main" id="{585E30CC-FA9E-4DA4-A72C-C2F57690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5238" y="1481328"/>
            <a:ext cx="868680" cy="603504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B5BC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82" name="TextBox 17481">
            <a:extLst xmlns:a="http://schemas.openxmlformats.org/drawingml/2006/main">
              <a:ext uri="{FF2B5EF4-FFF2-40B4-BE49-F238E27FC236}">
                <a16:creationId xmlns:a16="http://schemas.microsoft.com/office/drawing/2014/main" id="{325B9D18-5B12-4289-84CE-858D0505A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958" y="1481328"/>
            <a:ext cx="795528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RETRIEVE</a:t>
            </a:r>
          </a:p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governed tools</a:t>
            </a:r>
          </a:p>
        </p:txBody>
      </p:sp>
      <p:sp>
        <p:nvSpPr>
          <p:cNvPr id="17483" name="Oval 17482">
            <a:extLst xmlns:a="http://schemas.openxmlformats.org/drawingml/2006/main">
              <a:ext uri="{FF2B5EF4-FFF2-40B4-BE49-F238E27FC236}">
                <a16:creationId xmlns:a16="http://schemas.microsoft.com/office/drawing/2014/main" id="{1EC4F04B-FF25-444D-A2AB-FE64E4894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0374" y="1417320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5BC2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484" name="Connector 17483">
            <a:extLst xmlns:a="http://schemas.openxmlformats.org/drawingml/2006/main">
              <a:ext uri="{FF2B5EF4-FFF2-40B4-BE49-F238E27FC236}">
                <a16:creationId xmlns:a16="http://schemas.microsoft.com/office/drawing/2014/main" id="{078FF976-A6F8-4BDE-B149-F83F7F118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3918" y="1783080"/>
            <a:ext cx="75895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5B5BC2"/>
            </a:solidFill>
            <a:tailEnd type="triangle" w="med" len="med"/>
          </a:ln>
        </p:spPr>
      </p:sp>
      <p:sp>
        <p:nvSpPr>
          <p:cNvPr id="17485" name="Rounded Rectangle 17484">
            <a:extLst xmlns:a="http://schemas.openxmlformats.org/drawingml/2006/main">
              <a:ext uri="{FF2B5EF4-FFF2-40B4-BE49-F238E27FC236}">
                <a16:creationId xmlns:a16="http://schemas.microsoft.com/office/drawing/2014/main" id="{372E7780-7A19-41F0-A70F-6D608DABB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9813" y="1481328"/>
            <a:ext cx="868680" cy="603504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B5BC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86" name="TextBox 17485">
            <a:extLst xmlns:a="http://schemas.openxmlformats.org/drawingml/2006/main">
              <a:ext uri="{FF2B5EF4-FFF2-40B4-BE49-F238E27FC236}">
                <a16:creationId xmlns:a16="http://schemas.microsoft.com/office/drawing/2014/main" id="{7E0D2142-1404-40C3-A9BC-787A3049A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5533" y="1481328"/>
            <a:ext cx="795527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WEIGH</a:t>
            </a:r>
          </a:p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never averaged</a:t>
            </a:r>
          </a:p>
        </p:txBody>
      </p:sp>
      <p:sp>
        <p:nvSpPr>
          <p:cNvPr id="17487" name="Oval 17486">
            <a:extLst xmlns:a="http://schemas.openxmlformats.org/drawingml/2006/main">
              <a:ext uri="{FF2B5EF4-FFF2-40B4-BE49-F238E27FC236}">
                <a16:creationId xmlns:a16="http://schemas.microsoft.com/office/drawing/2014/main" id="{C6285B1D-2692-401F-9692-2C2BC78C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4949" y="1417320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5BC2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488" name="Connector 17487">
            <a:extLst xmlns:a="http://schemas.openxmlformats.org/drawingml/2006/main">
              <a:ext uri="{FF2B5EF4-FFF2-40B4-BE49-F238E27FC236}">
                <a16:creationId xmlns:a16="http://schemas.microsoft.com/office/drawing/2014/main" id="{ABC97D32-071E-4670-924B-552442F34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4153" y="2084831"/>
            <a:ext cx="0" cy="402337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D97A06"/>
            </a:solidFill>
            <a:tailEnd type="triangle" w="med" len="med"/>
          </a:ln>
        </p:spPr>
      </p:sp>
      <p:sp>
        <p:nvSpPr>
          <p:cNvPr id="17489" name="TextBox 17488">
            <a:extLst xmlns:a="http://schemas.openxmlformats.org/drawingml/2006/main">
              <a:ext uri="{FF2B5EF4-FFF2-40B4-BE49-F238E27FC236}">
                <a16:creationId xmlns:a16="http://schemas.microsoft.com/office/drawing/2014/main" id="{A9E8D932-F36B-4C24-9459-A58576C21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088" y="2157984"/>
            <a:ext cx="2743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50" b="0" i="1">
                <a:solidFill>
                  <a:srgbClr val="55666E"/>
                </a:solidFill>
                <a:latin typeface="Arial"/>
                <a:ea typeface="Arial"/>
                <a:cs typeface="Arial"/>
              </a:rPr>
              <a:t>plan → retrieve → weigh → compose → </a:t>
            </a:r>
            <a:r>
              <a:rPr sz="850" b="1" i="1">
                <a:solidFill>
                  <a:srgbClr val="55666E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17490" name="Rounded Rectangle 17489">
            <a:extLst xmlns:a="http://schemas.openxmlformats.org/drawingml/2006/main">
              <a:ext uri="{FF2B5EF4-FFF2-40B4-BE49-F238E27FC236}">
                <a16:creationId xmlns:a16="http://schemas.microsoft.com/office/drawing/2014/main" id="{1C00FA49-4B24-4200-9A56-400DA4966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9813" y="2487168"/>
            <a:ext cx="868680" cy="64008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B5BC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91" name="TextBox 17490">
            <a:extLst xmlns:a="http://schemas.openxmlformats.org/drawingml/2006/main">
              <a:ext uri="{FF2B5EF4-FFF2-40B4-BE49-F238E27FC236}">
                <a16:creationId xmlns:a16="http://schemas.microsoft.com/office/drawing/2014/main" id="{8A7158E6-63FC-4011-8736-5A03A654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5533" y="2487168"/>
            <a:ext cx="795527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COMPOSE</a:t>
            </a:r>
          </a:p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LLM, from evidence</a:t>
            </a:r>
          </a:p>
        </p:txBody>
      </p:sp>
      <p:sp>
        <p:nvSpPr>
          <p:cNvPr id="17492" name="Oval 17491">
            <a:extLst xmlns:a="http://schemas.openxmlformats.org/drawingml/2006/main">
              <a:ext uri="{FF2B5EF4-FFF2-40B4-BE49-F238E27FC236}">
                <a16:creationId xmlns:a16="http://schemas.microsoft.com/office/drawing/2014/main" id="{0A0B3220-6802-43D1-B86C-C8EC4E7F1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4949" y="2423160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5BC2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7493" name="Connector 17492">
            <a:extLst xmlns:a="http://schemas.openxmlformats.org/drawingml/2006/main">
              <a:ext uri="{FF2B5EF4-FFF2-40B4-BE49-F238E27FC236}">
                <a16:creationId xmlns:a16="http://schemas.microsoft.com/office/drawing/2014/main" id="{50B1169B-BD78-4238-A172-EE01CEE7A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8033918" y="2807208"/>
            <a:ext cx="75895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5B5BC2"/>
            </a:solidFill>
            <a:tailEnd type="triangle" w="med" len="med"/>
          </a:ln>
        </p:spPr>
      </p:sp>
      <p:sp>
        <p:nvSpPr>
          <p:cNvPr id="17494" name="Rounded Rectangle 17493">
            <a:extLst xmlns:a="http://schemas.openxmlformats.org/drawingml/2006/main">
              <a:ext uri="{FF2B5EF4-FFF2-40B4-BE49-F238E27FC236}">
                <a16:creationId xmlns:a16="http://schemas.microsoft.com/office/drawing/2014/main" id="{4C9106FD-B8DF-4E69-BC4E-01043A437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5238" y="2487168"/>
            <a:ext cx="868680" cy="64008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B2239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95" name="TextBox 17494">
            <a:extLst xmlns:a="http://schemas.openxmlformats.org/drawingml/2006/main">
              <a:ext uri="{FF2B5EF4-FFF2-40B4-BE49-F238E27FC236}">
                <a16:creationId xmlns:a16="http://schemas.microsoft.com/office/drawing/2014/main" id="{067CCAEE-6A9D-4221-AEDA-A404CCF38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958" y="2487168"/>
            <a:ext cx="795528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C766"/>
                </a:solidFill>
                <a:latin typeface="Arial"/>
                <a:ea typeface="Arial"/>
                <a:cs typeface="Arial"/>
              </a:rPr>
              <a:t>SATYA GATE</a:t>
            </a:r>
          </a:p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verify every value</a:t>
            </a:r>
          </a:p>
        </p:txBody>
      </p:sp>
      <p:sp>
        <p:nvSpPr>
          <p:cNvPr id="17496" name="Oval 17495">
            <a:extLst xmlns:a="http://schemas.openxmlformats.org/drawingml/2006/main">
              <a:ext uri="{FF2B5EF4-FFF2-40B4-BE49-F238E27FC236}">
                <a16:creationId xmlns:a16="http://schemas.microsoft.com/office/drawing/2014/main" id="{47D02B40-4D47-44BD-ADE5-98AE8973D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0374" y="2423160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A06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497" name="Connector 17496">
            <a:extLst xmlns:a="http://schemas.openxmlformats.org/drawingml/2006/main">
              <a:ext uri="{FF2B5EF4-FFF2-40B4-BE49-F238E27FC236}">
                <a16:creationId xmlns:a16="http://schemas.microsoft.com/office/drawing/2014/main" id="{D118E397-4E59-4497-88E2-EE222EABF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089343" y="2807208"/>
            <a:ext cx="75895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5B5BC2"/>
            </a:solidFill>
            <a:tailEnd type="triangle" w="med" len="med"/>
          </a:ln>
        </p:spPr>
      </p:sp>
      <p:sp>
        <p:nvSpPr>
          <p:cNvPr id="17498" name="Rounded Rectangle 17497">
            <a:extLst xmlns:a="http://schemas.openxmlformats.org/drawingml/2006/main">
              <a:ext uri="{FF2B5EF4-FFF2-40B4-BE49-F238E27FC236}">
                <a16:creationId xmlns:a16="http://schemas.microsoft.com/office/drawing/2014/main" id="{D10115E8-C60E-4638-85F9-2A1CE0FB7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0663" y="2487168"/>
            <a:ext cx="868680" cy="64008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B5BC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99" name="TextBox 17498">
            <a:extLst xmlns:a="http://schemas.openxmlformats.org/drawingml/2006/main">
              <a:ext uri="{FF2B5EF4-FFF2-40B4-BE49-F238E27FC236}">
                <a16:creationId xmlns:a16="http://schemas.microsoft.com/office/drawing/2014/main" id="{69C4D3D6-F7A2-4FEB-A405-A71F7A223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6383" y="2487168"/>
            <a:ext cx="795528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Vaani</a:t>
            </a:r>
          </a:p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Sarvam AI voice</a:t>
            </a:r>
          </a:p>
        </p:txBody>
      </p:sp>
      <p:sp>
        <p:nvSpPr>
          <p:cNvPr id="17500" name="Oval 17499">
            <a:extLst xmlns:a="http://schemas.openxmlformats.org/drawingml/2006/main">
              <a:ext uri="{FF2B5EF4-FFF2-40B4-BE49-F238E27FC236}">
                <a16:creationId xmlns:a16="http://schemas.microsoft.com/office/drawing/2014/main" id="{50553862-8253-4181-A504-1B73587BD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5799" y="2423160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5BC2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7501" name="Rounded Rectangle 17500">
            <a:extLst xmlns:a="http://schemas.openxmlformats.org/drawingml/2006/main">
              <a:ext uri="{FF2B5EF4-FFF2-40B4-BE49-F238E27FC236}">
                <a16:creationId xmlns:a16="http://schemas.microsoft.com/office/drawing/2014/main" id="{86286C67-60F7-41FC-83CB-B3383D5B9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088" y="2487168"/>
            <a:ext cx="868680" cy="64008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9525">
            <a:solidFill>
              <a:srgbClr val="D1423F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502" name="TextBox 17501">
            <a:extLst xmlns:a="http://schemas.openxmlformats.org/drawingml/2006/main">
              <a:ext uri="{FF2B5EF4-FFF2-40B4-BE49-F238E27FC236}">
                <a16:creationId xmlns:a16="http://schemas.microsoft.com/office/drawing/2014/main" id="{196829B6-8A25-4595-8698-6AECCEEF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088" y="2487168"/>
            <a:ext cx="8686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D1423F"/>
                </a:solidFill>
                <a:latin typeface="Arial"/>
                <a:ea typeface="Arial"/>
                <a:cs typeface="Arial"/>
              </a:rPr>
              <a:t>Chetavani Relay</a:t>
            </a:r>
          </a:p>
          <a:p xmlns:a="http://schemas.openxmlformats.org/drawingml/2006/main"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alert lane</a:t>
            </a:r>
          </a:p>
        </p:txBody>
      </p:sp>
      <p:sp>
        <p:nvSpPr>
          <p:cNvPr id="17503" name="Rounded Rectangle 17502">
            <a:extLst xmlns:a="http://schemas.openxmlformats.org/drawingml/2006/main">
              <a:ext uri="{FF2B5EF4-FFF2-40B4-BE49-F238E27FC236}">
                <a16:creationId xmlns:a16="http://schemas.microsoft.com/office/drawing/2014/main" id="{D5AC5BE0-A815-49E7-87F5-DE9B14CDB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4584" y="1444752"/>
            <a:ext cx="1261872" cy="512064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6E9A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504" name="Oval 17503">
            <a:extLst xmlns:a="http://schemas.openxmlformats.org/drawingml/2006/main">
              <a:ext uri="{FF2B5EF4-FFF2-40B4-BE49-F238E27FC236}">
                <a16:creationId xmlns:a16="http://schemas.microsoft.com/office/drawing/2014/main" id="{0B067900-2872-4DD1-85B2-36B3E7F53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1554480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6E9A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767" name="Picture 1750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93c7abc34e49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48825" y="1613001"/>
            <a:ext cx="175564" cy="175564"/>
          </a:xfrm>
          <a:prstGeom xmlns:a="http://schemas.openxmlformats.org/drawingml/2006/main" prst="rect">
            <a:avLst/>
          </a:prstGeom>
        </p:spPr>
      </p:pic>
      <p:sp>
        <p:nvSpPr>
          <p:cNvPr id="17506" name="TextBox 17505">
            <a:extLst xmlns:a="http://schemas.openxmlformats.org/drawingml/2006/main">
              <a:ext uri="{FF2B5EF4-FFF2-40B4-BE49-F238E27FC236}">
                <a16:creationId xmlns:a16="http://schemas.microsoft.com/office/drawing/2014/main" id="{9281D40E-1CE2-4A08-BAE5-9601AADDC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1444752"/>
            <a:ext cx="85953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IMD warnings</a:t>
            </a:r>
          </a:p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CAP · 756 districts</a:t>
            </a:r>
          </a:p>
        </p:txBody>
      </p:sp>
      <p:sp>
        <p:nvSpPr>
          <p:cNvPr id="17507" name="Rounded Rectangle 17506">
            <a:extLst xmlns:a="http://schemas.openxmlformats.org/drawingml/2006/main">
              <a:ext uri="{FF2B5EF4-FFF2-40B4-BE49-F238E27FC236}">
                <a16:creationId xmlns:a16="http://schemas.microsoft.com/office/drawing/2014/main" id="{33817FE2-FBD9-4DC7-9AF2-7C4F29BC6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9608" y="1444752"/>
            <a:ext cx="1261872" cy="512064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6E9A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508" name="Oval 17507">
            <a:extLst xmlns:a="http://schemas.openxmlformats.org/drawingml/2006/main">
              <a:ext uri="{FF2B5EF4-FFF2-40B4-BE49-F238E27FC236}">
                <a16:creationId xmlns:a16="http://schemas.microsoft.com/office/drawing/2014/main" id="{77EE82DB-BEBC-46BF-886E-780DABFC4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5328" y="1554480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6E9A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771" name="Picture 1750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ba2d76f4ee41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83849" y="1613001"/>
            <a:ext cx="175564" cy="175564"/>
          </a:xfrm>
          <a:prstGeom xmlns:a="http://schemas.openxmlformats.org/drawingml/2006/main" prst="rect">
            <a:avLst/>
          </a:prstGeom>
        </p:spPr>
      </p:pic>
      <p:sp>
        <p:nvSpPr>
          <p:cNvPr id="17510" name="TextBox 17509">
            <a:extLst xmlns:a="http://schemas.openxmlformats.org/drawingml/2006/main">
              <a:ext uri="{FF2B5EF4-FFF2-40B4-BE49-F238E27FC236}">
                <a16:creationId xmlns:a16="http://schemas.microsoft.com/office/drawing/2014/main" id="{55308A76-B548-430F-A883-AE4DDCAB2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4512" y="1444752"/>
            <a:ext cx="859535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IMD nowcast</a:t>
            </a:r>
          </a:p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764 districts</a:t>
            </a:r>
          </a:p>
        </p:txBody>
      </p:sp>
      <p:sp>
        <p:nvSpPr>
          <p:cNvPr id="17511" name="Rounded Rectangle 17510">
            <a:extLst xmlns:a="http://schemas.openxmlformats.org/drawingml/2006/main">
              <a:ext uri="{FF2B5EF4-FFF2-40B4-BE49-F238E27FC236}">
                <a16:creationId xmlns:a16="http://schemas.microsoft.com/office/drawing/2014/main" id="{ED22540B-0C49-41F5-992F-46AF3A88D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4584" y="2029968"/>
            <a:ext cx="1261872" cy="512064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6E9A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512" name="Oval 17511">
            <a:extLst xmlns:a="http://schemas.openxmlformats.org/drawingml/2006/main">
              <a:ext uri="{FF2B5EF4-FFF2-40B4-BE49-F238E27FC236}">
                <a16:creationId xmlns:a16="http://schemas.microsoft.com/office/drawing/2014/main" id="{BE38E9A7-A68E-4909-B8FA-7FED11FC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139696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6E9A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775" name="Picture 175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b15a6cea964d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48825" y="2198217"/>
            <a:ext cx="175564" cy="175564"/>
          </a:xfrm>
          <a:prstGeom xmlns:a="http://schemas.openxmlformats.org/drawingml/2006/main" prst="rect">
            <a:avLst/>
          </a:prstGeom>
        </p:spPr>
      </p:pic>
      <p:sp>
        <p:nvSpPr>
          <p:cNvPr id="17514" name="TextBox 17513">
            <a:extLst xmlns:a="http://schemas.openxmlformats.org/drawingml/2006/main">
              <a:ext uri="{FF2B5EF4-FFF2-40B4-BE49-F238E27FC236}">
                <a16:creationId xmlns:a16="http://schemas.microsoft.com/office/drawing/2014/main" id="{5200A9C3-ABEC-441D-A718-E5089AA40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2029968"/>
            <a:ext cx="85953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Mausamgram</a:t>
            </a:r>
          </a:p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IMD multi-model</a:t>
            </a:r>
          </a:p>
        </p:txBody>
      </p:sp>
      <p:sp>
        <p:nvSpPr>
          <p:cNvPr id="17515" name="Rounded Rectangle 17514">
            <a:extLst xmlns:a="http://schemas.openxmlformats.org/drawingml/2006/main">
              <a:ext uri="{FF2B5EF4-FFF2-40B4-BE49-F238E27FC236}">
                <a16:creationId xmlns:a16="http://schemas.microsoft.com/office/drawing/2014/main" id="{AA078D83-AF68-435F-BE06-2847B677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9608" y="2029968"/>
            <a:ext cx="1261872" cy="512064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6E9A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516" name="Oval 17515">
            <a:extLst xmlns:a="http://schemas.openxmlformats.org/drawingml/2006/main">
              <a:ext uri="{FF2B5EF4-FFF2-40B4-BE49-F238E27FC236}">
                <a16:creationId xmlns:a16="http://schemas.microsoft.com/office/drawing/2014/main" id="{F5987517-F571-494B-A20B-BEF67C2E8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5328" y="2139696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6E9A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779" name="Picture 175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fcd5d824da4f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83849" y="2198217"/>
            <a:ext cx="175564" cy="175564"/>
          </a:xfrm>
          <a:prstGeom xmlns:a="http://schemas.openxmlformats.org/drawingml/2006/main" prst="rect">
            <a:avLst/>
          </a:prstGeom>
        </p:spPr>
      </p:pic>
      <p:sp>
        <p:nvSpPr>
          <p:cNvPr id="17518" name="TextBox 17517">
            <a:extLst xmlns:a="http://schemas.openxmlformats.org/drawingml/2006/main">
              <a:ext uri="{FF2B5EF4-FFF2-40B4-BE49-F238E27FC236}">
                <a16:creationId xmlns:a16="http://schemas.microsoft.com/office/drawing/2014/main" id="{B2EE13DA-3D53-4926-9400-86BBF80F6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4512" y="2029968"/>
            <a:ext cx="859535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IMD stations</a:t>
            </a:r>
          </a:p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2,071 AWS / ARG</a:t>
            </a:r>
          </a:p>
        </p:txBody>
      </p:sp>
      <p:sp>
        <p:nvSpPr>
          <p:cNvPr id="17519" name="Rounded Rectangle 17518">
            <a:extLst xmlns:a="http://schemas.openxmlformats.org/drawingml/2006/main">
              <a:ext uri="{FF2B5EF4-FFF2-40B4-BE49-F238E27FC236}">
                <a16:creationId xmlns:a16="http://schemas.microsoft.com/office/drawing/2014/main" id="{D31DAAB8-77FB-4CF8-BFD3-5A27A50E2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4584" y="2615184"/>
            <a:ext cx="1261872" cy="512064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6E9A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520" name="Oval 17519">
            <a:extLst xmlns:a="http://schemas.openxmlformats.org/drawingml/2006/main">
              <a:ext uri="{FF2B5EF4-FFF2-40B4-BE49-F238E27FC236}">
                <a16:creationId xmlns:a16="http://schemas.microsoft.com/office/drawing/2014/main" id="{9979CF07-5040-467E-AB9D-C7D707A08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724912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6E9A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783" name="Picture 175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32a9f586d241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48825" y="2783433"/>
            <a:ext cx="175564" cy="175564"/>
          </a:xfrm>
          <a:prstGeom xmlns:a="http://schemas.openxmlformats.org/drawingml/2006/main" prst="rect">
            <a:avLst/>
          </a:prstGeom>
        </p:spPr>
      </p:pic>
      <p:sp>
        <p:nvSpPr>
          <p:cNvPr id="17522" name="TextBox 17521">
            <a:extLst xmlns:a="http://schemas.openxmlformats.org/drawingml/2006/main">
              <a:ext uri="{FF2B5EF4-FFF2-40B4-BE49-F238E27FC236}">
                <a16:creationId xmlns:a16="http://schemas.microsoft.com/office/drawing/2014/main" id="{544CD1FB-E6AE-4019-8FDA-1817F755F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2615184"/>
            <a:ext cx="85953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IMD sat · radar</a:t>
            </a:r>
          </a:p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INSAT-3DS · DWR</a:t>
            </a:r>
          </a:p>
        </p:txBody>
      </p:sp>
      <p:sp>
        <p:nvSpPr>
          <p:cNvPr id="17523" name="Rounded Rectangle 17522">
            <a:extLst xmlns:a="http://schemas.openxmlformats.org/drawingml/2006/main">
              <a:ext uri="{FF2B5EF4-FFF2-40B4-BE49-F238E27FC236}">
                <a16:creationId xmlns:a16="http://schemas.microsoft.com/office/drawing/2014/main" id="{49BE9F21-E722-470D-90DE-36E5852D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9608" y="2615184"/>
            <a:ext cx="1261872" cy="512064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6E9A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524" name="Oval 17523">
            <a:extLst xmlns:a="http://schemas.openxmlformats.org/drawingml/2006/main">
              <a:ext uri="{FF2B5EF4-FFF2-40B4-BE49-F238E27FC236}">
                <a16:creationId xmlns:a16="http://schemas.microsoft.com/office/drawing/2014/main" id="{DB6C9C1C-7693-4AF6-832E-AF3005286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5328" y="2724912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6E9A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787" name="Picture 175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da7377f39143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83849" y="2783433"/>
            <a:ext cx="175564" cy="175564"/>
          </a:xfrm>
          <a:prstGeom xmlns:a="http://schemas.openxmlformats.org/drawingml/2006/main" prst="rect">
            <a:avLst/>
          </a:prstGeom>
        </p:spPr>
      </p:pic>
      <p:sp>
        <p:nvSpPr>
          <p:cNvPr id="17526" name="TextBox 17525">
            <a:extLst xmlns:a="http://schemas.openxmlformats.org/drawingml/2006/main">
              <a:ext uri="{FF2B5EF4-FFF2-40B4-BE49-F238E27FC236}">
                <a16:creationId xmlns:a16="http://schemas.microsoft.com/office/drawing/2014/main" id="{C8D27592-B182-4F00-B555-1F2C05BBD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4512" y="2615184"/>
            <a:ext cx="859535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Global second</a:t>
            </a:r>
          </a:p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GFS · WRF · WIS 2.0</a:t>
            </a:r>
          </a:p>
        </p:txBody>
      </p:sp>
      <p:sp>
        <p:nvSpPr>
          <p:cNvPr id="17527" name="Connector 17526">
            <a:extLst xmlns:a="http://schemas.openxmlformats.org/drawingml/2006/main">
              <a:ext uri="{FF2B5EF4-FFF2-40B4-BE49-F238E27FC236}">
                <a16:creationId xmlns:a16="http://schemas.microsoft.com/office/drawing/2014/main" id="{A4BF246A-A6AE-4E48-9F51-2C5A68D32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2212848"/>
            <a:ext cx="237743" cy="0"/>
          </a:xfrm>
          <a:prstGeom xmlns:a="http://schemas.openxmlformats.org/drawingml/2006/main" prst="line">
            <a:avLst/>
          </a:prstGeom>
          <a:ln xmlns:a="http://schemas.openxmlformats.org/drawingml/2006/main" w="31750">
            <a:solidFill>
              <a:srgbClr val="0B2239"/>
            </a:solidFill>
            <a:headEnd type="triangle" w="med" len="med"/>
            <a:tailEnd type="triangle" w="med" len="med"/>
          </a:ln>
        </p:spPr>
      </p:sp>
      <p:sp>
        <p:nvSpPr>
          <p:cNvPr id="17528" name="Connector 17527">
            <a:extLst xmlns:a="http://schemas.openxmlformats.org/drawingml/2006/main">
              <a:ext uri="{FF2B5EF4-FFF2-40B4-BE49-F238E27FC236}">
                <a16:creationId xmlns:a16="http://schemas.microsoft.com/office/drawing/2014/main" id="{EEB11B17-4320-4B55-BF41-F66DF86F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2624" y="2212848"/>
            <a:ext cx="237744" cy="0"/>
          </a:xfrm>
          <a:prstGeom xmlns:a="http://schemas.openxmlformats.org/drawingml/2006/main" prst="line">
            <a:avLst/>
          </a:prstGeom>
          <a:ln xmlns:a="http://schemas.openxmlformats.org/drawingml/2006/main" w="31750">
            <a:solidFill>
              <a:srgbClr val="0B2239"/>
            </a:solidFill>
            <a:headEnd type="triangle" w="med" len="med"/>
            <a:tailEnd type="triangle" w="med" len="med"/>
          </a:ln>
        </p:spPr>
      </p:sp>
      <p:sp>
        <p:nvSpPr>
          <p:cNvPr id="17529" name="Connector 17528">
            <a:extLst xmlns:a="http://schemas.openxmlformats.org/drawingml/2006/main">
              <a:ext uri="{FF2B5EF4-FFF2-40B4-BE49-F238E27FC236}">
                <a16:creationId xmlns:a16="http://schemas.microsoft.com/office/drawing/2014/main" id="{53AA7ED0-2E83-47C2-9E51-2436A965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2212848"/>
            <a:ext cx="237744" cy="0"/>
          </a:xfrm>
          <a:prstGeom xmlns:a="http://schemas.openxmlformats.org/drawingml/2006/main" prst="line">
            <a:avLst/>
          </a:prstGeom>
          <a:ln xmlns:a="http://schemas.openxmlformats.org/drawingml/2006/main" w="31750">
            <a:solidFill>
              <a:srgbClr val="0B2239"/>
            </a:solidFill>
            <a:headEnd type="triangle" w="med" len="med"/>
            <a:tailEnd type="triangle" w="med" len="med"/>
          </a:ln>
        </p:spPr>
      </p:sp>
      <p:sp>
        <p:nvSpPr>
          <p:cNvPr id="17530" name="Rounded Rectangle 17529">
            <a:extLst xmlns:a="http://schemas.openxmlformats.org/drawingml/2006/main">
              <a:ext uri="{FF2B5EF4-FFF2-40B4-BE49-F238E27FC236}">
                <a16:creationId xmlns:a16="http://schemas.microsoft.com/office/drawing/2014/main" id="{AA2ED58B-B6E3-4DB5-99B3-4CD2C152A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3383280"/>
            <a:ext cx="11640312" cy="274320"/>
          </a:xfrm>
          <a:prstGeom xmlns:a="http://schemas.openxmlformats.org/drawingml/2006/main" prst="roundRect">
            <a:avLst>
              <a:gd name="adj" fmla="val 26666"/>
            </a:avLst>
          </a:prstGeom>
          <a:solidFill xmlns:a="http://schemas.openxmlformats.org/drawingml/2006/main">
            <a:srgbClr val="0B2239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GOVERNING RULE: tools own factual values; the model plans and explains. Failed checks retain the tool-owned answer.</a:t>
            </a:r>
          </a:p>
        </p:txBody>
      </p:sp>
      <p:sp>
        <p:nvSpPr>
          <p:cNvPr id="17531" name="Rounded Rectangle 17530">
            <a:extLst xmlns:a="http://schemas.openxmlformats.org/drawingml/2006/main">
              <a:ext uri="{FF2B5EF4-FFF2-40B4-BE49-F238E27FC236}">
                <a16:creationId xmlns:a16="http://schemas.microsoft.com/office/drawing/2014/main" id="{44260064-F266-4B8B-826A-40020FCF7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3730752"/>
            <a:ext cx="5769864" cy="1627632"/>
          </a:xfrm>
          <a:prstGeom xmlns:a="http://schemas.openxmlformats.org/drawingml/2006/main" prst="roundRect">
            <a:avLst>
              <a:gd name="adj" fmla="val 6741"/>
            </a:avLst>
          </a:prstGeom>
          <a:gradFill xmlns:a="http://schemas.openxmlformats.org/drawingml/2006/main" rotWithShape="1">
            <a:gsLst>
              <a:gs pos="0">
                <a:srgbClr val="081A2C"/>
              </a:gs>
              <a:gs pos="100000">
                <a:srgbClr val="123E63"/>
              </a:gs>
            </a:gsLst>
            <a:lin ang="0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532" name="Oval 17531">
            <a:extLst xmlns:a="http://schemas.openxmlformats.org/drawingml/2006/main">
              <a:ext uri="{FF2B5EF4-FFF2-40B4-BE49-F238E27FC236}">
                <a16:creationId xmlns:a16="http://schemas.microsoft.com/office/drawing/2014/main" id="{62B2EAB9-5137-48FD-AE7B-015B9938D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3803904"/>
            <a:ext cx="310896" cy="3108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A0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795" name="Picture 1753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7e4978abd141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6227" y="3866083"/>
            <a:ext cx="186537" cy="186537"/>
          </a:xfrm>
          <a:prstGeom xmlns:a="http://schemas.openxmlformats.org/drawingml/2006/main" prst="rect">
            <a:avLst/>
          </a:prstGeom>
        </p:spPr>
      </p:pic>
      <p:sp>
        <p:nvSpPr>
          <p:cNvPr id="17534" name="TextBox 17533">
            <a:extLst xmlns:a="http://schemas.openxmlformats.org/drawingml/2006/main">
              <a:ext uri="{FF2B5EF4-FFF2-40B4-BE49-F238E27FC236}">
                <a16:creationId xmlns:a16="http://schemas.microsoft.com/office/drawing/2014/main" id="{0CC3331B-CE9F-472E-B8CC-738BB0015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785615"/>
            <a:ext cx="5221224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Satya Gate</a:t>
            </a:r>
            <a:r>
              <a:rPr sz="125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: how a number earns its place on screen</a:t>
            </a:r>
          </a:p>
        </p:txBody>
      </p:sp>
      <p:sp>
        <p:nvSpPr>
          <p:cNvPr id="17535" name="Rounded Rectangle 17534">
            <a:extLst xmlns:a="http://schemas.openxmlformats.org/drawingml/2006/main">
              <a:ext uri="{FF2B5EF4-FFF2-40B4-BE49-F238E27FC236}">
                <a16:creationId xmlns:a16="http://schemas.microsoft.com/office/drawing/2014/main" id="{0D2C0922-A152-4F5A-BC1E-20E19FB24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187952"/>
            <a:ext cx="1284731" cy="292608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163A5C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36576" tIns="0" rIns="36576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 composes</a:t>
            </a:r>
          </a:p>
        </p:txBody>
      </p:sp>
      <p:sp>
        <p:nvSpPr>
          <p:cNvPr id="17536" name="Connector 17535">
            <a:extLst xmlns:a="http://schemas.openxmlformats.org/drawingml/2006/main">
              <a:ext uri="{FF2B5EF4-FFF2-40B4-BE49-F238E27FC236}">
                <a16:creationId xmlns:a16="http://schemas.microsoft.com/office/drawing/2014/main" id="{76D4AA37-528E-4EFF-BA8A-322BFAACB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8779" y="4334256"/>
            <a:ext cx="13716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8AD8F5"/>
            </a:solidFill>
            <a:tailEnd type="triangle" w="med" len="med"/>
          </a:ln>
        </p:spPr>
      </p:sp>
      <p:sp>
        <p:nvSpPr>
          <p:cNvPr id="17537" name="Rounded Rectangle 17536">
            <a:extLst xmlns:a="http://schemas.openxmlformats.org/drawingml/2006/main">
              <a:ext uri="{FF2B5EF4-FFF2-40B4-BE49-F238E27FC236}">
                <a16:creationId xmlns:a16="http://schemas.microsoft.com/office/drawing/2014/main" id="{19085B67-3792-4A5A-8C7F-9DB748B7C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5939" y="4187952"/>
            <a:ext cx="1284731" cy="292608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163A5C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36576" tIns="0" rIns="36576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 each claim</a:t>
            </a:r>
          </a:p>
        </p:txBody>
      </p:sp>
      <p:sp>
        <p:nvSpPr>
          <p:cNvPr id="17538" name="Connector 17537">
            <a:extLst xmlns:a="http://schemas.openxmlformats.org/drawingml/2006/main">
              <a:ext uri="{FF2B5EF4-FFF2-40B4-BE49-F238E27FC236}">
                <a16:creationId xmlns:a16="http://schemas.microsoft.com/office/drawing/2014/main" id="{796D9F71-E32B-4962-8D3C-3E18A811E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0671" y="4334256"/>
            <a:ext cx="13716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8AD8F5"/>
            </a:solidFill>
            <a:tailEnd type="triangle" w="med" len="med"/>
          </a:ln>
        </p:spPr>
      </p:sp>
      <p:sp>
        <p:nvSpPr>
          <p:cNvPr id="17539" name="Rounded Rectangle 17538">
            <a:extLst xmlns:a="http://schemas.openxmlformats.org/drawingml/2006/main">
              <a:ext uri="{FF2B5EF4-FFF2-40B4-BE49-F238E27FC236}">
                <a16:creationId xmlns:a16="http://schemas.microsoft.com/office/drawing/2014/main" id="{DAE30A2C-4F94-40DF-92C2-B9B5376A5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831" y="4187952"/>
            <a:ext cx="1284731" cy="292608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163A5C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36576" tIns="0" rIns="36576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Restore safety clauses</a:t>
            </a:r>
          </a:p>
        </p:txBody>
      </p:sp>
      <p:sp>
        <p:nvSpPr>
          <p:cNvPr id="17540" name="Connector 17539">
            <a:extLst xmlns:a="http://schemas.openxmlformats.org/drawingml/2006/main">
              <a:ext uri="{FF2B5EF4-FFF2-40B4-BE49-F238E27FC236}">
                <a16:creationId xmlns:a16="http://schemas.microsoft.com/office/drawing/2014/main" id="{7E9FC034-0CC1-4D58-8CAD-84C389922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2563" y="4334256"/>
            <a:ext cx="13716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8AD8F5"/>
            </a:solidFill>
            <a:tailEnd type="triangle" w="med" len="med"/>
          </a:ln>
        </p:spPr>
      </p:sp>
      <p:sp>
        <p:nvSpPr>
          <p:cNvPr id="17541" name="Rounded Rectangle 17540">
            <a:extLst xmlns:a="http://schemas.openxmlformats.org/drawingml/2006/main">
              <a:ext uri="{FF2B5EF4-FFF2-40B4-BE49-F238E27FC236}">
                <a16:creationId xmlns:a16="http://schemas.microsoft.com/office/drawing/2014/main" id="{EAFDC516-867B-4AE8-B5F6-AE439D9D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9723" y="4187952"/>
            <a:ext cx="1284731" cy="292608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163A5C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36576" tIns="0" rIns="36576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Show, or keep floor</a:t>
            </a:r>
          </a:p>
        </p:txBody>
      </p:sp>
      <p:sp>
        <p:nvSpPr>
          <p:cNvPr id="17542" name="Rounded Rectangle 17541">
            <a:extLst xmlns:a="http://schemas.openxmlformats.org/drawingml/2006/main">
              <a:ext uri="{FF2B5EF4-FFF2-40B4-BE49-F238E27FC236}">
                <a16:creationId xmlns:a16="http://schemas.microsoft.com/office/drawing/2014/main" id="{595285D8-4506-4816-B62F-0EAF5203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553712"/>
            <a:ext cx="2720339" cy="54864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6121F"/>
          </a:solidFill>
          <a:ln xmlns:a="http://schemas.openxmlformats.org/drawingml/2006/main" w="9525">
            <a:solidFill>
              <a:srgbClr val="2C517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543" name="TextBox 17542">
            <a:extLst xmlns:a="http://schemas.openxmlformats.org/drawingml/2006/main">
              <a:ext uri="{FF2B5EF4-FFF2-40B4-BE49-F238E27FC236}">
                <a16:creationId xmlns:a16="http://schemas.microsoft.com/office/drawing/2014/main" id="{B3A5D664-9F72-4952-901A-12665873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" y="4553712"/>
            <a:ext cx="2628899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FFC766"/>
                </a:solidFill>
                <a:latin typeface="Courier New"/>
                <a:ea typeface="Courier New"/>
                <a:cs typeface="Courier New"/>
              </a:rPr>
              <a:t>CLAIM   from the draft</a:t>
            </a:r>
          </a:p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value   5.6 mm, window total</a:t>
            </a:r>
          </a:p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place   Pune</a:t>
            </a:r>
          </a:p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window  23 Sep · 8 × 3 h</a:t>
            </a:r>
          </a:p>
        </p:txBody>
      </p:sp>
      <p:sp>
        <p:nvSpPr>
          <p:cNvPr id="17544" name="Rounded Rectangle 17543">
            <a:extLst xmlns:a="http://schemas.openxmlformats.org/drawingml/2006/main">
              <a:ext uri="{FF2B5EF4-FFF2-40B4-BE49-F238E27FC236}">
                <a16:creationId xmlns:a16="http://schemas.microsoft.com/office/drawing/2014/main" id="{ADFFD491-C976-4EEA-A676-CBE4FBBC9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4115" y="4553712"/>
            <a:ext cx="2720339" cy="54864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6121F"/>
          </a:solidFill>
          <a:ln xmlns:a="http://schemas.openxmlformats.org/drawingml/2006/main" w="9525">
            <a:solidFill>
              <a:srgbClr val="2C517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545" name="TextBox 17544">
            <a:extLst xmlns:a="http://schemas.openxmlformats.org/drawingml/2006/main">
              <a:ext uri="{FF2B5EF4-FFF2-40B4-BE49-F238E27FC236}">
                <a16:creationId xmlns:a16="http://schemas.microsoft.com/office/drawing/2014/main" id="{D3EE3168-0AF1-4BF7-A35A-0476A417B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8123" y="4553712"/>
            <a:ext cx="2628899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8AD8F5"/>
                </a:solidFill>
                <a:latin typeface="Courier New"/>
                <a:ea typeface="Courier New"/>
                <a:cs typeface="Courier New"/>
              </a:rPr>
              <a:t>EVIDENCE   IMD Mausamgram</a:t>
            </a:r>
          </a:p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grid    0.125° · 3.0 km away</a:t>
            </a:r>
          </a:p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cell    18.5N 73.875E</a:t>
            </a:r>
          </a:p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init    22 Sep 00Z · summed</a:t>
            </a:r>
          </a:p>
        </p:txBody>
      </p:sp>
      <p:sp>
        <p:nvSpPr>
          <p:cNvPr id="17546" name="Oval 17545">
            <a:extLst xmlns:a="http://schemas.openxmlformats.org/drawingml/2006/main">
              <a:ext uri="{FF2B5EF4-FFF2-40B4-BE49-F238E27FC236}">
                <a16:creationId xmlns:a16="http://schemas.microsoft.com/office/drawing/2014/main" id="{9278A6FD-D3C0-40C2-80E4-2157E8FD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099" y="4709160"/>
            <a:ext cx="237744" cy="2377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7547" name="TextBox 17546">
            <a:extLst xmlns:a="http://schemas.openxmlformats.org/drawingml/2006/main">
              <a:ext uri="{FF2B5EF4-FFF2-40B4-BE49-F238E27FC236}">
                <a16:creationId xmlns:a16="http://schemas.microsoft.com/office/drawing/2014/main" id="{0757D8C1-5B77-468C-931C-885B9A6FF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5120640"/>
            <a:ext cx="5550407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7BDDA3"/>
                </a:solidFill>
                <a:latin typeface="Arial"/>
                <a:ea typeface="Arial"/>
                <a:cs typeface="Arial"/>
              </a:rPr>
              <a:t>match → shown with receipt</a:t>
            </a:r>
            <a:r>
              <a:rPr sz="8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    ·     </a:t>
            </a:r>
            <a:r>
              <a:rPr sz="850" b="1" i="0">
                <a:solidFill>
                  <a:srgbClr val="C2410C"/>
                </a:solidFill>
                <a:latin typeface="Arial"/>
                <a:ea typeface="Arial"/>
                <a:cs typeface="Arial"/>
              </a:rPr>
              <a:t>no match → withheld, never guessed</a:t>
            </a:r>
          </a:p>
        </p:txBody>
      </p:sp>
      <p:sp>
        <p:nvSpPr>
          <p:cNvPr id="17548" name="Rounded Rectangle 17547">
            <a:extLst xmlns:a="http://schemas.openxmlformats.org/drawingml/2006/main">
              <a:ext uri="{FF2B5EF4-FFF2-40B4-BE49-F238E27FC236}">
                <a16:creationId xmlns:a16="http://schemas.microsoft.com/office/drawing/2014/main" id="{361821CE-F944-46CC-9E65-44144A57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3730752"/>
            <a:ext cx="5769864" cy="1627632"/>
          </a:xfrm>
          <a:prstGeom xmlns:a="http://schemas.openxmlformats.org/drawingml/2006/main" prst="roundRect">
            <a:avLst>
              <a:gd name="adj" fmla="val 6741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C5D5E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549" name="Oval 17548">
            <a:extLst xmlns:a="http://schemas.openxmlformats.org/drawingml/2006/main">
              <a:ext uri="{FF2B5EF4-FFF2-40B4-BE49-F238E27FC236}">
                <a16:creationId xmlns:a16="http://schemas.microsoft.com/office/drawing/2014/main" id="{BCAEBA74-710B-4EE9-9CBD-C055C69A4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3803904"/>
            <a:ext cx="310896" cy="3108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6E9A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812" name="Picture 1754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93c7abc34e49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16675" y="3866083"/>
            <a:ext cx="186537" cy="186537"/>
          </a:xfrm>
          <a:prstGeom xmlns:a="http://schemas.openxmlformats.org/drawingml/2006/main" prst="rect">
            <a:avLst/>
          </a:prstGeom>
        </p:spPr>
      </p:pic>
      <p:sp>
        <p:nvSpPr>
          <p:cNvPr id="17551" name="TextBox 17550">
            <a:extLst xmlns:a="http://schemas.openxmlformats.org/drawingml/2006/main">
              <a:ext uri="{FF2B5EF4-FFF2-40B4-BE49-F238E27FC236}">
                <a16:creationId xmlns:a16="http://schemas.microsoft.com/office/drawing/2014/main" id="{8E2CA7C0-C696-4E33-A5F1-52EF785D5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256" y="3785615"/>
            <a:ext cx="5221224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0A4F70"/>
                </a:solidFill>
                <a:latin typeface="Times New Roman"/>
                <a:ea typeface="Times New Roman"/>
                <a:cs typeface="Times New Roman"/>
              </a:rPr>
              <a:t>Mausam Setu</a:t>
            </a:r>
            <a:r>
              <a:rPr sz="1250" b="0" i="0">
                <a:solidFill>
                  <a:srgbClr val="0B2239"/>
                </a:solidFill>
                <a:latin typeface="Times New Roman"/>
                <a:ea typeface="Times New Roman"/>
                <a:cs typeface="Times New Roman"/>
              </a:rPr>
              <a:t>: real-time data ingestion &amp; alerts</a:t>
            </a:r>
          </a:p>
        </p:txBody>
      </p:sp>
      <p:sp>
        <p:nvSpPr>
          <p:cNvPr id="17552" name="Rounded Rectangle 17551">
            <a:extLst xmlns:a="http://schemas.openxmlformats.org/drawingml/2006/main">
              <a:ext uri="{FF2B5EF4-FFF2-40B4-BE49-F238E27FC236}">
                <a16:creationId xmlns:a16="http://schemas.microsoft.com/office/drawing/2014/main" id="{880FEF29-B14D-4F76-B767-013872E7E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4169664"/>
            <a:ext cx="1058875" cy="347472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6E9A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553" name="TextBox 17552">
            <a:extLst xmlns:a="http://schemas.openxmlformats.org/drawingml/2006/main">
              <a:ext uri="{FF2B5EF4-FFF2-40B4-BE49-F238E27FC236}">
                <a16:creationId xmlns:a16="http://schemas.microsoft.com/office/drawing/2014/main" id="{D266CCD3-AB11-44D0-995A-D8DB7A1FC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4169664"/>
            <a:ext cx="1058875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" tIns="0" rIns="9144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WIS 2.0 MQTT</a:t>
            </a:r>
          </a:p>
          <a:p xmlns:a="http://schemas.openxmlformats.org/drawingml/2006/main"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push</a:t>
            </a:r>
          </a:p>
        </p:txBody>
      </p:sp>
      <p:sp>
        <p:nvSpPr>
          <p:cNvPr id="17554" name="Connector 17553">
            <a:extLst xmlns:a="http://schemas.openxmlformats.org/drawingml/2006/main">
              <a:ext uri="{FF2B5EF4-FFF2-40B4-BE49-F238E27FC236}">
                <a16:creationId xmlns:a16="http://schemas.microsoft.com/office/drawing/2014/main" id="{87C4F066-7537-4CFD-81EC-16939BB10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3933" y="4517136"/>
            <a:ext cx="0" cy="82296"/>
          </a:xfrm>
          <a:prstGeom xmlns:a="http://schemas.openxmlformats.org/drawingml/2006/main" prst="line">
            <a:avLst/>
          </a:prstGeom>
          <a:ln xmlns:a="http://schemas.openxmlformats.org/drawingml/2006/main" w="15875">
            <a:solidFill>
              <a:srgbClr val="0A4F70"/>
            </a:solidFill>
            <a:tailEnd type="triangle" w="med" len="med"/>
          </a:ln>
        </p:spPr>
      </p:sp>
      <p:sp>
        <p:nvSpPr>
          <p:cNvPr id="17555" name="Rounded Rectangle 17554">
            <a:extLst xmlns:a="http://schemas.openxmlformats.org/drawingml/2006/main">
              <a:ext uri="{FF2B5EF4-FFF2-40B4-BE49-F238E27FC236}">
                <a16:creationId xmlns:a16="http://schemas.microsoft.com/office/drawing/2014/main" id="{F5EAD2AE-5E9D-4226-A279-5B324D989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7379" y="4169664"/>
            <a:ext cx="1058875" cy="347472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6E9A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556" name="TextBox 17555">
            <a:extLst xmlns:a="http://schemas.openxmlformats.org/drawingml/2006/main">
              <a:ext uri="{FF2B5EF4-FFF2-40B4-BE49-F238E27FC236}">
                <a16:creationId xmlns:a16="http://schemas.microsoft.com/office/drawing/2014/main" id="{581E0ECE-1150-45F7-88D4-679AFCFB2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7379" y="4169664"/>
            <a:ext cx="1058875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" tIns="0" rIns="9144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IMD CAP</a:t>
            </a:r>
          </a:p>
          <a:p xmlns:a="http://schemas.openxmlformats.org/drawingml/2006/main"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every 60 s</a:t>
            </a:r>
          </a:p>
        </p:txBody>
      </p:sp>
      <p:sp>
        <p:nvSpPr>
          <p:cNvPr id="17557" name="Connector 17556">
            <a:extLst xmlns:a="http://schemas.openxmlformats.org/drawingml/2006/main">
              <a:ext uri="{FF2B5EF4-FFF2-40B4-BE49-F238E27FC236}">
                <a16:creationId xmlns:a16="http://schemas.microsoft.com/office/drawing/2014/main" id="{3BC2568B-3004-45EA-B86C-DC0C367D0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6816" y="4517136"/>
            <a:ext cx="0" cy="82296"/>
          </a:xfrm>
          <a:prstGeom xmlns:a="http://schemas.openxmlformats.org/drawingml/2006/main" prst="line">
            <a:avLst/>
          </a:prstGeom>
          <a:ln xmlns:a="http://schemas.openxmlformats.org/drawingml/2006/main" w="15875">
            <a:solidFill>
              <a:srgbClr val="0A4F70"/>
            </a:solidFill>
            <a:tailEnd type="triangle" w="med" len="med"/>
          </a:ln>
        </p:spPr>
      </p:sp>
      <p:sp>
        <p:nvSpPr>
          <p:cNvPr id="17558" name="Rounded Rectangle 17557">
            <a:extLst xmlns:a="http://schemas.openxmlformats.org/drawingml/2006/main">
              <a:ext uri="{FF2B5EF4-FFF2-40B4-BE49-F238E27FC236}">
                <a16:creationId xmlns:a16="http://schemas.microsoft.com/office/drawing/2014/main" id="{B7593B39-5CFE-4C86-96D5-890AD0464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0262" y="4169664"/>
            <a:ext cx="1058875" cy="347472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6E9A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559" name="TextBox 17558">
            <a:extLst xmlns:a="http://schemas.openxmlformats.org/drawingml/2006/main">
              <a:ext uri="{FF2B5EF4-FFF2-40B4-BE49-F238E27FC236}">
                <a16:creationId xmlns:a16="http://schemas.microsoft.com/office/drawing/2014/main" id="{CBA9ADF7-FBE7-4939-AEE2-179CB5F33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0262" y="4169664"/>
            <a:ext cx="1058875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" tIns="0" rIns="9144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IMD nowcast</a:t>
            </a:r>
          </a:p>
          <a:p xmlns:a="http://schemas.openxmlformats.org/drawingml/2006/main"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every 5 min</a:t>
            </a:r>
          </a:p>
        </p:txBody>
      </p:sp>
      <p:sp>
        <p:nvSpPr>
          <p:cNvPr id="17560" name="Connector 17559">
            <a:extLst xmlns:a="http://schemas.openxmlformats.org/drawingml/2006/main">
              <a:ext uri="{FF2B5EF4-FFF2-40B4-BE49-F238E27FC236}">
                <a16:creationId xmlns:a16="http://schemas.microsoft.com/office/drawing/2014/main" id="{BA42D034-0BA9-4FCE-A524-97D5478EB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517136"/>
            <a:ext cx="0" cy="82296"/>
          </a:xfrm>
          <a:prstGeom xmlns:a="http://schemas.openxmlformats.org/drawingml/2006/main" prst="line">
            <a:avLst/>
          </a:prstGeom>
          <a:ln xmlns:a="http://schemas.openxmlformats.org/drawingml/2006/main" w="15875">
            <a:solidFill>
              <a:srgbClr val="0A4F70"/>
            </a:solidFill>
            <a:tailEnd type="triangle" w="med" len="med"/>
          </a:ln>
        </p:spPr>
      </p:sp>
      <p:sp>
        <p:nvSpPr>
          <p:cNvPr id="17561" name="Rounded Rectangle 17560">
            <a:extLst xmlns:a="http://schemas.openxmlformats.org/drawingml/2006/main">
              <a:ext uri="{FF2B5EF4-FFF2-40B4-BE49-F238E27FC236}">
                <a16:creationId xmlns:a16="http://schemas.microsoft.com/office/drawing/2014/main" id="{47095809-297B-4D75-913A-639731DD9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3145" y="4169664"/>
            <a:ext cx="1058875" cy="347472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6E9A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562" name="TextBox 17561">
            <a:extLst xmlns:a="http://schemas.openxmlformats.org/drawingml/2006/main">
              <a:ext uri="{FF2B5EF4-FFF2-40B4-BE49-F238E27FC236}">
                <a16:creationId xmlns:a16="http://schemas.microsoft.com/office/drawing/2014/main" id="{D15D9272-5CFE-417A-A14E-3D1947E4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3145" y="4169664"/>
            <a:ext cx="1058875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" tIns="0" rIns="9144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Mausamgram</a:t>
            </a:r>
          </a:p>
          <a:p xmlns:a="http://schemas.openxmlformats.org/drawingml/2006/main"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each run</a:t>
            </a:r>
          </a:p>
        </p:txBody>
      </p:sp>
      <p:sp>
        <p:nvSpPr>
          <p:cNvPr id="17563" name="Connector 17562">
            <a:extLst xmlns:a="http://schemas.openxmlformats.org/drawingml/2006/main">
              <a:ext uri="{FF2B5EF4-FFF2-40B4-BE49-F238E27FC236}">
                <a16:creationId xmlns:a16="http://schemas.microsoft.com/office/drawing/2014/main" id="{B89E3328-9151-40A4-AE94-93531FC7B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2583" y="4517136"/>
            <a:ext cx="0" cy="82296"/>
          </a:xfrm>
          <a:prstGeom xmlns:a="http://schemas.openxmlformats.org/drawingml/2006/main" prst="line">
            <a:avLst/>
          </a:prstGeom>
          <a:ln xmlns:a="http://schemas.openxmlformats.org/drawingml/2006/main" w="15875">
            <a:solidFill>
              <a:srgbClr val="0A4F70"/>
            </a:solidFill>
            <a:tailEnd type="triangle" w="med" len="med"/>
          </a:ln>
        </p:spPr>
      </p:sp>
      <p:sp>
        <p:nvSpPr>
          <p:cNvPr id="17564" name="Rounded Rectangle 17563">
            <a:extLst xmlns:a="http://schemas.openxmlformats.org/drawingml/2006/main">
              <a:ext uri="{FF2B5EF4-FFF2-40B4-BE49-F238E27FC236}">
                <a16:creationId xmlns:a16="http://schemas.microsoft.com/office/drawing/2014/main" id="{3E86D767-63E4-4B1F-B573-39982995E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6028" y="4169664"/>
            <a:ext cx="1058875" cy="347472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6E9A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565" name="TextBox 17564">
            <a:extLst xmlns:a="http://schemas.openxmlformats.org/drawingml/2006/main">
              <a:ext uri="{FF2B5EF4-FFF2-40B4-BE49-F238E27FC236}">
                <a16:creationId xmlns:a16="http://schemas.microsoft.com/office/drawing/2014/main" id="{0FD5F2CA-4C50-4A48-B993-9A782A16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6028" y="4169664"/>
            <a:ext cx="1058875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" tIns="0" rIns="9144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INSAT · DWR</a:t>
            </a:r>
          </a:p>
          <a:p xmlns:a="http://schemas.openxmlformats.org/drawingml/2006/main"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each scan</a:t>
            </a:r>
          </a:p>
        </p:txBody>
      </p:sp>
      <p:sp>
        <p:nvSpPr>
          <p:cNvPr id="17566" name="Connector 17565">
            <a:extLst xmlns:a="http://schemas.openxmlformats.org/drawingml/2006/main">
              <a:ext uri="{FF2B5EF4-FFF2-40B4-BE49-F238E27FC236}">
                <a16:creationId xmlns:a16="http://schemas.microsoft.com/office/drawing/2014/main" id="{3B97EE13-845B-4988-9D36-DBEA6BBA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5466" y="4517136"/>
            <a:ext cx="0" cy="82296"/>
          </a:xfrm>
          <a:prstGeom xmlns:a="http://schemas.openxmlformats.org/drawingml/2006/main" prst="line">
            <a:avLst/>
          </a:prstGeom>
          <a:ln xmlns:a="http://schemas.openxmlformats.org/drawingml/2006/main" w="15875">
            <a:solidFill>
              <a:srgbClr val="0A4F70"/>
            </a:solidFill>
            <a:tailEnd type="triangle" w="med" len="med"/>
          </a:ln>
        </p:spPr>
      </p:sp>
      <p:sp>
        <p:nvSpPr>
          <p:cNvPr id="17567" name="Rounded Rectangle 17566">
            <a:extLst xmlns:a="http://schemas.openxmlformats.org/drawingml/2006/main">
              <a:ext uri="{FF2B5EF4-FFF2-40B4-BE49-F238E27FC236}">
                <a16:creationId xmlns:a16="http://schemas.microsoft.com/office/drawing/2014/main" id="{8414CBB3-B33E-4B61-9100-B23F7FDD3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4599432"/>
            <a:ext cx="1284731" cy="347472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DFEFF8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36576" tIns="0" rIns="36576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Normalise · CAP 1.2</a:t>
            </a:r>
          </a:p>
        </p:txBody>
      </p:sp>
      <p:sp>
        <p:nvSpPr>
          <p:cNvPr id="17568" name="Connector 17567">
            <a:extLst xmlns:a="http://schemas.openxmlformats.org/drawingml/2006/main">
              <a:ext uri="{FF2B5EF4-FFF2-40B4-BE49-F238E27FC236}">
                <a16:creationId xmlns:a16="http://schemas.microsoft.com/office/drawing/2014/main" id="{F95994B6-29AA-4D0B-96D1-74E2F1C95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227" y="4773168"/>
            <a:ext cx="137161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B2239"/>
            </a:solidFill>
            <a:tailEnd type="triangle" w="med" len="med"/>
          </a:ln>
        </p:spPr>
      </p:sp>
      <p:sp>
        <p:nvSpPr>
          <p:cNvPr id="17569" name="Rounded Rectangle 17568">
            <a:extLst xmlns:a="http://schemas.openxmlformats.org/drawingml/2006/main">
              <a:ext uri="{FF2B5EF4-FFF2-40B4-BE49-F238E27FC236}">
                <a16:creationId xmlns:a16="http://schemas.microsoft.com/office/drawing/2014/main" id="{16EB4B82-0ACB-45CE-B02C-4CDF13D45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6388" y="4599432"/>
            <a:ext cx="1284731" cy="347472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DFEFF8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36576" tIns="0" rIns="36576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PostgreSQL · PostGIS</a:t>
            </a:r>
          </a:p>
        </p:txBody>
      </p:sp>
      <p:sp>
        <p:nvSpPr>
          <p:cNvPr id="17570" name="Connector 17569">
            <a:extLst xmlns:a="http://schemas.openxmlformats.org/drawingml/2006/main">
              <a:ext uri="{FF2B5EF4-FFF2-40B4-BE49-F238E27FC236}">
                <a16:creationId xmlns:a16="http://schemas.microsoft.com/office/drawing/2014/main" id="{416C4DEE-B161-4B3F-BA47-A7544361C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19" y="4773168"/>
            <a:ext cx="137161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B2239"/>
            </a:solidFill>
            <a:tailEnd type="triangle" w="med" len="med"/>
          </a:ln>
        </p:spPr>
      </p:sp>
      <p:sp>
        <p:nvSpPr>
          <p:cNvPr id="17571" name="Rounded Rectangle 17570">
            <a:extLst xmlns:a="http://schemas.openxmlformats.org/drawingml/2006/main">
              <a:ext uri="{FF2B5EF4-FFF2-40B4-BE49-F238E27FC236}">
                <a16:creationId xmlns:a16="http://schemas.microsoft.com/office/drawing/2014/main" id="{6E832276-3C5D-44BC-B16C-B48D84216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4599432"/>
            <a:ext cx="1284731" cy="347472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DFEFF8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36576" tIns="0" rIns="36576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Change detector</a:t>
            </a:r>
          </a:p>
        </p:txBody>
      </p:sp>
      <p:sp>
        <p:nvSpPr>
          <p:cNvPr id="17572" name="Connector 17571">
            <a:extLst xmlns:a="http://schemas.openxmlformats.org/drawingml/2006/main">
              <a:ext uri="{FF2B5EF4-FFF2-40B4-BE49-F238E27FC236}">
                <a16:creationId xmlns:a16="http://schemas.microsoft.com/office/drawing/2014/main" id="{975EC8AD-0836-430B-8759-1186D6517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3011" y="4773168"/>
            <a:ext cx="137161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B2239"/>
            </a:solidFill>
            <a:tailEnd type="triangle" w="med" len="med"/>
          </a:ln>
        </p:spPr>
      </p:sp>
      <p:sp>
        <p:nvSpPr>
          <p:cNvPr id="17573" name="Rounded Rectangle 17572">
            <a:extLst xmlns:a="http://schemas.openxmlformats.org/drawingml/2006/main">
              <a:ext uri="{FF2B5EF4-FFF2-40B4-BE49-F238E27FC236}">
                <a16:creationId xmlns:a16="http://schemas.microsoft.com/office/drawing/2014/main" id="{B5C4432B-FB56-44A1-BC76-16B5DC6AD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0172" y="4599432"/>
            <a:ext cx="1284731" cy="347472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D1423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36576" tIns="0" rIns="36576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Chetavani Relay: push · SMS · IVR, &lt; 60 s</a:t>
            </a:r>
          </a:p>
        </p:txBody>
      </p:sp>
      <p:sp>
        <p:nvSpPr>
          <p:cNvPr id="17574" name="Rounded Rectangle 17573">
            <a:extLst xmlns:a="http://schemas.openxmlformats.org/drawingml/2006/main">
              <a:ext uri="{FF2B5EF4-FFF2-40B4-BE49-F238E27FC236}">
                <a16:creationId xmlns:a16="http://schemas.microsoft.com/office/drawing/2014/main" id="{CDD3A303-F618-4102-9B5C-13EEF3B1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5020056"/>
            <a:ext cx="1801367" cy="274320"/>
          </a:xfrm>
          <a:prstGeom xmlns:a="http://schemas.openxmlformats.org/drawingml/2006/main" prst="roundRect">
            <a:avLst>
              <a:gd name="adj" fmla="val 2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E9E5B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575" name="Oval 17574">
            <a:extLst xmlns:a="http://schemas.openxmlformats.org/drawingml/2006/main">
              <a:ext uri="{FF2B5EF4-FFF2-40B4-BE49-F238E27FC236}">
                <a16:creationId xmlns:a16="http://schemas.microsoft.com/office/drawing/2014/main" id="{9108F534-A741-4E05-B131-DE6587224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216" y="5061204"/>
            <a:ext cx="192024" cy="1920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838" name="Picture 1757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dedb2d39644a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38620" y="5099608"/>
            <a:ext cx="115214" cy="115214"/>
          </a:xfrm>
          <a:prstGeom xmlns:a="http://schemas.openxmlformats.org/drawingml/2006/main" prst="rect">
            <a:avLst/>
          </a:prstGeom>
        </p:spPr>
      </p:pic>
      <p:sp>
        <p:nvSpPr>
          <p:cNvPr id="17577" name="TextBox 17576">
            <a:extLst xmlns:a="http://schemas.openxmlformats.org/drawingml/2006/main">
              <a:ext uri="{FF2B5EF4-FFF2-40B4-BE49-F238E27FC236}">
                <a16:creationId xmlns:a16="http://schemas.microsoft.com/office/drawing/2014/main" id="{0FC85CFC-3B74-4A0F-BB7E-61B3C0CE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672" y="5020056"/>
            <a:ext cx="1517903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11,721 bulletin passages</a:t>
            </a:r>
          </a:p>
        </p:txBody>
      </p:sp>
      <p:sp>
        <p:nvSpPr>
          <p:cNvPr id="17578" name="Rounded Rectangle 17577">
            <a:extLst xmlns:a="http://schemas.openxmlformats.org/drawingml/2006/main">
              <a:ext uri="{FF2B5EF4-FFF2-40B4-BE49-F238E27FC236}">
                <a16:creationId xmlns:a16="http://schemas.microsoft.com/office/drawing/2014/main" id="{8B300BA5-1FF0-4917-ADB7-7F9AB59C4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9016" y="5020056"/>
            <a:ext cx="1801367" cy="274320"/>
          </a:xfrm>
          <a:prstGeom xmlns:a="http://schemas.openxmlformats.org/drawingml/2006/main" prst="roundRect">
            <a:avLst>
              <a:gd name="adj" fmla="val 2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B5BC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579" name="Oval 17578">
            <a:extLst xmlns:a="http://schemas.openxmlformats.org/drawingml/2006/main">
              <a:ext uri="{FF2B5EF4-FFF2-40B4-BE49-F238E27FC236}">
                <a16:creationId xmlns:a16="http://schemas.microsoft.com/office/drawing/2014/main" id="{A75A2B2A-6017-44B5-80EA-4A7BF3AAB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5061204"/>
            <a:ext cx="192024" cy="1920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5BC2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842" name="Picture 1757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eb0447476f4d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3140" y="5099608"/>
            <a:ext cx="115214" cy="115214"/>
          </a:xfrm>
          <a:prstGeom xmlns:a="http://schemas.openxmlformats.org/drawingml/2006/main" prst="rect">
            <a:avLst/>
          </a:prstGeom>
        </p:spPr>
      </p:pic>
      <p:sp>
        <p:nvSpPr>
          <p:cNvPr id="17581" name="TextBox 17580">
            <a:extLst xmlns:a="http://schemas.openxmlformats.org/drawingml/2006/main">
              <a:ext uri="{FF2B5EF4-FFF2-40B4-BE49-F238E27FC236}">
                <a16:creationId xmlns:a16="http://schemas.microsoft.com/office/drawing/2014/main" id="{F868BCF5-126F-4522-83D4-44253BC98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5020056"/>
            <a:ext cx="1517903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Place → 1 of 756 districts</a:t>
            </a:r>
          </a:p>
        </p:txBody>
      </p:sp>
      <p:sp>
        <p:nvSpPr>
          <p:cNvPr id="17582" name="Rounded Rectangle 17581">
            <a:extLst xmlns:a="http://schemas.openxmlformats.org/drawingml/2006/main">
              <a:ext uri="{FF2B5EF4-FFF2-40B4-BE49-F238E27FC236}">
                <a16:creationId xmlns:a16="http://schemas.microsoft.com/office/drawing/2014/main" id="{32120F8F-7F78-4D45-BA5A-DBDD4FF18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3536" y="5020056"/>
            <a:ext cx="1801367" cy="274320"/>
          </a:xfrm>
          <a:prstGeom xmlns:a="http://schemas.openxmlformats.org/drawingml/2006/main" prst="roundRect">
            <a:avLst>
              <a:gd name="adj" fmla="val 2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D8FD1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583" name="Oval 17582">
            <a:extLst xmlns:a="http://schemas.openxmlformats.org/drawingml/2006/main">
              <a:ext uri="{FF2B5EF4-FFF2-40B4-BE49-F238E27FC236}">
                <a16:creationId xmlns:a16="http://schemas.microsoft.com/office/drawing/2014/main" id="{30524E42-8A1A-47C6-9993-F1C6CFEF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5061204"/>
            <a:ext cx="192024" cy="1920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FD1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846" name="Picture 1758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6d0cd14af44f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87660" y="5099608"/>
            <a:ext cx="115214" cy="115214"/>
          </a:xfrm>
          <a:prstGeom xmlns:a="http://schemas.openxmlformats.org/drawingml/2006/main" prst="rect">
            <a:avLst/>
          </a:prstGeom>
        </p:spPr>
      </p:pic>
      <p:sp>
        <p:nvSpPr>
          <p:cNvPr id="17585" name="TextBox 17584">
            <a:extLst xmlns:a="http://schemas.openxmlformats.org/drawingml/2006/main">
              <a:ext uri="{FF2B5EF4-FFF2-40B4-BE49-F238E27FC236}">
                <a16:creationId xmlns:a16="http://schemas.microsoft.com/office/drawing/2014/main" id="{BCA3C7B0-B5F9-4BDD-9DBC-59DB7EDFB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8711" y="5020056"/>
            <a:ext cx="1517903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Planned: POD · FAR · CSI</a:t>
            </a:r>
          </a:p>
        </p:txBody>
      </p:sp>
      <p:sp>
        <p:nvSpPr>
          <p:cNvPr id="17586" name="Rounded Rectangle 17585">
            <a:extLst xmlns:a="http://schemas.openxmlformats.org/drawingml/2006/main">
              <a:ext uri="{FF2B5EF4-FFF2-40B4-BE49-F238E27FC236}">
                <a16:creationId xmlns:a16="http://schemas.microsoft.com/office/drawing/2014/main" id="{68B3145F-115B-468B-9D47-C35EFB4F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5431536"/>
            <a:ext cx="6126480" cy="832104"/>
          </a:xfrm>
          <a:prstGeom xmlns:a="http://schemas.openxmlformats.org/drawingml/2006/main" prst="roundRect">
            <a:avLst>
              <a:gd name="adj" fmla="val 109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B2239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587" name="TextBox 17586">
            <a:extLst xmlns:a="http://schemas.openxmlformats.org/drawingml/2006/main">
              <a:ext uri="{FF2B5EF4-FFF2-40B4-BE49-F238E27FC236}">
                <a16:creationId xmlns:a16="http://schemas.microsoft.com/office/drawing/2014/main" id="{20C14E3B-EB66-47F9-9CDA-59BA1FFA4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" y="5431536"/>
            <a:ext cx="1051560" cy="8321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0A4F70"/>
                </a:solidFill>
                <a:latin typeface="Times New Roman"/>
                <a:ea typeface="Times New Roman"/>
                <a:cs typeface="Times New Roman"/>
              </a:rPr>
              <a:t>Technology</a:t>
            </a:r>
          </a:p>
          <a:p xmlns:a="http://schemas.openxmlformats.org/drawingml/2006/main"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0A4F70"/>
                </a:solidFill>
                <a:latin typeface="Times New Roman"/>
                <a:ea typeface="Times New Roman"/>
                <a:cs typeface="Times New Roman"/>
              </a:rPr>
              <a:t>stack to</a:t>
            </a:r>
          </a:p>
          <a:p xmlns:a="http://schemas.openxmlformats.org/drawingml/2006/main"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0A4F70"/>
                </a:solidFill>
                <a:latin typeface="Times New Roman"/>
                <a:ea typeface="Times New Roman"/>
                <a:cs typeface="Times New Roman"/>
              </a:rPr>
              <a:t>be used</a:t>
            </a:r>
          </a:p>
        </p:txBody>
      </p:sp>
      <p:sp>
        <p:nvSpPr>
          <p:cNvPr id="17588" name="Connector 17587">
            <a:extLst xmlns:a="http://schemas.openxmlformats.org/drawingml/2006/main">
              <a:ext uri="{FF2B5EF4-FFF2-40B4-BE49-F238E27FC236}">
                <a16:creationId xmlns:a16="http://schemas.microsoft.com/office/drawing/2014/main" id="{80BC9B1D-FA69-4206-82C0-1B63F77A8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6464" y="5522976"/>
            <a:ext cx="0" cy="649224"/>
          </a:xfrm>
          <a:prstGeom xmlns:a="http://schemas.openxmlformats.org/drawingml/2006/main" prst="line">
            <a:avLst/>
          </a:prstGeom>
          <a:ln xmlns:a="http://schemas.openxmlformats.org/drawingml/2006/main" w="15875">
            <a:solidFill>
              <a:srgbClr val="C5D5E2"/>
            </a:solidFill>
            <a:prstDash val="dash"/>
          </a:ln>
        </p:spPr>
      </p:sp>
      <p:pic>
        <p:nvPicPr>
          <p:cNvPr id="17851" name="Picture 1758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e3e7ea194b49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645919" y="5477256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7590" name="TextBox 17589">
            <a:extLst xmlns:a="http://schemas.openxmlformats.org/drawingml/2006/main">
              <a:ext uri="{FF2B5EF4-FFF2-40B4-BE49-F238E27FC236}">
                <a16:creationId xmlns:a16="http://schemas.microsoft.com/office/drawing/2014/main" id="{629AE27C-23A0-428C-8CD0-341AE5176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6463" y="5715000"/>
            <a:ext cx="68580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React</a:t>
            </a:r>
          </a:p>
        </p:txBody>
      </p:sp>
      <p:pic>
        <p:nvPicPr>
          <p:cNvPr id="17853" name="Picture 1759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73a8c109bb4a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180844" y="5477256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7592" name="TextBox 17591">
            <a:extLst xmlns:a="http://schemas.openxmlformats.org/drawingml/2006/main">
              <a:ext uri="{FF2B5EF4-FFF2-40B4-BE49-F238E27FC236}">
                <a16:creationId xmlns:a16="http://schemas.microsoft.com/office/drawing/2014/main" id="{056C2D36-DB1C-4F27-BF50-2903B795B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1388" y="5715000"/>
            <a:ext cx="68580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Android</a:t>
            </a:r>
          </a:p>
        </p:txBody>
      </p:sp>
      <p:pic>
        <p:nvPicPr>
          <p:cNvPr id="17855" name="Picture 1759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b7e510d79948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15768" y="5477256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7594" name="TextBox 17593">
            <a:extLst xmlns:a="http://schemas.openxmlformats.org/drawingml/2006/main">
              <a:ext uri="{FF2B5EF4-FFF2-40B4-BE49-F238E27FC236}">
                <a16:creationId xmlns:a16="http://schemas.microsoft.com/office/drawing/2014/main" id="{21F6A9DE-9A66-4F5D-851C-208DB744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6312" y="5715000"/>
            <a:ext cx="68580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Python</a:t>
            </a:r>
          </a:p>
        </p:txBody>
      </p:sp>
      <p:pic>
        <p:nvPicPr>
          <p:cNvPr id="17857" name="Picture 1759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0749e244d343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50692" y="5477256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7596" name="TextBox 17595">
            <a:extLst xmlns:a="http://schemas.openxmlformats.org/drawingml/2006/main">
              <a:ext uri="{FF2B5EF4-FFF2-40B4-BE49-F238E27FC236}">
                <a16:creationId xmlns:a16="http://schemas.microsoft.com/office/drawing/2014/main" id="{4CD0AEA4-5543-42BC-AFFC-3FB0E0CA9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1236" y="5715000"/>
            <a:ext cx="68580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FastAPI</a:t>
            </a:r>
          </a:p>
        </p:txBody>
      </p:sp>
      <p:pic>
        <p:nvPicPr>
          <p:cNvPr id="17859" name="Picture 1759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bb13fbc20243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85615" y="5477256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7598" name="TextBox 17597">
            <a:extLst xmlns:a="http://schemas.openxmlformats.org/drawingml/2006/main">
              <a:ext uri="{FF2B5EF4-FFF2-40B4-BE49-F238E27FC236}">
                <a16:creationId xmlns:a16="http://schemas.microsoft.com/office/drawing/2014/main" id="{7AE45C86-A30A-4727-8866-9345085CA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5715000"/>
            <a:ext cx="68580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PostgreSQL</a:t>
            </a:r>
          </a:p>
        </p:txBody>
      </p:sp>
      <p:pic>
        <p:nvPicPr>
          <p:cNvPr id="17861" name="Picture 1759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0e5881ef954f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20540" y="5477256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7600" name="TextBox 17599">
            <a:extLst xmlns:a="http://schemas.openxmlformats.org/drawingml/2006/main">
              <a:ext uri="{FF2B5EF4-FFF2-40B4-BE49-F238E27FC236}">
                <a16:creationId xmlns:a16="http://schemas.microsoft.com/office/drawing/2014/main" id="{99CEE228-F469-47FA-9F83-32E7484A3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1084" y="5715000"/>
            <a:ext cx="68580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Redis</a:t>
            </a:r>
          </a:p>
        </p:txBody>
      </p:sp>
      <p:pic>
        <p:nvPicPr>
          <p:cNvPr id="17863" name="Picture 1760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6792ce5f2846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55464" y="5477256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7602" name="TextBox 17601">
            <a:extLst xmlns:a="http://schemas.openxmlformats.org/drawingml/2006/main">
              <a:ext uri="{FF2B5EF4-FFF2-40B4-BE49-F238E27FC236}">
                <a16:creationId xmlns:a16="http://schemas.microsoft.com/office/drawing/2014/main" id="{9B99D6EE-D5C4-440A-A8B8-CA3647B9A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8" y="5715000"/>
            <a:ext cx="68580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MQTT</a:t>
            </a:r>
          </a:p>
        </p:txBody>
      </p:sp>
      <p:pic>
        <p:nvPicPr>
          <p:cNvPr id="17865" name="Picture 1760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74e456ccac49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90388" y="5477256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7604" name="TextBox 17603">
            <a:extLst xmlns:a="http://schemas.openxmlformats.org/drawingml/2006/main">
              <a:ext uri="{FF2B5EF4-FFF2-40B4-BE49-F238E27FC236}">
                <a16:creationId xmlns:a16="http://schemas.microsoft.com/office/drawing/2014/main" id="{2FC89749-FAB4-48D7-86C4-9738512A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0932" y="5715000"/>
            <a:ext cx="68580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Docker</a:t>
            </a:r>
          </a:p>
        </p:txBody>
      </p:sp>
      <p:pic>
        <p:nvPicPr>
          <p:cNvPr id="17867" name="Picture 1760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791e03beec43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25312" y="5477256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7606" name="TextBox 17605">
            <a:extLst xmlns:a="http://schemas.openxmlformats.org/drawingml/2006/main">
              <a:ext uri="{FF2B5EF4-FFF2-40B4-BE49-F238E27FC236}">
                <a16:creationId xmlns:a16="http://schemas.microsoft.com/office/drawing/2014/main" id="{FC016A5F-EDD9-4770-A5AF-CF68AA6E7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5715000"/>
            <a:ext cx="68580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Kubernetes</a:t>
            </a:r>
          </a:p>
        </p:txBody>
      </p:sp>
      <p:sp>
        <p:nvSpPr>
          <p:cNvPr id="17607" name="TextBox 17606">
            <a:extLst xmlns:a="http://schemas.openxmlformats.org/drawingml/2006/main">
              <a:ext uri="{FF2B5EF4-FFF2-40B4-BE49-F238E27FC236}">
                <a16:creationId xmlns:a16="http://schemas.microsoft.com/office/drawing/2014/main" id="{83BEE5F2-D99F-49D6-9082-657EA5E36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904" y="5870448"/>
            <a:ext cx="4846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LLMs:</a:t>
            </a:r>
            <a:r>
              <a:rPr sz="75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</a:t>
            </a:r>
            <a:r>
              <a:rPr sz="75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local / hosted providers now; India-hosted open models proposed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Voice &amp; language:</a:t>
            </a:r>
            <a:r>
              <a:rPr sz="75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Sarvam Saaras (22) · Bulbul (11) · Sarvam-Translate · Bhashini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Web:</a:t>
            </a:r>
            <a:r>
              <a:rPr sz="75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Node.js · Vite · Capacitor    </a:t>
            </a:r>
            <a:r>
              <a:rPr sz="750" b="1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GIS &amp; weather APIs:</a:t>
            </a:r>
            <a:r>
              <a:rPr sz="75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GDAL · IMD · Open-Meteo</a:t>
            </a:r>
          </a:p>
        </p:txBody>
      </p:sp>
      <p:sp>
        <p:nvSpPr>
          <p:cNvPr id="17608" name="Rounded Rectangle 17607">
            <a:extLst xmlns:a="http://schemas.openxmlformats.org/drawingml/2006/main">
              <a:ext uri="{FF2B5EF4-FFF2-40B4-BE49-F238E27FC236}">
                <a16:creationId xmlns:a16="http://schemas.microsoft.com/office/drawing/2014/main" id="{C15A6988-DBF2-466A-B262-46A7A8A32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5431536"/>
            <a:ext cx="960120" cy="832104"/>
          </a:xfrm>
          <a:prstGeom xmlns:a="http://schemas.openxmlformats.org/drawingml/2006/main" prst="roundRect">
            <a:avLst>
              <a:gd name="adj" fmla="val 10989"/>
            </a:avLst>
          </a:prstGeom>
          <a:solidFill xmlns:a="http://schemas.openxmlformats.org/drawingml/2006/main">
            <a:srgbClr val="0B2239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FFC766"/>
                </a:solidFill>
                <a:latin typeface="Arial"/>
                <a:ea typeface="Arial"/>
                <a:cs typeface="Arial"/>
              </a:rPr>
              <a:t>TARGET</a:t>
            </a:r>
          </a:p>
          <a:p xmlns:a="http://schemas.openxmlformats.org/drawingml/2006/main"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Service</a:t>
            </a:r>
          </a:p>
          <a:p xmlns:a="http://schemas.openxmlformats.org/drawingml/2006/main"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Levels</a:t>
            </a:r>
          </a:p>
        </p:txBody>
      </p:sp>
      <p:sp>
        <p:nvSpPr>
          <p:cNvPr id="17609" name="Rounded Rectangle 17608">
            <a:extLst xmlns:a="http://schemas.openxmlformats.org/drawingml/2006/main">
              <a:ext uri="{FF2B5EF4-FFF2-40B4-BE49-F238E27FC236}">
                <a16:creationId xmlns:a16="http://schemas.microsoft.com/office/drawing/2014/main" id="{A940DA8B-FF14-477D-A420-8459422AB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431536"/>
            <a:ext cx="1405127" cy="397764"/>
          </a:xfrm>
          <a:prstGeom xmlns:a="http://schemas.openxmlformats.org/drawingml/2006/main" prst="roundRect">
            <a:avLst>
              <a:gd name="adj" fmla="val 16091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C5D5E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610" name="TextBox 17609">
            <a:extLst xmlns:a="http://schemas.openxmlformats.org/drawingml/2006/main">
              <a:ext uri="{FF2B5EF4-FFF2-40B4-BE49-F238E27FC236}">
                <a16:creationId xmlns:a16="http://schemas.microsoft.com/office/drawing/2014/main" id="{ADF99635-A7A9-4A4B-BB63-51A7F7B4C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88" y="5431536"/>
            <a:ext cx="731520" cy="3977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1" i="0">
                <a:solidFill>
                  <a:srgbClr val="0A4F70"/>
                </a:solidFill>
                <a:latin typeface="Times New Roman"/>
                <a:ea typeface="Times New Roman"/>
                <a:cs typeface="Times New Roman"/>
              </a:rPr>
              <a:t>&lt; 1 s</a:t>
            </a:r>
          </a:p>
        </p:txBody>
      </p:sp>
      <p:sp>
        <p:nvSpPr>
          <p:cNvPr id="17611" name="TextBox 17610">
            <a:extLst xmlns:a="http://schemas.openxmlformats.org/drawingml/2006/main">
              <a:ext uri="{FF2B5EF4-FFF2-40B4-BE49-F238E27FC236}">
                <a16:creationId xmlns:a16="http://schemas.microsoft.com/office/drawing/2014/main" id="{11A978C7-218A-45E2-BA59-7AA631B3E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5431536"/>
            <a:ext cx="618743" cy="3977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first frame</a:t>
            </a:r>
          </a:p>
        </p:txBody>
      </p:sp>
      <p:sp>
        <p:nvSpPr>
          <p:cNvPr id="17612" name="Rounded Rectangle 17611">
            <a:extLst xmlns:a="http://schemas.openxmlformats.org/drawingml/2006/main">
              <a:ext uri="{FF2B5EF4-FFF2-40B4-BE49-F238E27FC236}">
                <a16:creationId xmlns:a16="http://schemas.microsoft.com/office/drawing/2014/main" id="{FA603CE4-88B7-4FA8-ABA1-AF9C0BE60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4648" y="5431536"/>
            <a:ext cx="1405127" cy="397764"/>
          </a:xfrm>
          <a:prstGeom xmlns:a="http://schemas.openxmlformats.org/drawingml/2006/main" prst="roundRect">
            <a:avLst>
              <a:gd name="adj" fmla="val 16091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C5D5E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613" name="TextBox 17612">
            <a:extLst xmlns:a="http://schemas.openxmlformats.org/drawingml/2006/main">
              <a:ext uri="{FF2B5EF4-FFF2-40B4-BE49-F238E27FC236}">
                <a16:creationId xmlns:a16="http://schemas.microsoft.com/office/drawing/2014/main" id="{55B48C2F-6394-49D6-88C5-8A206A56E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2079" y="5431536"/>
            <a:ext cx="731520" cy="3977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1" i="0">
                <a:solidFill>
                  <a:srgbClr val="0A4F70"/>
                </a:solidFill>
                <a:latin typeface="Times New Roman"/>
                <a:ea typeface="Times New Roman"/>
                <a:cs typeface="Times New Roman"/>
              </a:rPr>
              <a:t>≥ 95 %</a:t>
            </a:r>
          </a:p>
        </p:txBody>
      </p:sp>
      <p:sp>
        <p:nvSpPr>
          <p:cNvPr id="17614" name="TextBox 17613">
            <a:extLst xmlns:a="http://schemas.openxmlformats.org/drawingml/2006/main">
              <a:ext uri="{FF2B5EF4-FFF2-40B4-BE49-F238E27FC236}">
                <a16:creationId xmlns:a16="http://schemas.microsoft.com/office/drawing/2014/main" id="{F0F4F03C-1927-4861-9D75-FD164F32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456" y="5431536"/>
            <a:ext cx="618743" cy="3977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grounded accuracy</a:t>
            </a:r>
          </a:p>
        </p:txBody>
      </p:sp>
      <p:sp>
        <p:nvSpPr>
          <p:cNvPr id="17615" name="Rounded Rectangle 17614">
            <a:extLst xmlns:a="http://schemas.openxmlformats.org/drawingml/2006/main">
              <a:ext uri="{FF2B5EF4-FFF2-40B4-BE49-F238E27FC236}">
                <a16:creationId xmlns:a16="http://schemas.microsoft.com/office/drawing/2014/main" id="{133ABCAF-6718-4F31-A52E-75C027173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4640" y="5431536"/>
            <a:ext cx="1405127" cy="397764"/>
          </a:xfrm>
          <a:prstGeom xmlns:a="http://schemas.openxmlformats.org/drawingml/2006/main" prst="roundRect">
            <a:avLst>
              <a:gd name="adj" fmla="val 16091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C5D5E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616" name="TextBox 17615">
            <a:extLst xmlns:a="http://schemas.openxmlformats.org/drawingml/2006/main">
              <a:ext uri="{FF2B5EF4-FFF2-40B4-BE49-F238E27FC236}">
                <a16:creationId xmlns:a16="http://schemas.microsoft.com/office/drawing/2014/main" id="{79941977-E85D-4F02-AC70-1CA72F148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072" y="5431536"/>
            <a:ext cx="731520" cy="3977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1" i="0">
                <a:solidFill>
                  <a:srgbClr val="0A4F70"/>
                </a:solidFill>
                <a:latin typeface="Times New Roman"/>
                <a:ea typeface="Times New Roman"/>
                <a:cs typeface="Times New Roman"/>
              </a:rPr>
              <a:t>&lt; 60 s</a:t>
            </a:r>
          </a:p>
        </p:txBody>
      </p:sp>
      <p:sp>
        <p:nvSpPr>
          <p:cNvPr id="17617" name="TextBox 17616">
            <a:extLst xmlns:a="http://schemas.openxmlformats.org/drawingml/2006/main">
              <a:ext uri="{FF2B5EF4-FFF2-40B4-BE49-F238E27FC236}">
                <a16:creationId xmlns:a16="http://schemas.microsoft.com/office/drawing/2014/main" id="{4C632E85-D3A7-4509-8A75-8AC23B65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4448" y="5431536"/>
            <a:ext cx="618743" cy="3977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change → alert</a:t>
            </a:r>
          </a:p>
        </p:txBody>
      </p:sp>
      <p:sp>
        <p:nvSpPr>
          <p:cNvPr id="17618" name="Rounded Rectangle 17617">
            <a:extLst xmlns:a="http://schemas.openxmlformats.org/drawingml/2006/main">
              <a:ext uri="{FF2B5EF4-FFF2-40B4-BE49-F238E27FC236}">
                <a16:creationId xmlns:a16="http://schemas.microsoft.com/office/drawing/2014/main" id="{372BF411-825A-48CD-BBFC-68BE4F05F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856732"/>
            <a:ext cx="1405127" cy="397764"/>
          </a:xfrm>
          <a:prstGeom xmlns:a="http://schemas.openxmlformats.org/drawingml/2006/main" prst="roundRect">
            <a:avLst>
              <a:gd name="adj" fmla="val 16091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C5D5E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619" name="TextBox 17618">
            <a:extLst xmlns:a="http://schemas.openxmlformats.org/drawingml/2006/main">
              <a:ext uri="{FF2B5EF4-FFF2-40B4-BE49-F238E27FC236}">
                <a16:creationId xmlns:a16="http://schemas.microsoft.com/office/drawing/2014/main" id="{2B1AFA95-8856-4BE6-9D14-BC8EB6F83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88" y="5856732"/>
            <a:ext cx="731520" cy="3977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1" i="0">
                <a:solidFill>
                  <a:srgbClr val="0A4F70"/>
                </a:solidFill>
                <a:latin typeface="Times New Roman"/>
                <a:ea typeface="Times New Roman"/>
                <a:cs typeface="Times New Roman"/>
              </a:rPr>
              <a:t>22</a:t>
            </a:r>
          </a:p>
        </p:txBody>
      </p:sp>
      <p:sp>
        <p:nvSpPr>
          <p:cNvPr id="17620" name="TextBox 17619">
            <a:extLst xmlns:a="http://schemas.openxmlformats.org/drawingml/2006/main">
              <a:ext uri="{FF2B5EF4-FFF2-40B4-BE49-F238E27FC236}">
                <a16:creationId xmlns:a16="http://schemas.microsoft.com/office/drawing/2014/main" id="{B318F3C3-F1B0-4ABC-A33E-40F181C06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5856732"/>
            <a:ext cx="618743" cy="3977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languages + voice</a:t>
            </a:r>
          </a:p>
        </p:txBody>
      </p:sp>
      <p:sp>
        <p:nvSpPr>
          <p:cNvPr id="17621" name="Rounded Rectangle 17620">
            <a:extLst xmlns:a="http://schemas.openxmlformats.org/drawingml/2006/main">
              <a:ext uri="{FF2B5EF4-FFF2-40B4-BE49-F238E27FC236}">
                <a16:creationId xmlns:a16="http://schemas.microsoft.com/office/drawing/2014/main" id="{3BC59823-467C-4F1F-8A4D-B1DC1D187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4648" y="5856732"/>
            <a:ext cx="1405127" cy="397764"/>
          </a:xfrm>
          <a:prstGeom xmlns:a="http://schemas.openxmlformats.org/drawingml/2006/main" prst="roundRect">
            <a:avLst>
              <a:gd name="adj" fmla="val 16091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C5D5E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622" name="TextBox 17621">
            <a:extLst xmlns:a="http://schemas.openxmlformats.org/drawingml/2006/main">
              <a:ext uri="{FF2B5EF4-FFF2-40B4-BE49-F238E27FC236}">
                <a16:creationId xmlns:a16="http://schemas.microsoft.com/office/drawing/2014/main" id="{48CF0AB8-D417-4D80-A286-8CA3D61FC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2079" y="5856732"/>
            <a:ext cx="731520" cy="3977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1" i="0">
                <a:solidFill>
                  <a:srgbClr val="0A4F70"/>
                </a:solidFill>
                <a:latin typeface="Times New Roman"/>
                <a:ea typeface="Times New Roman"/>
                <a:cs typeface="Times New Roman"/>
              </a:rPr>
              <a:t>99.5 %</a:t>
            </a:r>
          </a:p>
        </p:txBody>
      </p:sp>
      <p:sp>
        <p:nvSpPr>
          <p:cNvPr id="17623" name="TextBox 17622">
            <a:extLst xmlns:a="http://schemas.openxmlformats.org/drawingml/2006/main">
              <a:ext uri="{FF2B5EF4-FFF2-40B4-BE49-F238E27FC236}">
                <a16:creationId xmlns:a16="http://schemas.microsoft.com/office/drawing/2014/main" id="{22684441-1900-4E3C-95BF-736D7B148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456" y="5856732"/>
            <a:ext cx="618743" cy="3977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uptime, failover</a:t>
            </a:r>
          </a:p>
        </p:txBody>
      </p:sp>
      <p:sp>
        <p:nvSpPr>
          <p:cNvPr id="17624" name="Rounded Rectangle 17623">
            <a:extLst xmlns:a="http://schemas.openxmlformats.org/drawingml/2006/main">
              <a:ext uri="{FF2B5EF4-FFF2-40B4-BE49-F238E27FC236}">
                <a16:creationId xmlns:a16="http://schemas.microsoft.com/office/drawing/2014/main" id="{A6F0986E-E37F-4C53-94E5-701D205E4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4640" y="5856732"/>
            <a:ext cx="1405127" cy="397764"/>
          </a:xfrm>
          <a:prstGeom xmlns:a="http://schemas.openxmlformats.org/drawingml/2006/main" prst="roundRect">
            <a:avLst>
              <a:gd name="adj" fmla="val 16091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C5D5E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625" name="TextBox 17624">
            <a:extLst xmlns:a="http://schemas.openxmlformats.org/drawingml/2006/main">
              <a:ext uri="{FF2B5EF4-FFF2-40B4-BE49-F238E27FC236}">
                <a16:creationId xmlns:a16="http://schemas.microsoft.com/office/drawing/2014/main" id="{2407006C-DE7B-4E0D-B03F-C65805FCA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072" y="5856732"/>
            <a:ext cx="731520" cy="3977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1" i="0">
                <a:solidFill>
                  <a:srgbClr val="0A4F70"/>
                </a:solidFill>
                <a:latin typeface="Times New Roman"/>
                <a:ea typeface="Times New Roman"/>
                <a:cs typeface="Times New Roman"/>
              </a:rPr>
              <a:t>10 lakh+</a:t>
            </a:r>
          </a:p>
        </p:txBody>
      </p:sp>
      <p:sp>
        <p:nvSpPr>
          <p:cNvPr id="17626" name="TextBox 17625">
            <a:extLst xmlns:a="http://schemas.openxmlformats.org/drawingml/2006/main">
              <a:ext uri="{FF2B5EF4-FFF2-40B4-BE49-F238E27FC236}">
                <a16:creationId xmlns:a16="http://schemas.microsoft.com/office/drawing/2014/main" id="{E42A17C4-2550-4823-B5CF-F4F47FBF1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4448" y="5856732"/>
            <a:ext cx="618743" cy="3977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users, autoscale</a:t>
            </a:r>
          </a:p>
        </p:txBody>
      </p:sp>
      <p:pic>
        <p:nvPicPr>
          <p:cNvPr id="1788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61924928e8498b"/>
          <a:stretch xmlns:a="http://schemas.openxmlformats.org/drawingml/2006/main"/>
        </p:blipFill>
        <p:spPr>
          <a:xfrm xmlns:a="http://schemas.openxmlformats.org/drawingml/2006/main">
            <a:off x="9780822" y="1524"/>
            <a:ext cx="2248320" cy="106232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13638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4762"/>
            <a:ext cx="12191999" cy="503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0C0"/>
          </a:solidFill>
          <a:ln xmlns:a="http://schemas.openxmlformats.org/drawingml/2006/main" w="9525">
            <a:noFill/>
          </a:ln>
          <a:effectLst xmlns:a="http://schemas.openxmlformats.org/drawingml/2006/main"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1200" cap="none" spc="0" baseline="0">
              <a:ln>
                <a:noFill/>
              </a:ln>
              <a:solidFill>
                <a:srgbClr val="C0504D">
                  <a:lumMod val="75000"/>
                </a:srgb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409" name="Title 1">
            <a:extLst xmlns:a="http://schemas.openxmlformats.org/drawingml/2006/main">
              <a:ext uri="{FF2B5EF4-FFF2-40B4-BE49-F238E27FC236}">
                <a16:creationId xmlns:a16="http://schemas.microsoft.com/office/drawing/2014/main" id="{96A371BD-4746-4575-A5BA-5E82D9C976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FEASIBILITY AND VIABILITY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334695F-10D2-4062-A3AB-7C3C8B8C2D1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r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677C3CE7-23F7-4828-823C-E0205DF2CF97}" type="slidenum">
              <a:rPr sz="1200" b="1" i="0" u="none" cap="none" spc="0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4</a:t>
            </a:fld>
            <a:endParaRPr sz="1200" b="1" i="0" u="none" kern="1200" cap="none" spc="0" baseline="0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B91B6288-E7D8-49A3-A010-CC2484A2F1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2651760" y="6356353"/>
            <a:ext cx="7223760" cy="365125"/>
          </a:xfrm>
        </p:spPr>
        <p:txBody>
          <a:bodyPr xmlns:a="http://schemas.openxmlformats.org/drawingml/2006/main" wrap="none"/>
          <a:lstStyle xmlns:a="http://schemas.openxmlformats.org/drawingml/2006/main"/>
          <a:p xmlns:a="http://schemas.openxmlformats.org/drawingml/2006/main"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200" b="0" i="0" u="none" cap="none" spc="0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@SIH Idea Submission · SIH26068 · WeatherGPT · Team Void Pointers (118709)</a:t>
            </a:r>
            <a:endParaRPr sz="1200" b="0" i="0" u="none" kern="1200" cap="none" spc="0" baseline="0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5DBCE864-823D-4A13-9607-5DA1F0ED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773" y="252246"/>
            <a:ext cx="1251857" cy="807334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4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lIns="18288" rIns="18288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/>
              <a:t>Void Pointers</a:t>
            </a:r>
            <a:endParaRPr/>
          </a:p>
        </p:txBody>
      </p:sp>
      <p:pic>
        <p:nvPicPr>
          <p:cNvPr id="17524" name="Picture 1740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5e30a2f01841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6428232"/>
            <a:ext cx="334959" cy="219456"/>
          </a:xfrm>
          <a:prstGeom xmlns:a="http://schemas.openxmlformats.org/drawingml/2006/main" prst="rect">
            <a:avLst/>
          </a:prstGeom>
        </p:spPr>
      </p:pic>
      <p:sp>
        <p:nvSpPr>
          <p:cNvPr id="17411" name="TextBox 17410">
            <a:extLst xmlns:a="http://schemas.openxmlformats.org/drawingml/2006/main">
              <a:ext uri="{FF2B5EF4-FFF2-40B4-BE49-F238E27FC236}">
                <a16:creationId xmlns:a16="http://schemas.microsoft.com/office/drawing/2014/main" id="{F601F66E-96FF-4AD5-95F3-09CB51853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19" y="786384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1">
                <a:solidFill>
                  <a:srgbClr val="55666E"/>
                </a:solidFill>
                <a:latin typeface="Times New Roman"/>
                <a:ea typeface="Times New Roman"/>
                <a:cs typeface="Times New Roman"/>
              </a:rPr>
              <a:t>Feasibility analysis  ·  Potential challenges &amp; risks  ·  Strategies to overcome them</a:t>
            </a:r>
          </a:p>
        </p:txBody>
      </p:sp>
      <p:sp>
        <p:nvSpPr>
          <p:cNvPr id="17412" name="Snip Single Corner Rectangle 17411">
            <a:extLst xmlns:a="http://schemas.openxmlformats.org/drawingml/2006/main">
              <a:ext uri="{FF2B5EF4-FFF2-40B4-BE49-F238E27FC236}">
                <a16:creationId xmlns:a16="http://schemas.microsoft.com/office/drawing/2014/main" id="{C5FDDE9D-93BE-4236-A0A4-558369A02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097280"/>
            <a:ext cx="3794760" cy="1280160"/>
          </a:xfrm>
          <a:prstGeom xmlns:a="http://schemas.openxmlformats.org/drawingml/2006/main" prst="snip1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12700">
            <a:solidFill>
              <a:srgbClr val="0B2239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527" name="Picture 174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25eb8aea0241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1143000"/>
            <a:ext cx="201168" cy="201168"/>
          </a:xfrm>
          <a:prstGeom xmlns:a="http://schemas.openxmlformats.org/drawingml/2006/main" prst="rect">
            <a:avLst/>
          </a:prstGeom>
        </p:spPr>
      </p:pic>
      <p:sp>
        <p:nvSpPr>
          <p:cNvPr id="17414" name="TextBox 17413">
            <a:extLst xmlns:a="http://schemas.openxmlformats.org/drawingml/2006/main">
              <a:ext uri="{FF2B5EF4-FFF2-40B4-BE49-F238E27FC236}">
                <a16:creationId xmlns:a16="http://schemas.microsoft.com/office/drawing/2014/main" id="{706239F5-B3F0-4A4A-836F-0F8DB557B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97280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350" b="1" i="0">
                <a:solidFill>
                  <a:srgbClr val="0A4F70"/>
                </a:solidFill>
                <a:latin typeface="Times New Roman"/>
                <a:ea typeface="Times New Roman"/>
                <a:cs typeface="Times New Roman"/>
              </a:rPr>
              <a:t>Feasibility</a:t>
            </a:r>
          </a:p>
        </p:txBody>
      </p:sp>
      <p:sp>
        <p:nvSpPr>
          <p:cNvPr id="17415" name="Rounded Rectangle 17414">
            <a:extLst xmlns:a="http://schemas.openxmlformats.org/drawingml/2006/main">
              <a:ext uri="{FF2B5EF4-FFF2-40B4-BE49-F238E27FC236}">
                <a16:creationId xmlns:a16="http://schemas.microsoft.com/office/drawing/2014/main" id="{1C63BD1B-F1BE-44C3-892A-C0888933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417320"/>
            <a:ext cx="1261872" cy="886968"/>
          </a:xfrm>
          <a:prstGeom xmlns:a="http://schemas.openxmlformats.org/drawingml/2006/main" prst="roundRect">
            <a:avLst>
              <a:gd name="adj" fmla="val 82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D5E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16" name="TextBox 17415">
            <a:extLst xmlns:a="http://schemas.openxmlformats.org/drawingml/2006/main">
              <a:ext uri="{FF2B5EF4-FFF2-40B4-BE49-F238E27FC236}">
                <a16:creationId xmlns:a16="http://schemas.microsoft.com/office/drawing/2014/main" id="{8442B3C8-CBA6-4B97-8F7D-76E9EBD7B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426464"/>
            <a:ext cx="1261872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900" b="1" i="0">
                <a:solidFill>
                  <a:srgbClr val="0A4F70"/>
                </a:solidFill>
                <a:latin typeface="Times New Roman"/>
                <a:ea typeface="Times New Roman"/>
                <a:cs typeface="Times New Roman"/>
              </a:rPr>
              <a:t>273/306</a:t>
            </a:r>
          </a:p>
        </p:txBody>
      </p:sp>
      <p:sp>
        <p:nvSpPr>
          <p:cNvPr id="17417" name="TextBox 17416">
            <a:extLst xmlns:a="http://schemas.openxmlformats.org/drawingml/2006/main">
              <a:ext uri="{FF2B5EF4-FFF2-40B4-BE49-F238E27FC236}">
                <a16:creationId xmlns:a16="http://schemas.microsoft.com/office/drawing/2014/main" id="{6BCAF80C-5846-4880-8356-A3784CB49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828800"/>
            <a:ext cx="122529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atlas outcomes passed</a:t>
            </a:r>
          </a:p>
          <a:p xmlns:a="http://schemas.openxmlformats.org/drawingml/2006/main"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22 Sep; not forecast skill</a:t>
            </a:r>
          </a:p>
        </p:txBody>
      </p:sp>
      <p:sp>
        <p:nvSpPr>
          <p:cNvPr id="17418" name="TextBox 17417">
            <a:extLst xmlns:a="http://schemas.openxmlformats.org/drawingml/2006/main">
              <a:ext uri="{FF2B5EF4-FFF2-40B4-BE49-F238E27FC236}">
                <a16:creationId xmlns:a16="http://schemas.microsoft.com/office/drawing/2014/main" id="{9E1D7EDD-F87D-4E4C-9A3A-EECFB124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2496" y="1399032"/>
            <a:ext cx="2221992" cy="9509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marL="118872" indent="-118872" algn="l">
              <a:lnSpc>
                <a:spcPct val="90000"/>
              </a:lnSpc>
              <a:spcBef>
                <a:spcPts val="0"/>
              </a:spcBef>
              <a:spcAft>
                <a:spcPts val="250"/>
              </a:spcAft>
              <a:buClr>
                <a:srgbClr val="0F6E9A"/>
              </a:buClr>
              <a:buFont typeface="Arial"/>
              <a:buChar char="•"/>
            </a:pPr>
            <a:r>
              <a:rPr sz="90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Available components: IMD public feeds, GFS, configured models and Sarvam services.</a:t>
            </a:r>
          </a:p>
          <a:p xmlns:a="http://schemas.openxmlformats.org/drawingml/2006/main">
            <a:pPr marL="118872" indent="-118872" algn="l">
              <a:lnSpc>
                <a:spcPct val="90000"/>
              </a:lnSpc>
              <a:spcBef>
                <a:spcPts val="0"/>
              </a:spcBef>
              <a:spcAft>
                <a:spcPts val="250"/>
              </a:spcAft>
              <a:buClr>
                <a:srgbClr val="0F6E9A"/>
              </a:buClr>
              <a:buFont typeface="Arial"/>
              <a:buChar char="•"/>
            </a:pPr>
            <a:r>
              <a:rPr sz="90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23 Sep regression record: 1,637 + 596 checks; 21-step gate, 0 failed.</a:t>
            </a:r>
          </a:p>
        </p:txBody>
      </p:sp>
      <p:sp>
        <p:nvSpPr>
          <p:cNvPr id="17419" name="Snip Single Corner Rectangle 17418">
            <a:extLst xmlns:a="http://schemas.openxmlformats.org/drawingml/2006/main">
              <a:ext uri="{FF2B5EF4-FFF2-40B4-BE49-F238E27FC236}">
                <a16:creationId xmlns:a16="http://schemas.microsoft.com/office/drawing/2014/main" id="{570BC03D-42EC-4830-B22B-7670367BF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096" y="1097280"/>
            <a:ext cx="3794760" cy="1280160"/>
          </a:xfrm>
          <a:prstGeom xmlns:a="http://schemas.openxmlformats.org/drawingml/2006/main" prst="snip1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12700">
            <a:solidFill>
              <a:srgbClr val="0B2239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534" name="Picture 174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36009f684649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06824" y="1143000"/>
            <a:ext cx="201168" cy="201168"/>
          </a:xfrm>
          <a:prstGeom xmlns:a="http://schemas.openxmlformats.org/drawingml/2006/main" prst="rect">
            <a:avLst/>
          </a:prstGeom>
        </p:spPr>
      </p:pic>
      <p:sp>
        <p:nvSpPr>
          <p:cNvPr id="17421" name="TextBox 17420">
            <a:extLst xmlns:a="http://schemas.openxmlformats.org/drawingml/2006/main">
              <a:ext uri="{FF2B5EF4-FFF2-40B4-BE49-F238E27FC236}">
                <a16:creationId xmlns:a16="http://schemas.microsoft.com/office/drawing/2014/main" id="{FE86B1C1-70FF-4F49-92D6-9979E8CF7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1097280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350" b="1" i="0">
                <a:solidFill>
                  <a:srgbClr val="14683E"/>
                </a:solidFill>
                <a:latin typeface="Times New Roman"/>
                <a:ea typeface="Times New Roman"/>
                <a:cs typeface="Times New Roman"/>
              </a:rPr>
              <a:t>Viability</a:t>
            </a:r>
          </a:p>
        </p:txBody>
      </p:sp>
      <p:sp>
        <p:nvSpPr>
          <p:cNvPr id="17422" name="Rounded Rectangle 17421">
            <a:extLst xmlns:a="http://schemas.openxmlformats.org/drawingml/2006/main">
              <a:ext uri="{FF2B5EF4-FFF2-40B4-BE49-F238E27FC236}">
                <a16:creationId xmlns:a16="http://schemas.microsoft.com/office/drawing/2014/main" id="{D69DE6DD-16C7-43A2-96EE-14ADAB25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536" y="1417320"/>
            <a:ext cx="1261872" cy="886968"/>
          </a:xfrm>
          <a:prstGeom xmlns:a="http://schemas.openxmlformats.org/drawingml/2006/main" prst="roundRect">
            <a:avLst>
              <a:gd name="adj" fmla="val 82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D5E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23" name="TextBox 17422">
            <a:extLst xmlns:a="http://schemas.openxmlformats.org/drawingml/2006/main">
              <a:ext uri="{FF2B5EF4-FFF2-40B4-BE49-F238E27FC236}">
                <a16:creationId xmlns:a16="http://schemas.microsoft.com/office/drawing/2014/main" id="{F8590ACA-71BC-4511-85CE-2A201BB6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536" y="1426464"/>
            <a:ext cx="1261872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900" b="1" i="0">
                <a:solidFill>
                  <a:srgbClr val="14683E"/>
                </a:solidFill>
                <a:latin typeface="Times New Roman"/>
                <a:ea typeface="Times New Roman"/>
                <a:cs typeface="Times New Roman"/>
              </a:rPr>
              <a:t>TARGET</a:t>
            </a:r>
          </a:p>
        </p:txBody>
      </p:sp>
      <p:sp>
        <p:nvSpPr>
          <p:cNvPr id="17424" name="TextBox 17423">
            <a:extLst xmlns:a="http://schemas.openxmlformats.org/drawingml/2006/main">
              <a:ext uri="{FF2B5EF4-FFF2-40B4-BE49-F238E27FC236}">
                <a16:creationId xmlns:a16="http://schemas.microsoft.com/office/drawing/2014/main" id="{117A601F-4902-45F3-AAA0-1517D16B8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24" y="1828800"/>
            <a:ext cx="122529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India-hosted deployment</a:t>
            </a:r>
          </a:p>
          <a:p xmlns:a="http://schemas.openxmlformats.org/drawingml/2006/main"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proposed, not current</a:t>
            </a:r>
          </a:p>
        </p:txBody>
      </p:sp>
      <p:sp>
        <p:nvSpPr>
          <p:cNvPr id="17425" name="TextBox 17424">
            <a:extLst xmlns:a="http://schemas.openxmlformats.org/drawingml/2006/main">
              <a:ext uri="{FF2B5EF4-FFF2-40B4-BE49-F238E27FC236}">
                <a16:creationId xmlns:a16="http://schemas.microsoft.com/office/drawing/2014/main" id="{FB45121D-8A7B-432E-BB97-7BF2818B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272" y="1399032"/>
            <a:ext cx="2221992" cy="9509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marL="118872" indent="-118872" algn="l">
              <a:lnSpc>
                <a:spcPct val="90000"/>
              </a:lnSpc>
              <a:spcBef>
                <a:spcPts val="0"/>
              </a:spcBef>
              <a:spcAft>
                <a:spcPts val="250"/>
              </a:spcAft>
              <a:buClr>
                <a:srgbClr val="0F6E9A"/>
              </a:buClr>
              <a:buFont typeface="Arial"/>
              <a:buChar char="•"/>
            </a:pPr>
            <a:r>
              <a:rPr sz="900" b="1" i="0">
                <a:solidFill>
                  <a:srgbClr val="14683E"/>
                </a:solidFill>
                <a:latin typeface="Arial"/>
                <a:ea typeface="Arial"/>
                <a:cs typeface="Arial"/>
              </a:rPr>
              <a:t>Proposed sovereign deployment: open models on India-region compute, subject to approval.</a:t>
            </a:r>
          </a:p>
          <a:p xmlns:a="http://schemas.openxmlformats.org/drawingml/2006/main">
            <a:pPr marL="118872" indent="-118872" algn="l">
              <a:lnSpc>
                <a:spcPct val="90000"/>
              </a:lnSpc>
              <a:spcBef>
                <a:spcPts val="0"/>
              </a:spcBef>
              <a:spcAft>
                <a:spcPts val="250"/>
              </a:spcAft>
              <a:buClr>
                <a:srgbClr val="0F6E9A"/>
              </a:buClr>
              <a:buFont typeface="Arial"/>
              <a:buChar char="•"/>
            </a:pPr>
            <a:r>
              <a:rPr sz="9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Potential integration: IMD website, UMANG and EOC portals; no deployment claimed.</a:t>
            </a:r>
          </a:p>
        </p:txBody>
      </p:sp>
      <p:sp>
        <p:nvSpPr>
          <p:cNvPr id="17426" name="Snip Single Corner Rectangle 17425">
            <a:extLst xmlns:a="http://schemas.openxmlformats.org/drawingml/2006/main">
              <a:ext uri="{FF2B5EF4-FFF2-40B4-BE49-F238E27FC236}">
                <a16:creationId xmlns:a16="http://schemas.microsoft.com/office/drawing/2014/main" id="{4590659B-3801-4EB8-96BF-C37EE6840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097280"/>
            <a:ext cx="3794760" cy="1280160"/>
          </a:xfrm>
          <a:prstGeom xmlns:a="http://schemas.openxmlformats.org/drawingml/2006/main" prst="snip1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12700">
            <a:solidFill>
              <a:srgbClr val="0B2239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541" name="Picture 174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346657fa924e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29600" y="1143000"/>
            <a:ext cx="201168" cy="201168"/>
          </a:xfrm>
          <a:prstGeom xmlns:a="http://schemas.openxmlformats.org/drawingml/2006/main" prst="rect">
            <a:avLst/>
          </a:prstGeom>
        </p:spPr>
      </p:pic>
      <p:sp>
        <p:nvSpPr>
          <p:cNvPr id="17428" name="TextBox 17427">
            <a:extLst xmlns:a="http://schemas.openxmlformats.org/drawingml/2006/main">
              <a:ext uri="{FF2B5EF4-FFF2-40B4-BE49-F238E27FC236}">
                <a16:creationId xmlns:a16="http://schemas.microsoft.com/office/drawing/2014/main" id="{943CC068-DBA3-405C-A2A9-04A231342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1097280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350" b="1" i="0">
                <a:solidFill>
                  <a:srgbClr val="9A3412"/>
                </a:solidFill>
                <a:latin typeface="Times New Roman"/>
                <a:ea typeface="Times New Roman"/>
                <a:cs typeface="Times New Roman"/>
              </a:rPr>
              <a:t>Practical Implementation</a:t>
            </a:r>
          </a:p>
        </p:txBody>
      </p:sp>
      <p:sp>
        <p:nvSpPr>
          <p:cNvPr id="17429" name="Rounded Rectangle 17428">
            <a:extLst xmlns:a="http://schemas.openxmlformats.org/drawingml/2006/main">
              <a:ext uri="{FF2B5EF4-FFF2-40B4-BE49-F238E27FC236}">
                <a16:creationId xmlns:a16="http://schemas.microsoft.com/office/drawing/2014/main" id="{3DD6A433-8553-4120-ABEF-31E01C588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1417320"/>
            <a:ext cx="1261872" cy="886968"/>
          </a:xfrm>
          <a:prstGeom xmlns:a="http://schemas.openxmlformats.org/drawingml/2006/main" prst="roundRect">
            <a:avLst>
              <a:gd name="adj" fmla="val 82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D5E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30" name="TextBox 17429">
            <a:extLst xmlns:a="http://schemas.openxmlformats.org/drawingml/2006/main">
              <a:ext uri="{FF2B5EF4-FFF2-40B4-BE49-F238E27FC236}">
                <a16:creationId xmlns:a16="http://schemas.microsoft.com/office/drawing/2014/main" id="{FF443C28-F7A8-499D-B66C-D058593B9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1426464"/>
            <a:ext cx="1261872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00" b="1" i="0">
                <a:solidFill>
                  <a:srgbClr val="9A3412"/>
                </a:solidFill>
                <a:latin typeface="Times New Roman"/>
                <a:ea typeface="Times New Roman"/>
                <a:cs typeface="Times New Roman"/>
              </a:rPr>
              <a:t>90 days</a:t>
            </a:r>
          </a:p>
        </p:txBody>
      </p:sp>
      <p:sp>
        <p:nvSpPr>
          <p:cNvPr id="17431" name="TextBox 17430">
            <a:extLst xmlns:a="http://schemas.openxmlformats.org/drawingml/2006/main">
              <a:ext uri="{FF2B5EF4-FFF2-40B4-BE49-F238E27FC236}">
                <a16:creationId xmlns:a16="http://schemas.microsoft.com/office/drawing/2014/main" id="{6A6DB18D-79AA-4EF2-BC83-D473FA6E6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28800"/>
            <a:ext cx="122529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to a Gujarat pilot:</a:t>
            </a:r>
          </a:p>
          <a:p xmlns:a="http://schemas.openxmlformats.org/drawingml/2006/main"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every district, gu / hi / en</a:t>
            </a:r>
          </a:p>
        </p:txBody>
      </p:sp>
      <p:sp>
        <p:nvSpPr>
          <p:cNvPr id="17432" name="TextBox 17431">
            <a:extLst xmlns:a="http://schemas.openxmlformats.org/drawingml/2006/main">
              <a:ext uri="{FF2B5EF4-FFF2-40B4-BE49-F238E27FC236}">
                <a16:creationId xmlns:a16="http://schemas.microsoft.com/office/drawing/2014/main" id="{B1C13F0F-6623-4485-9A47-6C5817979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048" y="1399032"/>
            <a:ext cx="2221992" cy="9509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marL="118872" indent="-118872" algn="l">
              <a:lnSpc>
                <a:spcPct val="90000"/>
              </a:lnSpc>
              <a:spcBef>
                <a:spcPts val="0"/>
              </a:spcBef>
              <a:spcAft>
                <a:spcPts val="250"/>
              </a:spcAft>
              <a:buClr>
                <a:srgbClr val="0F6E9A"/>
              </a:buClr>
              <a:buFont typeface="Arial"/>
              <a:buChar char="•"/>
            </a:pPr>
            <a:r>
              <a:rPr sz="900" b="1" i="0">
                <a:solidFill>
                  <a:srgbClr val="9A3412"/>
                </a:solidFill>
                <a:latin typeface="Arial"/>
                <a:ea typeface="Arial"/>
                <a:cs typeface="Arial"/>
              </a:rPr>
              <a:t>Scalable:</a:t>
            </a:r>
            <a:r>
              <a:rPr sz="9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1 state → every State / UT; </a:t>
            </a:r>
            <a:r>
              <a:rPr sz="900" b="1" i="0">
                <a:solidFill>
                  <a:srgbClr val="9A3412"/>
                </a:solidFill>
                <a:latin typeface="Arial"/>
                <a:ea typeface="Arial"/>
                <a:cs typeface="Arial"/>
              </a:rPr>
              <a:t>4.3 crore farmers</a:t>
            </a:r>
            <a:r>
              <a:rPr sz="9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already get IMD agromet SMS.</a:t>
            </a:r>
          </a:p>
          <a:p xmlns:a="http://schemas.openxmlformats.org/drawingml/2006/main">
            <a:pPr marL="118872" indent="-118872" algn="l">
              <a:lnSpc>
                <a:spcPct val="90000"/>
              </a:lnSpc>
              <a:spcBef>
                <a:spcPts val="0"/>
              </a:spcBef>
              <a:spcAft>
                <a:spcPts val="250"/>
              </a:spcAft>
              <a:buClr>
                <a:srgbClr val="0F6E9A"/>
              </a:buClr>
              <a:buFont typeface="Arial"/>
              <a:buChar char="•"/>
            </a:pPr>
            <a:r>
              <a:rPr sz="9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Low-end phones and 2G; day-one owner </a:t>
            </a:r>
            <a:r>
              <a:rPr sz="900" b="1" i="0">
                <a:solidFill>
                  <a:srgbClr val="9A3412"/>
                </a:solidFill>
                <a:latin typeface="Arial"/>
                <a:ea typeface="Arial"/>
                <a:cs typeface="Arial"/>
              </a:rPr>
              <a:t>IMD Met Centre + State EOC</a:t>
            </a:r>
            <a:r>
              <a:rPr sz="9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7433" name="Rounded Rectangle 17432">
            <a:extLst xmlns:a="http://schemas.openxmlformats.org/drawingml/2006/main">
              <a:ext uri="{FF2B5EF4-FFF2-40B4-BE49-F238E27FC236}">
                <a16:creationId xmlns:a16="http://schemas.microsoft.com/office/drawing/2014/main" id="{1EA011A0-5783-4C2D-B67B-A875AC664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2450592"/>
            <a:ext cx="11640312" cy="2139696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0B2239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34" name="Oval 17433">
            <a:extLst xmlns:a="http://schemas.openxmlformats.org/drawingml/2006/main">
              <a:ext uri="{FF2B5EF4-FFF2-40B4-BE49-F238E27FC236}">
                <a16:creationId xmlns:a16="http://schemas.microsoft.com/office/drawing/2014/main" id="{C53E5AD8-087F-4307-AC34-3B84E50DF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971800"/>
            <a:ext cx="1097280" cy="1097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DE9E7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549" name="Picture 174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9b4d2077d443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5528" y="306324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7436" name="TextBox 17435">
            <a:extLst xmlns:a="http://schemas.openxmlformats.org/drawingml/2006/main">
              <a:ext uri="{FF2B5EF4-FFF2-40B4-BE49-F238E27FC236}">
                <a16:creationId xmlns:a16="http://schemas.microsoft.com/office/drawing/2014/main" id="{45BEA352-B920-45A1-A200-74EC5126E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3355848"/>
            <a:ext cx="109728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0B2239"/>
                </a:solidFill>
                <a:latin typeface="Times New Roman"/>
                <a:ea typeface="Times New Roman"/>
                <a:cs typeface="Times New Roman"/>
              </a:rPr>
              <a:t>Potential</a:t>
            </a:r>
          </a:p>
          <a:p xmlns:a="http://schemas.openxmlformats.org/drawingml/2006/main"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0B2239"/>
                </a:solidFill>
                <a:latin typeface="Times New Roman"/>
                <a:ea typeface="Times New Roman"/>
                <a:cs typeface="Times New Roman"/>
              </a:rPr>
              <a:t>Challenges</a:t>
            </a:r>
          </a:p>
          <a:p xmlns:a="http://schemas.openxmlformats.org/drawingml/2006/main"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0B2239"/>
                </a:solidFill>
                <a:latin typeface="Times New Roman"/>
                <a:ea typeface="Times New Roman"/>
                <a:cs typeface="Times New Roman"/>
              </a:rPr>
              <a:t>&amp; Risks</a:t>
            </a:r>
          </a:p>
        </p:txBody>
      </p:sp>
      <p:sp>
        <p:nvSpPr>
          <p:cNvPr id="17437" name="Oval 17436">
            <a:extLst xmlns:a="http://schemas.openxmlformats.org/drawingml/2006/main">
              <a:ext uri="{FF2B5EF4-FFF2-40B4-BE49-F238E27FC236}">
                <a16:creationId xmlns:a16="http://schemas.microsoft.com/office/drawing/2014/main" id="{49786EFC-3A0C-44D4-9AF7-68EEDC54C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1904" y="2971800"/>
            <a:ext cx="1097280" cy="1097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3E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552" name="Picture 1743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abdc8e0ad749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073384" y="306324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7439" name="TextBox 17438">
            <a:extLst xmlns:a="http://schemas.openxmlformats.org/drawingml/2006/main">
              <a:ext uri="{FF2B5EF4-FFF2-40B4-BE49-F238E27FC236}">
                <a16:creationId xmlns:a16="http://schemas.microsoft.com/office/drawing/2014/main" id="{5DA42A6C-EF62-4AEB-81C6-6D20CC309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1904" y="3355848"/>
            <a:ext cx="109728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0B2239"/>
                </a:solidFill>
                <a:latin typeface="Times New Roman"/>
                <a:ea typeface="Times New Roman"/>
                <a:cs typeface="Times New Roman"/>
              </a:rPr>
              <a:t>Strategies for</a:t>
            </a:r>
          </a:p>
          <a:p xmlns:a="http://schemas.openxmlformats.org/drawingml/2006/main"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0B2239"/>
                </a:solidFill>
                <a:latin typeface="Times New Roman"/>
                <a:ea typeface="Times New Roman"/>
                <a:cs typeface="Times New Roman"/>
              </a:rPr>
              <a:t>Overcoming</a:t>
            </a:r>
          </a:p>
          <a:p xmlns:a="http://schemas.openxmlformats.org/drawingml/2006/main"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0B2239"/>
                </a:solidFill>
                <a:latin typeface="Times New Roman"/>
                <a:ea typeface="Times New Roman"/>
                <a:cs typeface="Times New Roman"/>
              </a:rPr>
              <a:t>Challenges</a:t>
            </a:r>
          </a:p>
        </p:txBody>
      </p:sp>
      <p:sp>
        <p:nvSpPr>
          <p:cNvPr id="17440" name="Connector 17439">
            <a:extLst xmlns:a="http://schemas.openxmlformats.org/drawingml/2006/main">
              <a:ext uri="{FF2B5EF4-FFF2-40B4-BE49-F238E27FC236}">
                <a16:creationId xmlns:a16="http://schemas.microsoft.com/office/drawing/2014/main" id="{A095E941-7E6E-4A02-B1C7-A9D23B55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734056"/>
            <a:ext cx="13716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B2239"/>
            </a:solidFill>
            <a:tailEnd type="triangle" w="med" len="med"/>
          </a:ln>
        </p:spPr>
      </p:sp>
      <p:sp>
        <p:nvSpPr>
          <p:cNvPr id="17441" name="Connector 17440">
            <a:extLst xmlns:a="http://schemas.openxmlformats.org/drawingml/2006/main">
              <a:ext uri="{FF2B5EF4-FFF2-40B4-BE49-F238E27FC236}">
                <a16:creationId xmlns:a16="http://schemas.microsoft.com/office/drawing/2014/main" id="{6BDD477B-D640-422D-999A-1D2B5D76D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10405872" y="2734056"/>
            <a:ext cx="9144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B2239"/>
            </a:solidFill>
            <a:tailEnd type="triangle" w="med" len="med"/>
          </a:ln>
        </p:spPr>
      </p:sp>
      <p:sp>
        <p:nvSpPr>
          <p:cNvPr id="17442" name="Oval 17441">
            <a:extLst xmlns:a="http://schemas.openxmlformats.org/drawingml/2006/main">
              <a:ext uri="{FF2B5EF4-FFF2-40B4-BE49-F238E27FC236}">
                <a16:creationId xmlns:a16="http://schemas.microsoft.com/office/drawing/2014/main" id="{FF5C6AA1-6C18-449C-AA16-D4E26D345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596896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23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7443" name="TextBox 17442">
            <a:extLst xmlns:a="http://schemas.openxmlformats.org/drawingml/2006/main">
              <a:ext uri="{FF2B5EF4-FFF2-40B4-BE49-F238E27FC236}">
                <a16:creationId xmlns:a16="http://schemas.microsoft.com/office/drawing/2014/main" id="{41659B3B-F265-4FCA-99D4-CD60A1B40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2848" y="2532888"/>
            <a:ext cx="384048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C2410C"/>
                </a:solidFill>
                <a:latin typeface="Arial"/>
                <a:ea typeface="Arial"/>
                <a:cs typeface="Arial"/>
              </a:rPr>
              <a:t>AI hallucination:</a:t>
            </a:r>
            <a:r>
              <a:rPr sz="10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an LLM may invent a number, or even a warning.</a:t>
            </a:r>
          </a:p>
        </p:txBody>
      </p:sp>
      <p:sp>
        <p:nvSpPr>
          <p:cNvPr id="17444" name="TextBox 17443">
            <a:extLst xmlns:a="http://schemas.openxmlformats.org/drawingml/2006/main">
              <a:ext uri="{FF2B5EF4-FFF2-40B4-BE49-F238E27FC236}">
                <a16:creationId xmlns:a16="http://schemas.microsoft.com/office/drawing/2014/main" id="{DA8D9454-B60A-4C52-B4AE-0EBFF545D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532888"/>
            <a:ext cx="3749039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14683E"/>
                </a:solidFill>
                <a:latin typeface="Arial"/>
                <a:ea typeface="Arial"/>
                <a:cs typeface="Arial"/>
              </a:rPr>
              <a:t>Satya Gate checks source-bound claims; a rejected draft retains tool-owned wording.</a:t>
            </a:r>
          </a:p>
        </p:txBody>
      </p:sp>
      <p:sp>
        <p:nvSpPr>
          <p:cNvPr id="17445" name="Oval 17444">
            <a:extLst xmlns:a="http://schemas.openxmlformats.org/drawingml/2006/main">
              <a:ext uri="{FF2B5EF4-FFF2-40B4-BE49-F238E27FC236}">
                <a16:creationId xmlns:a16="http://schemas.microsoft.com/office/drawing/2014/main" id="{D260AA16-757F-4858-B57E-28CCAFDC7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264" y="2596896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7446" name="Connector 17445">
            <a:extLst xmlns:a="http://schemas.openxmlformats.org/drawingml/2006/main">
              <a:ext uri="{FF2B5EF4-FFF2-40B4-BE49-F238E27FC236}">
                <a16:creationId xmlns:a16="http://schemas.microsoft.com/office/drawing/2014/main" id="{57580381-4574-4E6E-A163-A9248EB09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3136392"/>
            <a:ext cx="13716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B2239"/>
            </a:solidFill>
            <a:tailEnd type="triangle" w="med" len="med"/>
          </a:ln>
        </p:spPr>
      </p:sp>
      <p:sp>
        <p:nvSpPr>
          <p:cNvPr id="17447" name="Connector 17446">
            <a:extLst xmlns:a="http://schemas.openxmlformats.org/drawingml/2006/main">
              <a:ext uri="{FF2B5EF4-FFF2-40B4-BE49-F238E27FC236}">
                <a16:creationId xmlns:a16="http://schemas.microsoft.com/office/drawing/2014/main" id="{7BD0C2F5-6FF7-4E10-8580-46741A617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10405872" y="3136392"/>
            <a:ext cx="9144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B2239"/>
            </a:solidFill>
            <a:tailEnd type="triangle" w="med" len="med"/>
          </a:ln>
        </p:spPr>
      </p:sp>
      <p:sp>
        <p:nvSpPr>
          <p:cNvPr id="17448" name="Oval 17447">
            <a:extLst xmlns:a="http://schemas.openxmlformats.org/drawingml/2006/main">
              <a:ext uri="{FF2B5EF4-FFF2-40B4-BE49-F238E27FC236}">
                <a16:creationId xmlns:a16="http://schemas.microsoft.com/office/drawing/2014/main" id="{4B1C8C73-1808-41DA-B65B-355396A06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999232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23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7449" name="TextBox 17448">
            <a:extLst xmlns:a="http://schemas.openxmlformats.org/drawingml/2006/main">
              <a:ext uri="{FF2B5EF4-FFF2-40B4-BE49-F238E27FC236}">
                <a16:creationId xmlns:a16="http://schemas.microsoft.com/office/drawing/2014/main" id="{45B9A788-D2F4-492C-8C5A-7B0502935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2848" y="2935224"/>
            <a:ext cx="384048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C2410C"/>
                </a:solidFill>
                <a:latin typeface="Arial"/>
                <a:ea typeface="Arial"/>
                <a:cs typeface="Arial"/>
              </a:rPr>
              <a:t>Data access:</a:t>
            </a:r>
            <a:r>
              <a:rPr sz="10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IMD's APIs need credentials and approvals.</a:t>
            </a:r>
          </a:p>
        </p:txBody>
      </p:sp>
      <p:sp>
        <p:nvSpPr>
          <p:cNvPr id="17450" name="TextBox 17449">
            <a:extLst xmlns:a="http://schemas.openxmlformats.org/drawingml/2006/main">
              <a:ext uri="{FF2B5EF4-FFF2-40B4-BE49-F238E27FC236}">
                <a16:creationId xmlns:a16="http://schemas.microsoft.com/office/drawing/2014/main" id="{13C0F672-454D-491C-BCF4-2F6FCA48C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935224"/>
            <a:ext cx="3749039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14683E"/>
                </a:solidFill>
                <a:latin typeface="Arial"/>
                <a:ea typeface="Arial"/>
                <a:cs typeface="Arial"/>
              </a:rPr>
              <a:t>Public routes to IMD's own data:</a:t>
            </a:r>
            <a:r>
              <a:rPr sz="10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Mausamgram, 764-district nowcast, 2,071 stations; API adapters switch on with a key.</a:t>
            </a:r>
          </a:p>
        </p:txBody>
      </p:sp>
      <p:sp>
        <p:nvSpPr>
          <p:cNvPr id="17451" name="Oval 17450">
            <a:extLst xmlns:a="http://schemas.openxmlformats.org/drawingml/2006/main">
              <a:ext uri="{FF2B5EF4-FFF2-40B4-BE49-F238E27FC236}">
                <a16:creationId xmlns:a16="http://schemas.microsoft.com/office/drawing/2014/main" id="{026740C6-EE3A-4F2E-9C92-B4C2DA1D5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264" y="2999232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7452" name="Connector 17451">
            <a:extLst xmlns:a="http://schemas.openxmlformats.org/drawingml/2006/main">
              <a:ext uri="{FF2B5EF4-FFF2-40B4-BE49-F238E27FC236}">
                <a16:creationId xmlns:a16="http://schemas.microsoft.com/office/drawing/2014/main" id="{98BB25E4-AED5-4749-A66E-754A58B79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3538728"/>
            <a:ext cx="13716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B2239"/>
            </a:solidFill>
            <a:tailEnd type="triangle" w="med" len="med"/>
          </a:ln>
        </p:spPr>
      </p:sp>
      <p:sp>
        <p:nvSpPr>
          <p:cNvPr id="17453" name="Connector 17452">
            <a:extLst xmlns:a="http://schemas.openxmlformats.org/drawingml/2006/main">
              <a:ext uri="{FF2B5EF4-FFF2-40B4-BE49-F238E27FC236}">
                <a16:creationId xmlns:a16="http://schemas.microsoft.com/office/drawing/2014/main" id="{7ADCBC16-8E9D-417D-BE9F-E61AE3E12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10405872" y="3538728"/>
            <a:ext cx="9144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B2239"/>
            </a:solidFill>
            <a:tailEnd type="triangle" w="med" len="med"/>
          </a:ln>
        </p:spPr>
      </p:sp>
      <p:sp>
        <p:nvSpPr>
          <p:cNvPr id="17454" name="Oval 17453">
            <a:extLst xmlns:a="http://schemas.openxmlformats.org/drawingml/2006/main">
              <a:ext uri="{FF2B5EF4-FFF2-40B4-BE49-F238E27FC236}">
                <a16:creationId xmlns:a16="http://schemas.microsoft.com/office/drawing/2014/main" id="{C64EE7DC-D74E-430E-903C-5A2D4BDBF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3401568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23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455" name="TextBox 17454">
            <a:extLst xmlns:a="http://schemas.openxmlformats.org/drawingml/2006/main">
              <a:ext uri="{FF2B5EF4-FFF2-40B4-BE49-F238E27FC236}">
                <a16:creationId xmlns:a16="http://schemas.microsoft.com/office/drawing/2014/main" id="{C206B687-D98D-4EAB-AA39-DA5386232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2848" y="3337560"/>
            <a:ext cx="384048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C2410C"/>
                </a:solidFill>
                <a:latin typeface="Arial"/>
                <a:ea typeface="Arial"/>
                <a:cs typeface="Arial"/>
              </a:rPr>
              <a:t>Connectivity:</a:t>
            </a:r>
            <a:r>
              <a:rPr sz="10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patchy rural networks and feature phones.</a:t>
            </a:r>
          </a:p>
        </p:txBody>
      </p:sp>
      <p:sp>
        <p:nvSpPr>
          <p:cNvPr id="17456" name="TextBox 17455">
            <a:extLst xmlns:a="http://schemas.openxmlformats.org/drawingml/2006/main">
              <a:ext uri="{FF2B5EF4-FFF2-40B4-BE49-F238E27FC236}">
                <a16:creationId xmlns:a16="http://schemas.microsoft.com/office/drawing/2014/main" id="{A1E61E17-6D7C-4318-AC5A-0D88251E9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337560"/>
            <a:ext cx="3749039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14683E"/>
                </a:solidFill>
                <a:latin typeface="Arial"/>
                <a:ea typeface="Arial"/>
                <a:cs typeface="Arial"/>
              </a:rPr>
              <a:t>Planned offline + SMS / IVR:</a:t>
            </a:r>
            <a:r>
              <a:rPr sz="10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last-answer cache, tiny PWA payloads, voice call-back.</a:t>
            </a:r>
          </a:p>
        </p:txBody>
      </p:sp>
      <p:sp>
        <p:nvSpPr>
          <p:cNvPr id="17457" name="Oval 17456">
            <a:extLst xmlns:a="http://schemas.openxmlformats.org/drawingml/2006/main">
              <a:ext uri="{FF2B5EF4-FFF2-40B4-BE49-F238E27FC236}">
                <a16:creationId xmlns:a16="http://schemas.microsoft.com/office/drawing/2014/main" id="{AED06478-AB93-44C5-A9CC-5C8C68E36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264" y="3401568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458" name="Connector 17457">
            <a:extLst xmlns:a="http://schemas.openxmlformats.org/drawingml/2006/main">
              <a:ext uri="{FF2B5EF4-FFF2-40B4-BE49-F238E27FC236}">
                <a16:creationId xmlns:a16="http://schemas.microsoft.com/office/drawing/2014/main" id="{5A9A2DBD-CFF1-4AD4-8311-CECC53702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3941064"/>
            <a:ext cx="13716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B2239"/>
            </a:solidFill>
            <a:tailEnd type="triangle" w="med" len="med"/>
          </a:ln>
        </p:spPr>
      </p:sp>
      <p:sp>
        <p:nvSpPr>
          <p:cNvPr id="17459" name="Connector 17458">
            <a:extLst xmlns:a="http://schemas.openxmlformats.org/drawingml/2006/main">
              <a:ext uri="{FF2B5EF4-FFF2-40B4-BE49-F238E27FC236}">
                <a16:creationId xmlns:a16="http://schemas.microsoft.com/office/drawing/2014/main" id="{1A70E72E-E865-4164-8708-6D6CB40A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10405872" y="3941064"/>
            <a:ext cx="9144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B2239"/>
            </a:solidFill>
            <a:tailEnd type="triangle" w="med" len="med"/>
          </a:ln>
        </p:spPr>
      </p:sp>
      <p:sp>
        <p:nvSpPr>
          <p:cNvPr id="17460" name="Oval 17459">
            <a:extLst xmlns:a="http://schemas.openxmlformats.org/drawingml/2006/main">
              <a:ext uri="{FF2B5EF4-FFF2-40B4-BE49-F238E27FC236}">
                <a16:creationId xmlns:a16="http://schemas.microsoft.com/office/drawing/2014/main" id="{6701A4DE-A822-49BC-A00B-542F41D9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3803904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23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461" name="TextBox 17460">
            <a:extLst xmlns:a="http://schemas.openxmlformats.org/drawingml/2006/main">
              <a:ext uri="{FF2B5EF4-FFF2-40B4-BE49-F238E27FC236}">
                <a16:creationId xmlns:a16="http://schemas.microsoft.com/office/drawing/2014/main" id="{67864314-75EE-4C15-9BC8-4331C01AD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2848" y="3739896"/>
            <a:ext cx="384048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C2410C"/>
                </a:solidFill>
                <a:latin typeface="Arial"/>
                <a:ea typeface="Arial"/>
                <a:cs typeface="Arial"/>
              </a:rPr>
              <a:t>Language fidelity:</a:t>
            </a:r>
            <a:r>
              <a:rPr sz="10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translation can distort values and negations.</a:t>
            </a:r>
          </a:p>
        </p:txBody>
      </p:sp>
      <p:sp>
        <p:nvSpPr>
          <p:cNvPr id="17462" name="TextBox 17461">
            <a:extLst xmlns:a="http://schemas.openxmlformats.org/drawingml/2006/main">
              <a:ext uri="{FF2B5EF4-FFF2-40B4-BE49-F238E27FC236}">
                <a16:creationId xmlns:a16="http://schemas.microsoft.com/office/drawing/2014/main" id="{A0CC3E57-69A3-446F-B586-1B371258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739896"/>
            <a:ext cx="3749039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14683E"/>
                </a:solidFill>
                <a:latin typeface="Arial"/>
                <a:ea typeface="Arial"/>
                <a:cs typeface="Arial"/>
              </a:rPr>
              <a:t>Value-safe translation:</a:t>
            </a:r>
            <a:r>
              <a:rPr sz="10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Sarvam-Translate output re-checked for numbers, units &amp; dates, else it stays in source.</a:t>
            </a:r>
          </a:p>
        </p:txBody>
      </p:sp>
      <p:sp>
        <p:nvSpPr>
          <p:cNvPr id="17463" name="Oval 17462">
            <a:extLst xmlns:a="http://schemas.openxmlformats.org/drawingml/2006/main">
              <a:ext uri="{FF2B5EF4-FFF2-40B4-BE49-F238E27FC236}">
                <a16:creationId xmlns:a16="http://schemas.microsoft.com/office/drawing/2014/main" id="{2174E875-3DF5-4FB4-B52F-52FD94BE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264" y="3803904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464" name="Connector 17463">
            <a:extLst xmlns:a="http://schemas.openxmlformats.org/drawingml/2006/main">
              <a:ext uri="{FF2B5EF4-FFF2-40B4-BE49-F238E27FC236}">
                <a16:creationId xmlns:a16="http://schemas.microsoft.com/office/drawing/2014/main" id="{DE935478-C84C-472D-BE74-B5FECFE4B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4343400"/>
            <a:ext cx="13716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B2239"/>
            </a:solidFill>
            <a:tailEnd type="triangle" w="med" len="med"/>
          </a:ln>
        </p:spPr>
      </p:sp>
      <p:sp>
        <p:nvSpPr>
          <p:cNvPr id="17465" name="Connector 17464">
            <a:extLst xmlns:a="http://schemas.openxmlformats.org/drawingml/2006/main">
              <a:ext uri="{FF2B5EF4-FFF2-40B4-BE49-F238E27FC236}">
                <a16:creationId xmlns:a16="http://schemas.microsoft.com/office/drawing/2014/main" id="{299A5007-9F65-4B59-9B9E-A6325392E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10405872" y="4343400"/>
            <a:ext cx="9144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B2239"/>
            </a:solidFill>
            <a:tailEnd type="triangle" w="med" len="med"/>
          </a:ln>
        </p:spPr>
      </p:sp>
      <p:sp>
        <p:nvSpPr>
          <p:cNvPr id="17466" name="Oval 17465">
            <a:extLst xmlns:a="http://schemas.openxmlformats.org/drawingml/2006/main">
              <a:ext uri="{FF2B5EF4-FFF2-40B4-BE49-F238E27FC236}">
                <a16:creationId xmlns:a16="http://schemas.microsoft.com/office/drawing/2014/main" id="{246AB4DF-9250-4D7E-9030-134850E6F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42062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23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7467" name="TextBox 17466">
            <a:extLst xmlns:a="http://schemas.openxmlformats.org/drawingml/2006/main">
              <a:ext uri="{FF2B5EF4-FFF2-40B4-BE49-F238E27FC236}">
                <a16:creationId xmlns:a16="http://schemas.microsoft.com/office/drawing/2014/main" id="{2A5BD0F6-C368-4765-B88D-23D9B5146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2848" y="4142232"/>
            <a:ext cx="384048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C2410C"/>
                </a:solidFill>
                <a:latin typeface="Arial"/>
                <a:ea typeface="Arial"/>
                <a:cs typeface="Arial"/>
              </a:rPr>
              <a:t>Foreign AI dependence:</a:t>
            </a:r>
            <a:r>
              <a:rPr sz="10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outages, price shifts, questions sent abroad.</a:t>
            </a:r>
          </a:p>
        </p:txBody>
      </p:sp>
      <p:sp>
        <p:nvSpPr>
          <p:cNvPr id="17468" name="TextBox 17467">
            <a:extLst xmlns:a="http://schemas.openxmlformats.org/drawingml/2006/main">
              <a:ext uri="{FF2B5EF4-FFF2-40B4-BE49-F238E27FC236}">
                <a16:creationId xmlns:a16="http://schemas.microsoft.com/office/drawing/2014/main" id="{00CD4DE1-2566-45DD-8F66-35990ABD6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142232"/>
            <a:ext cx="3749039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14683E"/>
                </a:solidFill>
                <a:latin typeface="Arial"/>
                <a:ea typeface="Arial"/>
                <a:cs typeface="Arial"/>
              </a:rPr>
              <a:t>Proposed sovereign stack: India-hosted models. Configured hosted providers receive context now.</a:t>
            </a:r>
          </a:p>
        </p:txBody>
      </p:sp>
      <p:sp>
        <p:nvSpPr>
          <p:cNvPr id="17469" name="Oval 17468">
            <a:extLst xmlns:a="http://schemas.openxmlformats.org/drawingml/2006/main">
              <a:ext uri="{FF2B5EF4-FFF2-40B4-BE49-F238E27FC236}">
                <a16:creationId xmlns:a16="http://schemas.microsoft.com/office/drawing/2014/main" id="{8D798097-3EF2-458A-A15E-1288A3A9D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264" y="42062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7470" name="Connector 17469">
            <a:extLst xmlns:a="http://schemas.openxmlformats.org/drawingml/2006/main">
              <a:ext uri="{FF2B5EF4-FFF2-40B4-BE49-F238E27FC236}">
                <a16:creationId xmlns:a16="http://schemas.microsoft.com/office/drawing/2014/main" id="{264D9D25-B35F-40C4-824D-33AA4EB96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734056"/>
            <a:ext cx="0" cy="1609344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B2239"/>
            </a:solidFill>
          </a:ln>
        </p:spPr>
      </p:sp>
      <p:sp>
        <p:nvSpPr>
          <p:cNvPr id="17471" name="Connector 17470">
            <a:extLst xmlns:a="http://schemas.openxmlformats.org/drawingml/2006/main">
              <a:ext uri="{FF2B5EF4-FFF2-40B4-BE49-F238E27FC236}">
                <a16:creationId xmlns:a16="http://schemas.microsoft.com/office/drawing/2014/main" id="{F1D2BFD7-1156-4EC7-8EC4-D8D8970BD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7312" y="2734056"/>
            <a:ext cx="0" cy="1609344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B2239"/>
            </a:solidFill>
          </a:ln>
        </p:spPr>
      </p:sp>
      <p:sp>
        <p:nvSpPr>
          <p:cNvPr id="17472" name="Connector 17471">
            <a:extLst xmlns:a="http://schemas.openxmlformats.org/drawingml/2006/main">
              <a:ext uri="{FF2B5EF4-FFF2-40B4-BE49-F238E27FC236}">
                <a16:creationId xmlns:a16="http://schemas.microsoft.com/office/drawing/2014/main" id="{F3D135F8-ED66-47F8-8D9C-9D5509F6D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520440"/>
            <a:ext cx="210312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B2239"/>
            </a:solidFill>
          </a:ln>
        </p:spPr>
      </p:sp>
      <p:sp>
        <p:nvSpPr>
          <p:cNvPr id="17473" name="Connector 17472">
            <a:extLst xmlns:a="http://schemas.openxmlformats.org/drawingml/2006/main">
              <a:ext uri="{FF2B5EF4-FFF2-40B4-BE49-F238E27FC236}">
                <a16:creationId xmlns:a16="http://schemas.microsoft.com/office/drawing/2014/main" id="{B86595C2-D99A-4CBC-A78E-37F00496C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10497312" y="3520440"/>
            <a:ext cx="164592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B2239"/>
            </a:solidFill>
          </a:ln>
        </p:spPr>
      </p:sp>
      <p:sp>
        <p:nvSpPr>
          <p:cNvPr id="17474" name="Connector 17473">
            <a:extLst xmlns:a="http://schemas.openxmlformats.org/drawingml/2006/main">
              <a:ext uri="{FF2B5EF4-FFF2-40B4-BE49-F238E27FC236}">
                <a16:creationId xmlns:a16="http://schemas.microsoft.com/office/drawing/2014/main" id="{7D317D46-AAF1-46A8-ADCE-BE73E3436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2542032"/>
            <a:ext cx="0" cy="1956816"/>
          </a:xfrm>
          <a:prstGeom xmlns:a="http://schemas.openxmlformats.org/drawingml/2006/main" prst="line">
            <a:avLst/>
          </a:prstGeom>
          <a:ln xmlns:a="http://schemas.openxmlformats.org/drawingml/2006/main" w="15875">
            <a:solidFill>
              <a:srgbClr val="C5D5E2"/>
            </a:solidFill>
            <a:prstDash val="dash"/>
          </a:ln>
        </p:spPr>
      </p:sp>
      <p:sp>
        <p:nvSpPr>
          <p:cNvPr id="17475" name="Rounded Rectangle 17474">
            <a:extLst xmlns:a="http://schemas.openxmlformats.org/drawingml/2006/main">
              <a:ext uri="{FF2B5EF4-FFF2-40B4-BE49-F238E27FC236}">
                <a16:creationId xmlns:a16="http://schemas.microsoft.com/office/drawing/2014/main" id="{6C2138C9-1637-43C2-A9DD-B5C5C84CA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4663440"/>
            <a:ext cx="118872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B2239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C766"/>
                </a:solidFill>
                <a:latin typeface="Arial"/>
                <a:ea typeface="Arial"/>
                <a:cs typeface="Arial"/>
              </a:rPr>
              <a:t>PROPOSED</a:t>
            </a:r>
          </a:p>
          <a:p xmlns:a="http://schemas.openxmlformats.org/drawingml/2006/main"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Deployment</a:t>
            </a:r>
          </a:p>
        </p:txBody>
      </p:sp>
      <p:sp>
        <p:nvSpPr>
          <p:cNvPr id="17476" name="Pentagon 17475">
            <a:extLst xmlns:a="http://schemas.openxmlformats.org/drawingml/2006/main">
              <a:ext uri="{FF2B5EF4-FFF2-40B4-BE49-F238E27FC236}">
                <a16:creationId xmlns:a16="http://schemas.microsoft.com/office/drawing/2014/main" id="{047396F3-23A1-474E-9916-4459D79D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904" y="4663440"/>
            <a:ext cx="2708910" cy="530352"/>
          </a:xfrm>
          <a:prstGeom xmlns:a="http://schemas.openxmlformats.org/drawingml/2006/main" prst="homePlate">
            <a:avLst>
              <a:gd name="adj" fmla="val 30000"/>
            </a:avLst>
          </a:prstGeom>
          <a:solidFill xmlns:a="http://schemas.openxmlformats.org/drawingml/2006/main">
            <a:srgbClr val="0F6E9A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77" name="TextBox 17476">
            <a:extLst xmlns:a="http://schemas.openxmlformats.org/drawingml/2006/main">
              <a:ext uri="{FF2B5EF4-FFF2-40B4-BE49-F238E27FC236}">
                <a16:creationId xmlns:a16="http://schemas.microsoft.com/office/drawing/2014/main" id="{D670FB44-BD47-4C23-9A88-3663F601C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7631" y="4663440"/>
            <a:ext cx="225171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NATIONAL CORE</a:t>
            </a:r>
          </a:p>
          <a:p xmlns:a="http://schemas.openxmlformats.org/drawingml/2006/main">
            <a:pPr algn="l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IMD / NIC MeghRaj: models, data, audit logs</a:t>
            </a:r>
          </a:p>
        </p:txBody>
      </p:sp>
      <p:sp>
        <p:nvSpPr>
          <p:cNvPr id="17478" name="Chevron 17477">
            <a:extLst xmlns:a="http://schemas.openxmlformats.org/drawingml/2006/main">
              <a:ext uri="{FF2B5EF4-FFF2-40B4-BE49-F238E27FC236}">
                <a16:creationId xmlns:a16="http://schemas.microsoft.com/office/drawing/2014/main" id="{D7189467-6C7B-4086-B3F9-60EF150C3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0510" y="4663440"/>
            <a:ext cx="2708910" cy="530352"/>
          </a:xfrm>
          <a:prstGeom xmlns:a="http://schemas.openxmlformats.org/drawingml/2006/main" prst="chevron">
            <a:avLst>
              <a:gd name="adj" fmla="val 30000"/>
            </a:avLst>
          </a:prstGeom>
          <a:solidFill xmlns:a="http://schemas.openxmlformats.org/drawingml/2006/main">
            <a:srgbClr val="3D8FD1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79" name="TextBox 17478">
            <a:extLst xmlns:a="http://schemas.openxmlformats.org/drawingml/2006/main">
              <a:ext uri="{FF2B5EF4-FFF2-40B4-BE49-F238E27FC236}">
                <a16:creationId xmlns:a16="http://schemas.microsoft.com/office/drawing/2014/main" id="{CDF34489-63B7-4EC9-A8C9-A6DAED6A5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4830" y="4663440"/>
            <a:ext cx="225171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STATE NODE</a:t>
            </a:r>
          </a:p>
          <a:p xmlns:a="http://schemas.openxmlformats.org/drawingml/2006/main">
            <a:pPr algn="l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State Data Centre + SEOC: languages, alert relay</a:t>
            </a:r>
          </a:p>
        </p:txBody>
      </p:sp>
      <p:sp>
        <p:nvSpPr>
          <p:cNvPr id="17480" name="Chevron 17479">
            <a:extLst xmlns:a="http://schemas.openxmlformats.org/drawingml/2006/main">
              <a:ext uri="{FF2B5EF4-FFF2-40B4-BE49-F238E27FC236}">
                <a16:creationId xmlns:a16="http://schemas.microsoft.com/office/drawing/2014/main" id="{696880C6-4CCB-41ED-90BF-D9B3CE073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3116" y="4663440"/>
            <a:ext cx="2708910" cy="530352"/>
          </a:xfrm>
          <a:prstGeom xmlns:a="http://schemas.openxmlformats.org/drawingml/2006/main" prst="chevron">
            <a:avLst>
              <a:gd name="adj" fmla="val 30000"/>
            </a:avLst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81" name="TextBox 17480">
            <a:extLst xmlns:a="http://schemas.openxmlformats.org/drawingml/2006/main">
              <a:ext uri="{FF2B5EF4-FFF2-40B4-BE49-F238E27FC236}">
                <a16:creationId xmlns:a16="http://schemas.microsoft.com/office/drawing/2014/main" id="{45568D87-B0E9-4F2F-A18C-722E6A16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7436" y="4663440"/>
            <a:ext cx="225171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DISTRICT EDGE</a:t>
            </a:r>
          </a:p>
          <a:p xmlns:a="http://schemas.openxmlformats.org/drawingml/2006/main">
            <a:pPr algn="l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offline node at the DEOC: answers when links fail</a:t>
            </a:r>
          </a:p>
        </p:txBody>
      </p:sp>
      <p:sp>
        <p:nvSpPr>
          <p:cNvPr id="17482" name="Chevron 17481">
            <a:extLst xmlns:a="http://schemas.openxmlformats.org/drawingml/2006/main">
              <a:ext uri="{FF2B5EF4-FFF2-40B4-BE49-F238E27FC236}">
                <a16:creationId xmlns:a16="http://schemas.microsoft.com/office/drawing/2014/main" id="{193B78F6-1402-4480-B4C2-B5D19B25B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4663440"/>
            <a:ext cx="2708910" cy="530352"/>
          </a:xfrm>
          <a:prstGeom xmlns:a="http://schemas.openxmlformats.org/drawingml/2006/main" prst="chevron">
            <a:avLst>
              <a:gd name="adj" fmla="val 30000"/>
            </a:avLst>
          </a:prstGeom>
          <a:solidFill xmlns:a="http://schemas.openxmlformats.org/drawingml/2006/main">
            <a:srgbClr val="D97A0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83" name="TextBox 17482">
            <a:extLst xmlns:a="http://schemas.openxmlformats.org/drawingml/2006/main">
              <a:ext uri="{FF2B5EF4-FFF2-40B4-BE49-F238E27FC236}">
                <a16:creationId xmlns:a16="http://schemas.microsoft.com/office/drawing/2014/main" id="{3975A247-E3CD-4F9C-B751-3753EF0EB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0042" y="4663440"/>
            <a:ext cx="225171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CITIZEN DEVICE</a:t>
            </a:r>
          </a:p>
          <a:p xmlns:a="http://schemas.openxmlformats.org/drawingml/2006/main">
            <a:pPr algn="l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PWA cache · SMS · IVR, no data plan needed</a:t>
            </a:r>
          </a:p>
        </p:txBody>
      </p:sp>
      <p:sp>
        <p:nvSpPr>
          <p:cNvPr id="17484" name="Rounded Rectangle 17483">
            <a:extLst xmlns:a="http://schemas.openxmlformats.org/drawingml/2006/main">
              <a:ext uri="{FF2B5EF4-FFF2-40B4-BE49-F238E27FC236}">
                <a16:creationId xmlns:a16="http://schemas.microsoft.com/office/drawing/2014/main" id="{3F82A318-DF2F-48F5-A052-7DB612578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5248656"/>
            <a:ext cx="4800600" cy="4572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C5D5E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85" name="TextBox 17484">
            <a:extLst xmlns:a="http://schemas.openxmlformats.org/drawingml/2006/main">
              <a:ext uri="{FF2B5EF4-FFF2-40B4-BE49-F238E27FC236}">
                <a16:creationId xmlns:a16="http://schemas.microsoft.com/office/drawing/2014/main" id="{D00B2FDA-9742-4F65-A304-7DF6B55C9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" y="5248656"/>
            <a:ext cx="157276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ILLUSTRATIVE COST</a:t>
            </a:r>
          </a:p>
          <a:p xmlns:a="http://schemas.openxmlformats.org/drawingml/2006/main"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0B2239"/>
                </a:solidFill>
                <a:latin typeface="Times New Roman"/>
                <a:ea typeface="Times New Roman"/>
                <a:cs typeface="Times New Roman"/>
              </a:rPr>
              <a:t>≈ ₹26 lakh / yr</a:t>
            </a:r>
          </a:p>
        </p:txBody>
      </p:sp>
      <p:sp>
        <p:nvSpPr>
          <p:cNvPr id="17486" name="TextBox 17485">
            <a:extLst xmlns:a="http://schemas.openxmlformats.org/drawingml/2006/main">
              <a:ext uri="{FF2B5EF4-FFF2-40B4-BE49-F238E27FC236}">
                <a16:creationId xmlns:a16="http://schemas.microsoft.com/office/drawing/2014/main" id="{879F4DDF-427B-48C7-8929-1F8425D61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5248656"/>
            <a:ext cx="3108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Biggest line: </a:t>
            </a:r>
            <a:r>
              <a:rPr sz="75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2 × H100</a:t>
            </a:r>
            <a:r>
              <a:rPr sz="75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inference on </a:t>
            </a:r>
            <a:r>
              <a:rPr sz="75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IndiaAI compute</a:t>
            </a:r>
            <a:r>
              <a:rPr sz="75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at ₹150 / GPU-hr, 24 × 7. No per-question foreign API fees.</a:t>
            </a:r>
          </a:p>
        </p:txBody>
      </p:sp>
      <p:sp>
        <p:nvSpPr>
          <p:cNvPr id="17487" name="Rounded Rectangle 17486">
            <a:extLst xmlns:a="http://schemas.openxmlformats.org/drawingml/2006/main">
              <a:ext uri="{FF2B5EF4-FFF2-40B4-BE49-F238E27FC236}">
                <a16:creationId xmlns:a16="http://schemas.microsoft.com/office/drawing/2014/main" id="{F8BC55B4-B3CA-4A11-AEA2-50D338D70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5248656"/>
            <a:ext cx="6748272" cy="4572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C5D5E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88" name="TextBox 17487">
            <a:extLst xmlns:a="http://schemas.openxmlformats.org/drawingml/2006/main">
              <a:ext uri="{FF2B5EF4-FFF2-40B4-BE49-F238E27FC236}">
                <a16:creationId xmlns:a16="http://schemas.microsoft.com/office/drawing/2014/main" id="{60123DF9-E0D1-48A7-B089-36BB04C3A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5248656"/>
            <a:ext cx="114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DESIGN GOAL</a:t>
            </a:r>
          </a:p>
          <a:p xmlns:a="http://schemas.openxmlformats.org/drawingml/2006/main"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0B2239"/>
                </a:solidFill>
                <a:latin typeface="Times New Roman"/>
                <a:ea typeface="Times New Roman"/>
                <a:cs typeface="Times New Roman"/>
              </a:rPr>
              <a:t>in India</a:t>
            </a:r>
          </a:p>
        </p:txBody>
      </p:sp>
      <p:pic>
        <p:nvPicPr>
          <p:cNvPr id="17603" name="Picture 1748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f94111ce9c43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55080" y="5376672"/>
            <a:ext cx="192024" cy="192024"/>
          </a:xfrm>
          <a:prstGeom xmlns:a="http://schemas.openxmlformats.org/drawingml/2006/main" prst="rect">
            <a:avLst/>
          </a:prstGeom>
        </p:spPr>
      </p:pic>
      <p:sp>
        <p:nvSpPr>
          <p:cNvPr id="17490" name="TextBox 17489">
            <a:extLst xmlns:a="http://schemas.openxmlformats.org/drawingml/2006/main">
              <a:ext uri="{FF2B5EF4-FFF2-40B4-BE49-F238E27FC236}">
                <a16:creationId xmlns:a16="http://schemas.microsoft.com/office/drawing/2014/main" id="{C2DA2CEB-0BD9-49EF-9787-CD0884E85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4536" y="5248656"/>
            <a:ext cx="114757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DPDP Act 2023</a:t>
            </a:r>
          </a:p>
          <a:p xmlns:a="http://schemas.openxmlformats.org/drawingml/2006/main">
            <a:pPr algn="l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district-level location only</a:t>
            </a:r>
          </a:p>
        </p:txBody>
      </p:sp>
      <p:pic>
        <p:nvPicPr>
          <p:cNvPr id="17605" name="Picture 1749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d0484a94b040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40396" y="5376672"/>
            <a:ext cx="192024" cy="192024"/>
          </a:xfrm>
          <a:prstGeom xmlns:a="http://schemas.openxmlformats.org/drawingml/2006/main" prst="rect">
            <a:avLst/>
          </a:prstGeom>
        </p:spPr>
      </p:pic>
      <p:sp>
        <p:nvSpPr>
          <p:cNvPr id="17492" name="TextBox 17491">
            <a:extLst xmlns:a="http://schemas.openxmlformats.org/drawingml/2006/main">
              <a:ext uri="{FF2B5EF4-FFF2-40B4-BE49-F238E27FC236}">
                <a16:creationId xmlns:a16="http://schemas.microsoft.com/office/drawing/2014/main" id="{DA3500B8-41BE-40AC-8919-F185D867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9852" y="5248656"/>
            <a:ext cx="114757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CERT-In 2022</a:t>
            </a:r>
          </a:p>
          <a:p xmlns:a="http://schemas.openxmlformats.org/drawingml/2006/main">
            <a:pPr algn="l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logs kept 180 days in India</a:t>
            </a:r>
          </a:p>
        </p:txBody>
      </p:sp>
      <p:pic>
        <p:nvPicPr>
          <p:cNvPr id="17607" name="Picture 1749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41f99c114c4b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25712" y="5376672"/>
            <a:ext cx="192024" cy="192024"/>
          </a:xfrm>
          <a:prstGeom xmlns:a="http://schemas.openxmlformats.org/drawingml/2006/main" prst="rect">
            <a:avLst/>
          </a:prstGeom>
        </p:spPr>
      </p:pic>
      <p:sp>
        <p:nvSpPr>
          <p:cNvPr id="17494" name="TextBox 17493">
            <a:extLst xmlns:a="http://schemas.openxmlformats.org/drawingml/2006/main">
              <a:ext uri="{FF2B5EF4-FFF2-40B4-BE49-F238E27FC236}">
                <a16:creationId xmlns:a16="http://schemas.microsoft.com/office/drawing/2014/main" id="{7E587FFA-BB98-4BDD-9539-C5FC435B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168" y="5248656"/>
            <a:ext cx="114757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MeitY cloud</a:t>
            </a:r>
          </a:p>
          <a:p xmlns:a="http://schemas.openxmlformats.org/drawingml/2006/main">
            <a:pPr algn="l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empanelled, India region</a:t>
            </a:r>
          </a:p>
        </p:txBody>
      </p:sp>
      <p:pic>
        <p:nvPicPr>
          <p:cNvPr id="17609" name="Picture 1749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bb8e10847042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511028" y="5376672"/>
            <a:ext cx="192024" cy="192024"/>
          </a:xfrm>
          <a:prstGeom xmlns:a="http://schemas.openxmlformats.org/drawingml/2006/main" prst="rect">
            <a:avLst/>
          </a:prstGeom>
        </p:spPr>
      </p:pic>
      <p:sp>
        <p:nvSpPr>
          <p:cNvPr id="17496" name="TextBox 17495">
            <a:extLst xmlns:a="http://schemas.openxmlformats.org/drawingml/2006/main">
              <a:ext uri="{FF2B5EF4-FFF2-40B4-BE49-F238E27FC236}">
                <a16:creationId xmlns:a16="http://schemas.microsoft.com/office/drawing/2014/main" id="{D7CFDEBF-2E3D-463B-BF74-EC3F7D0F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0484" y="5248656"/>
            <a:ext cx="114757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B2239"/>
                </a:solidFill>
                <a:latin typeface="Arial"/>
                <a:ea typeface="Arial"/>
                <a:cs typeface="Arial"/>
              </a:rPr>
              <a:t>Open standards</a:t>
            </a:r>
          </a:p>
          <a:p xmlns:a="http://schemas.openxmlformats.org/drawingml/2006/main">
            <a:pPr algn="l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CAP 1.2 · WIS 2.0 · WFS</a:t>
            </a:r>
          </a:p>
        </p:txBody>
      </p:sp>
      <p:sp>
        <p:nvSpPr>
          <p:cNvPr id="17497" name="Pentagon 17496">
            <a:extLst xmlns:a="http://schemas.openxmlformats.org/drawingml/2006/main">
              <a:ext uri="{FF2B5EF4-FFF2-40B4-BE49-F238E27FC236}">
                <a16:creationId xmlns:a16="http://schemas.microsoft.com/office/drawing/2014/main" id="{FF2B6B7F-79EA-4FED-984A-C1B8A94F8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5760720"/>
            <a:ext cx="2103120" cy="502920"/>
          </a:xfrm>
          <a:prstGeom xmlns:a="http://schemas.openxmlformats.org/drawingml/2006/main" prst="homePlate">
            <a:avLst>
              <a:gd name="adj" fmla="val 30000"/>
            </a:avLst>
          </a:prstGeom>
          <a:solidFill xmlns:a="http://schemas.openxmlformats.org/drawingml/2006/main">
            <a:srgbClr val="0F6E9A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98" name="TextBox 17497">
            <a:extLst xmlns:a="http://schemas.openxmlformats.org/drawingml/2006/main">
              <a:ext uri="{FF2B5EF4-FFF2-40B4-BE49-F238E27FC236}">
                <a16:creationId xmlns:a16="http://schemas.microsoft.com/office/drawing/2014/main" id="{DB3AC986-9586-4653-8406-BC847BE6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5760720"/>
            <a:ext cx="1664207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NOW</a:t>
            </a:r>
          </a:p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IMD-first answers · installable PWA · streaming</a:t>
            </a:r>
          </a:p>
        </p:txBody>
      </p:sp>
      <p:sp>
        <p:nvSpPr>
          <p:cNvPr id="17499" name="Chevron 17498">
            <a:extLst xmlns:a="http://schemas.openxmlformats.org/drawingml/2006/main">
              <a:ext uri="{FF2B5EF4-FFF2-40B4-BE49-F238E27FC236}">
                <a16:creationId xmlns:a16="http://schemas.microsoft.com/office/drawing/2014/main" id="{920BA3EE-53F5-48E2-B542-35E662B5D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3879" y="5760720"/>
            <a:ext cx="2331720" cy="502920"/>
          </a:xfrm>
          <a:prstGeom xmlns:a="http://schemas.openxmlformats.org/drawingml/2006/main" prst="chevron">
            <a:avLst>
              <a:gd name="adj" fmla="val 30000"/>
            </a:avLst>
          </a:prstGeom>
          <a:solidFill xmlns:a="http://schemas.openxmlformats.org/drawingml/2006/main">
            <a:srgbClr val="3D8FD1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500" name="TextBox 17499">
            <a:extLst xmlns:a="http://schemas.openxmlformats.org/drawingml/2006/main">
              <a:ext uri="{FF2B5EF4-FFF2-40B4-BE49-F238E27FC236}">
                <a16:creationId xmlns:a16="http://schemas.microsoft.com/office/drawing/2014/main" id="{D0099AB6-322F-4936-BB87-69E933FA8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9911" y="5760720"/>
            <a:ext cx="1892807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BEFORE FINALE</a:t>
            </a:r>
          </a:p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Live push on a phone · WIS 2.0 lane · WRF</a:t>
            </a:r>
          </a:p>
        </p:txBody>
      </p:sp>
      <p:sp>
        <p:nvSpPr>
          <p:cNvPr id="17501" name="Chevron 17500">
            <a:extLst xmlns:a="http://schemas.openxmlformats.org/drawingml/2006/main">
              <a:ext uri="{FF2B5EF4-FFF2-40B4-BE49-F238E27FC236}">
                <a16:creationId xmlns:a16="http://schemas.microsoft.com/office/drawing/2014/main" id="{1DDD6484-AAF1-4927-BAB5-FF77C7016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2038" y="5760720"/>
            <a:ext cx="2103120" cy="502920"/>
          </a:xfrm>
          <a:prstGeom xmlns:a="http://schemas.openxmlformats.org/drawingml/2006/main" prst="chevron">
            <a:avLst>
              <a:gd name="adj" fmla="val 30000"/>
            </a:avLst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502" name="TextBox 17501">
            <a:extLst xmlns:a="http://schemas.openxmlformats.org/drawingml/2006/main">
              <a:ext uri="{FF2B5EF4-FFF2-40B4-BE49-F238E27FC236}">
                <a16:creationId xmlns:a16="http://schemas.microsoft.com/office/drawing/2014/main" id="{5AF4D30A-6155-4267-AECC-D7F8A9A62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8070" y="5760720"/>
            <a:ext cx="1664207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36-HOUR FINALE</a:t>
            </a:r>
          </a:p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SMS / IVR · cyclone-bulletin OCR · IMD API adapters</a:t>
            </a:r>
          </a:p>
        </p:txBody>
      </p:sp>
      <p:sp>
        <p:nvSpPr>
          <p:cNvPr id="17503" name="Chevron 17502">
            <a:extLst xmlns:a="http://schemas.openxmlformats.org/drawingml/2006/main">
              <a:ext uri="{FF2B5EF4-FFF2-40B4-BE49-F238E27FC236}">
                <a16:creationId xmlns:a16="http://schemas.microsoft.com/office/drawing/2014/main" id="{706E5188-BFEB-4BE5-8A7F-821A1D17D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597" y="5760720"/>
            <a:ext cx="2240280" cy="502920"/>
          </a:xfrm>
          <a:prstGeom xmlns:a="http://schemas.openxmlformats.org/drawingml/2006/main" prst="chevron">
            <a:avLst>
              <a:gd name="adj" fmla="val 30000"/>
            </a:avLst>
          </a:prstGeom>
          <a:solidFill xmlns:a="http://schemas.openxmlformats.org/drawingml/2006/main">
            <a:srgbClr val="D97A0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504" name="TextBox 17503">
            <a:extLst xmlns:a="http://schemas.openxmlformats.org/drawingml/2006/main">
              <a:ext uri="{FF2B5EF4-FFF2-40B4-BE49-F238E27FC236}">
                <a16:creationId xmlns:a16="http://schemas.microsoft.com/office/drawing/2014/main" id="{01F7F115-0841-4BA3-9575-A0910E300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7629" y="5760720"/>
            <a:ext cx="180136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90-DAY PILOT</a:t>
            </a:r>
          </a:p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Gujarat · all districts · 3 languages</a:t>
            </a:r>
          </a:p>
        </p:txBody>
      </p:sp>
      <p:sp>
        <p:nvSpPr>
          <p:cNvPr id="17505" name="Chevron 17504">
            <a:extLst xmlns:a="http://schemas.openxmlformats.org/drawingml/2006/main">
              <a:ext uri="{FF2B5EF4-FFF2-40B4-BE49-F238E27FC236}">
                <a16:creationId xmlns:a16="http://schemas.microsoft.com/office/drawing/2014/main" id="{40546365-D1F0-4FD5-B6B8-47176544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8316" y="5760720"/>
            <a:ext cx="3438144" cy="502920"/>
          </a:xfrm>
          <a:prstGeom xmlns:a="http://schemas.openxmlformats.org/drawingml/2006/main" prst="chevron">
            <a:avLst>
              <a:gd name="adj" fmla="val 30000"/>
            </a:avLst>
          </a:prstGeom>
          <a:solidFill xmlns:a="http://schemas.openxmlformats.org/drawingml/2006/main">
            <a:srgbClr val="D1423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506" name="TextBox 17505">
            <a:extLst xmlns:a="http://schemas.openxmlformats.org/drawingml/2006/main">
              <a:ext uri="{FF2B5EF4-FFF2-40B4-BE49-F238E27FC236}">
                <a16:creationId xmlns:a16="http://schemas.microsoft.com/office/drawing/2014/main" id="{B2E25472-3DA5-4BC5-B009-B2974241D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348" y="5760720"/>
            <a:ext cx="2999232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FUTURE SCOPE</a:t>
            </a:r>
          </a:p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WhatsApp bot · panchayat-level forecasts · AI nowcasting · impact-based warnings</a:t>
            </a:r>
          </a:p>
        </p:txBody>
      </p:sp>
      <p:pic>
        <p:nvPicPr>
          <p:cNvPr id="176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65e75568714dc5"/>
          <a:stretch xmlns:a="http://schemas.openxmlformats.org/drawingml/2006/main"/>
        </p:blipFill>
        <p:spPr>
          <a:xfrm xmlns:a="http://schemas.openxmlformats.org/drawingml/2006/main">
            <a:off x="9780822" y="1524"/>
            <a:ext cx="2248320" cy="106232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4762"/>
            <a:ext cx="12191999" cy="503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0C0"/>
          </a:solidFill>
          <a:ln xmlns:a="http://schemas.openxmlformats.org/drawingml/2006/main" w="9525">
            <a:noFill/>
          </a:ln>
          <a:effectLst xmlns:a="http://schemas.openxmlformats.org/drawingml/2006/main"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1200" cap="none" spc="0" baseline="0">
              <a:ln>
                <a:noFill/>
              </a:ln>
              <a:solidFill>
                <a:srgbClr val="C0504D">
                  <a:lumMod val="75000"/>
                </a:srgb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409" name="Title 1">
            <a:extLst xmlns:a="http://schemas.openxmlformats.org/drawingml/2006/main">
              <a:ext uri="{FF2B5EF4-FFF2-40B4-BE49-F238E27FC236}">
                <a16:creationId xmlns:a16="http://schemas.microsoft.com/office/drawing/2014/main" id="{72381DAD-7C97-4E28-824B-F58C1F1577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IMPACT AND BENEFITS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CF3573C-F8B3-4442-8FD1-810D10D7CF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r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677C3CE7-23F7-4828-823C-E0205DF2CF97}" type="slidenum">
              <a:rPr sz="1200" b="1" i="0" u="none" cap="none" spc="0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5</a:t>
            </a:fld>
            <a:endParaRPr sz="1200" b="1" i="0" u="none" kern="1200" cap="none" spc="0" baseline="0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547A8E7C-062C-47CA-A636-96F9522CD2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2651760" y="6356353"/>
            <a:ext cx="7223760" cy="365125"/>
          </a:xfrm>
        </p:spPr>
        <p:txBody>
          <a:bodyPr xmlns:a="http://schemas.openxmlformats.org/drawingml/2006/main" wrap="none"/>
          <a:lstStyle xmlns:a="http://schemas.openxmlformats.org/drawingml/2006/main"/>
          <a:p xmlns:a="http://schemas.openxmlformats.org/drawingml/2006/main"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200" b="0" i="0" u="none" cap="none" spc="0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@SIH Idea Submission · SIH26068 · WeatherGPT · Team Void Pointers (118709)</a:t>
            </a:r>
            <a:endParaRPr sz="1200" b="0" i="0" u="none" kern="1200" cap="none" spc="0" baseline="0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5DBCE864-823D-4A13-9607-5DA1F0ED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773" y="252246"/>
            <a:ext cx="1251857" cy="807334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4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lIns="18288" rIns="18288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/>
              <a:t>Void Pointers</a:t>
            </a:r>
            <a:endParaRPr/>
          </a:p>
        </p:txBody>
      </p:sp>
      <p:pic>
        <p:nvPicPr>
          <p:cNvPr id="17556" name="Picture 1740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444191bf834f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6428232"/>
            <a:ext cx="334959" cy="219456"/>
          </a:xfrm>
          <a:prstGeom xmlns:a="http://schemas.openxmlformats.org/drawingml/2006/main" prst="rect">
            <a:avLst/>
          </a:prstGeom>
        </p:spPr>
      </p:pic>
      <p:sp>
        <p:nvSpPr>
          <p:cNvPr id="17411" name="TextBox 17410">
            <a:extLst xmlns:a="http://schemas.openxmlformats.org/drawingml/2006/main">
              <a:ext uri="{FF2B5EF4-FFF2-40B4-BE49-F238E27FC236}">
                <a16:creationId xmlns:a16="http://schemas.microsoft.com/office/drawing/2014/main" id="{C6DCD4A2-FE18-43FC-AA9F-B0344354C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19" y="786384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1">
                <a:solidFill>
                  <a:srgbClr val="55666E"/>
                </a:solidFill>
                <a:latin typeface="Times New Roman"/>
                <a:ea typeface="Times New Roman"/>
                <a:cs typeface="Times New Roman"/>
              </a:rPr>
              <a:t>Intended benefits and illustrative scenarios · Not measured prototype impact</a:t>
            </a:r>
          </a:p>
        </p:txBody>
      </p:sp>
      <p:sp>
        <p:nvSpPr>
          <p:cNvPr id="17412" name="Rounded Rectangle 17411">
            <a:hlinkClick xmlns:r="http://schemas.openxmlformats.org/officeDocument/2006/relationships" xmlns:a="http://schemas.openxmlformats.org/drawingml/2006/main" r:id="Rc2b7324724d44129"/>
            <a:extLst xmlns:a="http://schemas.openxmlformats.org/drawingml/2006/main">
              <a:ext uri="{FF2B5EF4-FFF2-40B4-BE49-F238E27FC236}">
                <a16:creationId xmlns:a16="http://schemas.microsoft.com/office/drawing/2014/main" id="{ECFC88C9-C990-4A15-95C7-38C9F59F4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097280"/>
            <a:ext cx="2834640" cy="512064"/>
          </a:xfrm>
          <a:prstGeom xmlns:a="http://schemas.openxmlformats.org/drawingml/2006/main" prst="roundRect">
            <a:avLst>
              <a:gd name="adj" fmla="val 17857"/>
            </a:avLst>
          </a:prstGeom>
          <a:gradFill xmlns:a="http://schemas.openxmlformats.org/drawingml/2006/main" rotWithShape="1">
            <a:gsLst>
              <a:gs pos="0">
                <a:srgbClr val="0B2239"/>
              </a:gs>
              <a:gs pos="100000">
                <a:srgbClr val="14476B"/>
              </a:gs>
            </a:gsLst>
            <a:lin ang="0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13" name="TextBox 17412">
            <a:extLst xmlns:a="http://schemas.openxmlformats.org/drawingml/2006/main">
              <a:ext uri="{FF2B5EF4-FFF2-40B4-BE49-F238E27FC236}">
                <a16:creationId xmlns:a16="http://schemas.microsoft.com/office/drawing/2014/main" id="{1BDD3C30-6D7D-4E2C-B901-04C3D0498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" y="1097280"/>
            <a:ext cx="1207008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E0A800"/>
                </a:solidFill>
                <a:latin typeface="Times New Roman"/>
                <a:ea typeface="Times New Roman"/>
                <a:cs typeface="Times New Roman"/>
              </a:rPr>
              <a:t>99 %</a:t>
            </a:r>
          </a:p>
        </p:txBody>
      </p:sp>
      <p:sp>
        <p:nvSpPr>
          <p:cNvPr id="17414" name="TextBox 17413">
            <a:extLst xmlns:a="http://schemas.openxmlformats.org/drawingml/2006/main">
              <a:ext uri="{FF2B5EF4-FFF2-40B4-BE49-F238E27FC236}">
                <a16:creationId xmlns:a16="http://schemas.microsoft.com/office/drawing/2014/main" id="{1437D664-4168-43D6-BA61-7225E7AEF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904" y="1097280"/>
            <a:ext cx="153619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of days in Jan–Sep 2025 saw extreme weather in India</a:t>
            </a:r>
          </a:p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1">
                <a:solidFill>
                  <a:srgbClr val="8AD8F5"/>
                </a:solidFill>
                <a:latin typeface="Arial"/>
                <a:ea typeface="Arial"/>
                <a:cs typeface="Arial"/>
              </a:rPr>
              <a:t>Source: CSE 2025 ›</a:t>
            </a:r>
          </a:p>
        </p:txBody>
      </p:sp>
      <p:sp>
        <p:nvSpPr>
          <p:cNvPr id="17415" name="Rounded Rectangle 17414">
            <a:hlinkClick xmlns:r="http://schemas.openxmlformats.org/officeDocument/2006/relationships" xmlns:a="http://schemas.openxmlformats.org/drawingml/2006/main" r:id="R2c2beb67a933436d"/>
            <a:extLst xmlns:a="http://schemas.openxmlformats.org/drawingml/2006/main">
              <a:ext uri="{FF2B5EF4-FFF2-40B4-BE49-F238E27FC236}">
                <a16:creationId xmlns:a16="http://schemas.microsoft.com/office/drawing/2014/main" id="{2FC1966A-CBD3-4CB0-A2E5-C186762F3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544" y="1097280"/>
            <a:ext cx="2834640" cy="512064"/>
          </a:xfrm>
          <a:prstGeom xmlns:a="http://schemas.openxmlformats.org/drawingml/2006/main" prst="roundRect">
            <a:avLst>
              <a:gd name="adj" fmla="val 17857"/>
            </a:avLst>
          </a:prstGeom>
          <a:gradFill xmlns:a="http://schemas.openxmlformats.org/drawingml/2006/main" rotWithShape="1">
            <a:gsLst>
              <a:gs pos="0">
                <a:srgbClr val="0B2239"/>
              </a:gs>
              <a:gs pos="100000">
                <a:srgbClr val="14476B"/>
              </a:gs>
            </a:gsLst>
            <a:lin ang="0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16" name="TextBox 17415">
            <a:extLst xmlns:a="http://schemas.openxmlformats.org/drawingml/2006/main">
              <a:ext uri="{FF2B5EF4-FFF2-40B4-BE49-F238E27FC236}">
                <a16:creationId xmlns:a16="http://schemas.microsoft.com/office/drawing/2014/main" id="{85A1309D-0769-42DD-82F9-B7F7DF006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1" y="1097280"/>
            <a:ext cx="1207008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7A7A"/>
                </a:solidFill>
                <a:latin typeface="Times New Roman"/>
                <a:ea typeface="Times New Roman"/>
                <a:cs typeface="Times New Roman"/>
              </a:rPr>
              <a:t>4,064</a:t>
            </a:r>
          </a:p>
        </p:txBody>
      </p:sp>
      <p:sp>
        <p:nvSpPr>
          <p:cNvPr id="17417" name="TextBox 17416">
            <a:extLst xmlns:a="http://schemas.openxmlformats.org/drawingml/2006/main">
              <a:ext uri="{FF2B5EF4-FFF2-40B4-BE49-F238E27FC236}">
                <a16:creationId xmlns:a16="http://schemas.microsoft.com/office/drawing/2014/main" id="{C7B455F9-252B-4D1E-9897-C7BADFA65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128" y="1097280"/>
            <a:ext cx="153619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lives lost in those nine months, up 48 % in four years</a:t>
            </a:r>
          </a:p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1">
                <a:solidFill>
                  <a:srgbClr val="8AD8F5"/>
                </a:solidFill>
                <a:latin typeface="Arial"/>
                <a:ea typeface="Arial"/>
                <a:cs typeface="Arial"/>
              </a:rPr>
              <a:t>Source: CSE 2025 ›</a:t>
            </a:r>
          </a:p>
        </p:txBody>
      </p:sp>
      <p:sp>
        <p:nvSpPr>
          <p:cNvPr id="17418" name="Rounded Rectangle 17417">
            <a:hlinkClick xmlns:r="http://schemas.openxmlformats.org/officeDocument/2006/relationships" xmlns:a="http://schemas.openxmlformats.org/drawingml/2006/main" r:id="Rfd68518e7c534faf"/>
            <a:extLst xmlns:a="http://schemas.openxmlformats.org/drawingml/2006/main">
              <a:ext uri="{FF2B5EF4-FFF2-40B4-BE49-F238E27FC236}">
                <a16:creationId xmlns:a16="http://schemas.microsoft.com/office/drawing/2014/main" id="{BF2409E4-A3F9-4219-BEA5-FA201685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1097280"/>
            <a:ext cx="2834640" cy="512064"/>
          </a:xfrm>
          <a:prstGeom xmlns:a="http://schemas.openxmlformats.org/drawingml/2006/main" prst="roundRect">
            <a:avLst>
              <a:gd name="adj" fmla="val 17857"/>
            </a:avLst>
          </a:prstGeom>
          <a:gradFill xmlns:a="http://schemas.openxmlformats.org/drawingml/2006/main" rotWithShape="1">
            <a:gsLst>
              <a:gs pos="0">
                <a:srgbClr val="0B2239"/>
              </a:gs>
              <a:gs pos="100000">
                <a:srgbClr val="14476B"/>
              </a:gs>
            </a:gsLst>
            <a:lin ang="0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19" name="TextBox 17418">
            <a:extLst xmlns:a="http://schemas.openxmlformats.org/drawingml/2006/main">
              <a:ext uri="{FF2B5EF4-FFF2-40B4-BE49-F238E27FC236}">
                <a16:creationId xmlns:a16="http://schemas.microsoft.com/office/drawing/2014/main" id="{15E4E798-A263-4009-A6FA-485122EDF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8776" y="1097280"/>
            <a:ext cx="1207008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650" b="1" i="0">
                <a:solidFill>
                  <a:srgbClr val="FFA24A"/>
                </a:solidFill>
                <a:latin typeface="Times New Roman"/>
                <a:ea typeface="Times New Roman"/>
                <a:cs typeface="Times New Roman"/>
              </a:rPr>
              <a:t>9.47 M ha</a:t>
            </a:r>
          </a:p>
        </p:txBody>
      </p:sp>
      <p:sp>
        <p:nvSpPr>
          <p:cNvPr id="17420" name="TextBox 17419">
            <a:extLst xmlns:a="http://schemas.openxmlformats.org/drawingml/2006/main">
              <a:ext uri="{FF2B5EF4-FFF2-40B4-BE49-F238E27FC236}">
                <a16:creationId xmlns:a16="http://schemas.microsoft.com/office/drawing/2014/main" id="{A9740712-9C78-4841-B82E-968221D11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352" y="1097280"/>
            <a:ext cx="153619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of crops hit, four times the 2022 figure</a:t>
            </a:r>
          </a:p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1">
                <a:solidFill>
                  <a:srgbClr val="8AD8F5"/>
                </a:solidFill>
                <a:latin typeface="Arial"/>
                <a:ea typeface="Arial"/>
                <a:cs typeface="Arial"/>
              </a:rPr>
              <a:t>Source: CSE 2025 ›</a:t>
            </a:r>
          </a:p>
        </p:txBody>
      </p:sp>
      <p:sp>
        <p:nvSpPr>
          <p:cNvPr id="17421" name="Rounded Rectangle 17420">
            <a:hlinkClick xmlns:r="http://schemas.openxmlformats.org/officeDocument/2006/relationships" xmlns:a="http://schemas.openxmlformats.org/drawingml/2006/main" r:id="Rc407c7e2ee214869"/>
            <a:extLst xmlns:a="http://schemas.openxmlformats.org/drawingml/2006/main">
              <a:ext uri="{FF2B5EF4-FFF2-40B4-BE49-F238E27FC236}">
                <a16:creationId xmlns:a16="http://schemas.microsoft.com/office/drawing/2014/main" id="{C7DF8629-E382-4199-8539-519309CBB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9992" y="1097280"/>
            <a:ext cx="2834640" cy="512064"/>
          </a:xfrm>
          <a:prstGeom xmlns:a="http://schemas.openxmlformats.org/drawingml/2006/main" prst="roundRect">
            <a:avLst>
              <a:gd name="adj" fmla="val 17857"/>
            </a:avLst>
          </a:prstGeom>
          <a:gradFill xmlns:a="http://schemas.openxmlformats.org/drawingml/2006/main" rotWithShape="1">
            <a:gsLst>
              <a:gs pos="0">
                <a:srgbClr val="0B2239"/>
              </a:gs>
              <a:gs pos="100000">
                <a:srgbClr val="14476B"/>
              </a:gs>
            </a:gsLst>
            <a:lin ang="0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22" name="TextBox 17421">
            <a:extLst xmlns:a="http://schemas.openxmlformats.org/drawingml/2006/main">
              <a:ext uri="{FF2B5EF4-FFF2-40B4-BE49-F238E27FC236}">
                <a16:creationId xmlns:a16="http://schemas.microsoft.com/office/drawing/2014/main" id="{3ACF348F-11C5-4AE5-9975-F6717D613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097280"/>
            <a:ext cx="1207008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7BDDA3"/>
                </a:solidFill>
                <a:latin typeface="Times New Roman"/>
                <a:ea typeface="Times New Roman"/>
                <a:cs typeface="Times New Roman"/>
              </a:rPr>
              <a:t>₹12,500</a:t>
            </a:r>
          </a:p>
        </p:txBody>
      </p:sp>
      <p:sp>
        <p:nvSpPr>
          <p:cNvPr id="17423" name="TextBox 17422">
            <a:extLst xmlns:a="http://schemas.openxmlformats.org/drawingml/2006/main">
              <a:ext uri="{FF2B5EF4-FFF2-40B4-BE49-F238E27FC236}">
                <a16:creationId xmlns:a16="http://schemas.microsoft.com/office/drawing/2014/main" id="{4B4A9383-D646-43A0-9AEB-F6229756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3576" y="1097280"/>
            <a:ext cx="153619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yearly gain per rain-fed farm household using advisories</a:t>
            </a:r>
          </a:p>
          <a:p xmlns:a="http://schemas.openxmlformats.org/drawingml/2006/main"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1">
                <a:solidFill>
                  <a:srgbClr val="8AD8F5"/>
                </a:solidFill>
                <a:latin typeface="Arial"/>
                <a:ea typeface="Arial"/>
                <a:cs typeface="Arial"/>
              </a:rPr>
              <a:t>Source: NCAER 2020 ›</a:t>
            </a:r>
          </a:p>
        </p:txBody>
      </p:sp>
      <p:sp>
        <p:nvSpPr>
          <p:cNvPr id="17424" name="Rounded Rectangle 17423">
            <a:extLst xmlns:a="http://schemas.openxmlformats.org/drawingml/2006/main">
              <a:ext uri="{FF2B5EF4-FFF2-40B4-BE49-F238E27FC236}">
                <a16:creationId xmlns:a16="http://schemas.microsoft.com/office/drawing/2014/main" id="{9EE1ACAB-D606-490C-98E7-47F65A36B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655064"/>
            <a:ext cx="1097280" cy="2286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B2239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1" i="0">
                <a:solidFill>
                  <a:srgbClr val="FFC766"/>
                </a:solidFill>
                <a:latin typeface="Arial"/>
                <a:ea typeface="Arial"/>
                <a:cs typeface="Arial"/>
              </a:rPr>
              <a:t>PS OUTCOMES</a:t>
            </a:r>
          </a:p>
        </p:txBody>
      </p:sp>
      <p:sp>
        <p:nvSpPr>
          <p:cNvPr id="17425" name="Rounded Rectangle 17424">
            <a:extLst xmlns:a="http://schemas.openxmlformats.org/drawingml/2006/main">
              <a:ext uri="{FF2B5EF4-FFF2-40B4-BE49-F238E27FC236}">
                <a16:creationId xmlns:a16="http://schemas.microsoft.com/office/drawing/2014/main" id="{03D6A22C-2CB0-40DB-9A3E-D8C0304AB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655064"/>
            <a:ext cx="2286000" cy="2286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572" name="Picture 174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e865c2af0343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63040" y="1700784"/>
            <a:ext cx="137160" cy="137160"/>
          </a:xfrm>
          <a:prstGeom xmlns:a="http://schemas.openxmlformats.org/drawingml/2006/main" prst="rect">
            <a:avLst/>
          </a:prstGeom>
        </p:spPr>
      </p:pic>
      <p:sp>
        <p:nvSpPr>
          <p:cNvPr id="17427" name="TextBox 17426">
            <a:extLst xmlns:a="http://schemas.openxmlformats.org/drawingml/2006/main">
              <a:ext uri="{FF2B5EF4-FFF2-40B4-BE49-F238E27FC236}">
                <a16:creationId xmlns:a16="http://schemas.microsoft.com/office/drawing/2014/main" id="{CBBDD367-9BA1-4B99-9345-9825A1135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1655064"/>
            <a:ext cx="2066543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1" i="0">
                <a:solidFill>
                  <a:srgbClr val="14683E"/>
                </a:solidFill>
                <a:latin typeface="Arial"/>
                <a:ea typeface="Arial"/>
                <a:cs typeface="Arial"/>
              </a:rPr>
              <a:t>Faster dissemination of weather information</a:t>
            </a:r>
          </a:p>
        </p:txBody>
      </p:sp>
      <p:sp>
        <p:nvSpPr>
          <p:cNvPr id="17428" name="Rounded Rectangle 17427">
            <a:extLst xmlns:a="http://schemas.openxmlformats.org/drawingml/2006/main">
              <a:ext uri="{FF2B5EF4-FFF2-40B4-BE49-F238E27FC236}">
                <a16:creationId xmlns:a16="http://schemas.microsoft.com/office/drawing/2014/main" id="{C69AF8C8-FBE0-403C-A05E-B6EC05934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39" y="1655064"/>
            <a:ext cx="2240280" cy="2286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575" name="Picture 174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e865c2af0343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94759" y="1700784"/>
            <a:ext cx="137160" cy="137160"/>
          </a:xfrm>
          <a:prstGeom xmlns:a="http://schemas.openxmlformats.org/drawingml/2006/main" prst="rect">
            <a:avLst/>
          </a:prstGeom>
        </p:spPr>
      </p:pic>
      <p:sp>
        <p:nvSpPr>
          <p:cNvPr id="17430" name="TextBox 17429">
            <a:extLst xmlns:a="http://schemas.openxmlformats.org/drawingml/2006/main">
              <a:ext uri="{FF2B5EF4-FFF2-40B4-BE49-F238E27FC236}">
                <a16:creationId xmlns:a16="http://schemas.microsoft.com/office/drawing/2014/main" id="{0F345EB4-6584-4411-BEC4-4D8E16DCB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0207" y="1655064"/>
            <a:ext cx="202082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1" i="0">
                <a:solidFill>
                  <a:srgbClr val="14683E"/>
                </a:solidFill>
                <a:latin typeface="Arial"/>
                <a:ea typeface="Arial"/>
                <a:cs typeface="Arial"/>
              </a:rPr>
              <a:t>Improved public accessibility to forecasts</a:t>
            </a:r>
          </a:p>
        </p:txBody>
      </p:sp>
      <p:sp>
        <p:nvSpPr>
          <p:cNvPr id="17431" name="Rounded Rectangle 17430">
            <a:extLst xmlns:a="http://schemas.openxmlformats.org/drawingml/2006/main">
              <a:ext uri="{FF2B5EF4-FFF2-40B4-BE49-F238E27FC236}">
                <a16:creationId xmlns:a16="http://schemas.microsoft.com/office/drawing/2014/main" id="{F073AF76-F2A7-4E67-8DE6-1E98BEFC1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655064"/>
            <a:ext cx="2148840" cy="2286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578" name="Picture 174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e865c2af0343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80759" y="1700784"/>
            <a:ext cx="137160" cy="137160"/>
          </a:xfrm>
          <a:prstGeom xmlns:a="http://schemas.openxmlformats.org/drawingml/2006/main" prst="rect">
            <a:avLst/>
          </a:prstGeom>
        </p:spPr>
      </p:pic>
      <p:sp>
        <p:nvSpPr>
          <p:cNvPr id="17433" name="TextBox 17432">
            <a:extLst xmlns:a="http://schemas.openxmlformats.org/drawingml/2006/main">
              <a:ext uri="{FF2B5EF4-FFF2-40B4-BE49-F238E27FC236}">
                <a16:creationId xmlns:a16="http://schemas.microsoft.com/office/drawing/2014/main" id="{C66B730A-2C6C-4A85-8A3D-87D5BE75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7" y="1655064"/>
            <a:ext cx="19293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1" i="0">
                <a:solidFill>
                  <a:srgbClr val="14683E"/>
                </a:solidFill>
                <a:latin typeface="Arial"/>
                <a:ea typeface="Arial"/>
                <a:cs typeface="Arial"/>
              </a:rPr>
              <a:t>Better disaster preparedness &amp; response</a:t>
            </a:r>
          </a:p>
        </p:txBody>
      </p:sp>
      <p:sp>
        <p:nvSpPr>
          <p:cNvPr id="17434" name="Rounded Rectangle 17433">
            <a:extLst xmlns:a="http://schemas.openxmlformats.org/drawingml/2006/main">
              <a:ext uri="{FF2B5EF4-FFF2-40B4-BE49-F238E27FC236}">
                <a16:creationId xmlns:a16="http://schemas.microsoft.com/office/drawing/2014/main" id="{FCF003E3-6DDC-47A7-92C6-A14E848D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55064"/>
            <a:ext cx="3685032" cy="2286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581" name="Picture 174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e865c2af0343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75320" y="1700784"/>
            <a:ext cx="137160" cy="137160"/>
          </a:xfrm>
          <a:prstGeom xmlns:a="http://schemas.openxmlformats.org/drawingml/2006/main" prst="rect">
            <a:avLst/>
          </a:prstGeom>
        </p:spPr>
      </p:pic>
      <p:sp>
        <p:nvSpPr>
          <p:cNvPr id="17436" name="TextBox 17435">
            <a:extLst xmlns:a="http://schemas.openxmlformats.org/drawingml/2006/main">
              <a:ext uri="{FF2B5EF4-FFF2-40B4-BE49-F238E27FC236}">
                <a16:creationId xmlns:a16="http://schemas.microsoft.com/office/drawing/2014/main" id="{961F1F4F-94AC-4764-B567-348AE6A5B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1655064"/>
            <a:ext cx="3465576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1" i="0">
                <a:solidFill>
                  <a:srgbClr val="14683E"/>
                </a:solidFill>
                <a:latin typeface="Arial"/>
                <a:ea typeface="Arial"/>
                <a:cs typeface="Arial"/>
              </a:rPr>
              <a:t>Decision support for agriculture, aviation, marine &amp; urban planning</a:t>
            </a:r>
          </a:p>
        </p:txBody>
      </p:sp>
      <p:sp>
        <p:nvSpPr>
          <p:cNvPr id="17437" name="Oval 17436">
            <a:extLst xmlns:a="http://schemas.openxmlformats.org/drawingml/2006/main">
              <a:ext uri="{FF2B5EF4-FFF2-40B4-BE49-F238E27FC236}">
                <a16:creationId xmlns:a16="http://schemas.microsoft.com/office/drawing/2014/main" id="{ADD6699C-C2B9-4C4C-894B-75E7F8278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2675" y="2432303"/>
            <a:ext cx="1389888" cy="138988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0B2239"/>
            </a:solidFill>
            <a:prstDash val="sysDot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38" name="Block Arc 17437">
            <a:extLst xmlns:a="http://schemas.openxmlformats.org/drawingml/2006/main">
              <a:ext uri="{FF2B5EF4-FFF2-40B4-BE49-F238E27FC236}">
                <a16:creationId xmlns:a16="http://schemas.microsoft.com/office/drawing/2014/main" id="{675D3CDC-B68C-4783-BBCF-7AF010145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4115" y="2523744"/>
            <a:ext cx="1207008" cy="1207008"/>
          </a:xfrm>
          <a:prstGeom xmlns:a="http://schemas.openxmlformats.org/drawingml/2006/main" prst="blockArc">
            <a:avLst>
              <a:gd name="adj1" fmla="val 14219999"/>
              <a:gd name="adj2" fmla="val 18180000"/>
              <a:gd name="adj3" fmla="val 22000"/>
            </a:avLst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39" name="Block Arc 17438">
            <a:extLst xmlns:a="http://schemas.openxmlformats.org/drawingml/2006/main">
              <a:ext uri="{FF2B5EF4-FFF2-40B4-BE49-F238E27FC236}">
                <a16:creationId xmlns:a16="http://schemas.microsoft.com/office/drawing/2014/main" id="{5F2CBDB7-8354-4FCB-94F3-0E4A9FB27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4115" y="2523744"/>
            <a:ext cx="1207008" cy="1207008"/>
          </a:xfrm>
          <a:prstGeom xmlns:a="http://schemas.openxmlformats.org/drawingml/2006/main" prst="blockArc">
            <a:avLst>
              <a:gd name="adj1" fmla="val 18540000"/>
              <a:gd name="adj2" fmla="val 900000"/>
              <a:gd name="adj3" fmla="val 22000"/>
            </a:avLst>
          </a:prstGeom>
          <a:solidFill xmlns:a="http://schemas.openxmlformats.org/drawingml/2006/main">
            <a:srgbClr val="3D8FD1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40" name="Block Arc 17439">
            <a:extLst xmlns:a="http://schemas.openxmlformats.org/drawingml/2006/main">
              <a:ext uri="{FF2B5EF4-FFF2-40B4-BE49-F238E27FC236}">
                <a16:creationId xmlns:a16="http://schemas.microsoft.com/office/drawing/2014/main" id="{811C8F5E-D2AC-4DA3-A0D8-8ABF6FFCC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4115" y="2523744"/>
            <a:ext cx="1207008" cy="1207008"/>
          </a:xfrm>
          <a:prstGeom xmlns:a="http://schemas.openxmlformats.org/drawingml/2006/main" prst="blockArc">
            <a:avLst>
              <a:gd name="adj1" fmla="val 1260000"/>
              <a:gd name="adj2" fmla="val 5220000"/>
              <a:gd name="adj3" fmla="val 22000"/>
            </a:avLst>
          </a:prstGeom>
          <a:solidFill xmlns:a="http://schemas.openxmlformats.org/drawingml/2006/main">
            <a:srgbClr val="5B5BC2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41" name="Block Arc 17440">
            <a:extLst xmlns:a="http://schemas.openxmlformats.org/drawingml/2006/main">
              <a:ext uri="{FF2B5EF4-FFF2-40B4-BE49-F238E27FC236}">
                <a16:creationId xmlns:a16="http://schemas.microsoft.com/office/drawing/2014/main" id="{C9438037-6618-420A-97FA-5B6CAF048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4115" y="2523744"/>
            <a:ext cx="1207008" cy="1207008"/>
          </a:xfrm>
          <a:prstGeom xmlns:a="http://schemas.openxmlformats.org/drawingml/2006/main" prst="blockArc">
            <a:avLst>
              <a:gd name="adj1" fmla="val 5580000"/>
              <a:gd name="adj2" fmla="val 9540000"/>
              <a:gd name="adj3" fmla="val 22000"/>
            </a:avLst>
          </a:prstGeom>
          <a:solidFill xmlns:a="http://schemas.openxmlformats.org/drawingml/2006/main">
            <a:srgbClr val="D97A0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42" name="Block Arc 17441">
            <a:extLst xmlns:a="http://schemas.openxmlformats.org/drawingml/2006/main">
              <a:ext uri="{FF2B5EF4-FFF2-40B4-BE49-F238E27FC236}">
                <a16:creationId xmlns:a16="http://schemas.microsoft.com/office/drawing/2014/main" id="{5982B52F-4094-4EA0-8FC9-A6E61F09B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4115" y="2523744"/>
            <a:ext cx="1207008" cy="1207008"/>
          </a:xfrm>
          <a:prstGeom xmlns:a="http://schemas.openxmlformats.org/drawingml/2006/main" prst="blockArc">
            <a:avLst>
              <a:gd name="adj1" fmla="val 9900000"/>
              <a:gd name="adj2" fmla="val 13860000"/>
              <a:gd name="adj3" fmla="val 22000"/>
            </a:avLst>
          </a:prstGeom>
          <a:solidFill xmlns:a="http://schemas.openxmlformats.org/drawingml/2006/main">
            <a:srgbClr val="D1423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43" name="TextBox 17442">
            <a:extLst xmlns:a="http://schemas.openxmlformats.org/drawingml/2006/main">
              <a:ext uri="{FF2B5EF4-FFF2-40B4-BE49-F238E27FC236}">
                <a16:creationId xmlns:a16="http://schemas.microsoft.com/office/drawing/2014/main" id="{6120B363-3985-45C6-B30F-5A729E74E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8708" y="2761488"/>
            <a:ext cx="87782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0B2239"/>
                </a:solidFill>
                <a:latin typeface="Times New Roman"/>
                <a:ea typeface="Times New Roman"/>
                <a:cs typeface="Times New Roman"/>
              </a:rPr>
              <a:t>Impact on</a:t>
            </a:r>
          </a:p>
          <a:p xmlns:a="http://schemas.openxmlformats.org/drawingml/2006/main"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0A4F70"/>
                </a:solidFill>
                <a:latin typeface="Times New Roman"/>
                <a:ea typeface="Times New Roman"/>
                <a:cs typeface="Times New Roman"/>
              </a:rPr>
              <a:t>Target</a:t>
            </a:r>
          </a:p>
          <a:p xmlns:a="http://schemas.openxmlformats.org/drawingml/2006/main"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0A4F70"/>
                </a:solidFill>
                <a:latin typeface="Times New Roman"/>
                <a:ea typeface="Times New Roman"/>
                <a:cs typeface="Times New Roman"/>
              </a:rPr>
              <a:t>Audience</a:t>
            </a:r>
          </a:p>
        </p:txBody>
      </p:sp>
      <p:sp>
        <p:nvSpPr>
          <p:cNvPr id="17444" name="Connector 17443">
            <a:extLst xmlns:a="http://schemas.openxmlformats.org/drawingml/2006/main">
              <a:ext uri="{FF2B5EF4-FFF2-40B4-BE49-F238E27FC236}">
                <a16:creationId xmlns:a16="http://schemas.microsoft.com/office/drawing/2014/main" id="{8E7BBDFF-2852-411D-8A5C-5DD29ED23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817620" y="2395728"/>
            <a:ext cx="0" cy="36575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B2239"/>
            </a:solidFill>
            <a:tailEnd type="triangle" w="med" len="med"/>
          </a:ln>
        </p:spPr>
      </p:sp>
      <p:sp>
        <p:nvSpPr>
          <p:cNvPr id="17445" name="Rounded Rectangle 17444">
            <a:extLst xmlns:a="http://schemas.openxmlformats.org/drawingml/2006/main">
              <a:ext uri="{FF2B5EF4-FFF2-40B4-BE49-F238E27FC236}">
                <a16:creationId xmlns:a16="http://schemas.microsoft.com/office/drawing/2014/main" id="{ED30444A-1367-4F53-B96C-38AA35183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1938528"/>
            <a:ext cx="4709160" cy="4572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46" name="Oval 17445">
            <a:extLst xmlns:a="http://schemas.openxmlformats.org/drawingml/2006/main">
              <a:ext uri="{FF2B5EF4-FFF2-40B4-BE49-F238E27FC236}">
                <a16:creationId xmlns:a16="http://schemas.microsoft.com/office/drawing/2014/main" id="{797E64D7-CBAE-4F5B-891E-A13EA7B2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7048" y="2002536"/>
            <a:ext cx="329184" cy="3291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593" name="Picture 1744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08f5b5c9e748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92884" y="2068372"/>
            <a:ext cx="197510" cy="197510"/>
          </a:xfrm>
          <a:prstGeom xmlns:a="http://schemas.openxmlformats.org/drawingml/2006/main" prst="rect">
            <a:avLst/>
          </a:prstGeom>
        </p:spPr>
      </p:pic>
      <p:sp>
        <p:nvSpPr>
          <p:cNvPr id="17448" name="TextBox 17447">
            <a:extLst xmlns:a="http://schemas.openxmlformats.org/drawingml/2006/main">
              <a:ext uri="{FF2B5EF4-FFF2-40B4-BE49-F238E27FC236}">
                <a16:creationId xmlns:a16="http://schemas.microsoft.com/office/drawing/2014/main" id="{694C7316-D1E8-4788-91A8-2533A6955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1947672"/>
            <a:ext cx="42336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Farmers:</a:t>
            </a:r>
            <a:r>
              <a:rPr sz="9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crop-weather advisories at the right hour to spray, sow and irrigate, spoken in their language.</a:t>
            </a:r>
          </a:p>
        </p:txBody>
      </p:sp>
      <p:sp>
        <p:nvSpPr>
          <p:cNvPr id="17449" name="Connector 17448">
            <a:extLst xmlns:a="http://schemas.openxmlformats.org/drawingml/2006/main">
              <a:ext uri="{FF2B5EF4-FFF2-40B4-BE49-F238E27FC236}">
                <a16:creationId xmlns:a16="http://schemas.microsoft.com/office/drawing/2014/main" id="{82148A43-E6C7-4BA9-B616-F9F9E266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2880360" y="2825496"/>
            <a:ext cx="242315" cy="73152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B2239"/>
            </a:solidFill>
            <a:tailEnd type="triangle" w="med" len="med"/>
          </a:ln>
        </p:spPr>
      </p:sp>
      <p:sp>
        <p:nvSpPr>
          <p:cNvPr id="17450" name="Rounded Rectangle 17449">
            <a:extLst xmlns:a="http://schemas.openxmlformats.org/drawingml/2006/main">
              <a:ext uri="{FF2B5EF4-FFF2-40B4-BE49-F238E27FC236}">
                <a16:creationId xmlns:a16="http://schemas.microsoft.com/office/drawing/2014/main" id="{242E4A69-4170-4393-85B7-D4528A0D5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2487168"/>
            <a:ext cx="2606040" cy="676656"/>
          </a:xfrm>
          <a:prstGeom xmlns:a="http://schemas.openxmlformats.org/drawingml/2006/main" prst="roundRect">
            <a:avLst>
              <a:gd name="adj" fmla="val 13513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51" name="Oval 17450">
            <a:extLst xmlns:a="http://schemas.openxmlformats.org/drawingml/2006/main">
              <a:ext uri="{FF2B5EF4-FFF2-40B4-BE49-F238E27FC236}">
                <a16:creationId xmlns:a16="http://schemas.microsoft.com/office/drawing/2014/main" id="{F0253384-6A66-41CA-B49C-82068F60A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" y="2660904"/>
            <a:ext cx="329184" cy="3291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23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598" name="Picture 1745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02600bd25647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4164" y="2726740"/>
            <a:ext cx="197510" cy="197510"/>
          </a:xfrm>
          <a:prstGeom xmlns:a="http://schemas.openxmlformats.org/drawingml/2006/main" prst="rect">
            <a:avLst/>
          </a:prstGeom>
        </p:spPr>
      </p:pic>
      <p:sp>
        <p:nvSpPr>
          <p:cNvPr id="17453" name="TextBox 17452">
            <a:extLst xmlns:a="http://schemas.openxmlformats.org/drawingml/2006/main">
              <a:ext uri="{FF2B5EF4-FFF2-40B4-BE49-F238E27FC236}">
                <a16:creationId xmlns:a16="http://schemas.microsoft.com/office/drawing/2014/main" id="{FB476F7C-EC5A-4008-83DA-AD9A9BA6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496312"/>
            <a:ext cx="2130552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A3412"/>
                </a:solidFill>
                <a:latin typeface="Arial"/>
                <a:ea typeface="Arial"/>
                <a:cs typeface="Arial"/>
              </a:rPr>
              <a:t>Disaster Managers:</a:t>
            </a:r>
            <a:r>
              <a:rPr sz="9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flood &amp; cyclone warning dissemination by district: what changed, plus a forwardable brief.</a:t>
            </a:r>
          </a:p>
        </p:txBody>
      </p:sp>
      <p:sp>
        <p:nvSpPr>
          <p:cNvPr id="17454" name="Connector 17453">
            <a:extLst xmlns:a="http://schemas.openxmlformats.org/drawingml/2006/main">
              <a:ext uri="{FF2B5EF4-FFF2-40B4-BE49-F238E27FC236}">
                <a16:creationId xmlns:a16="http://schemas.microsoft.com/office/drawing/2014/main" id="{9BFFC27B-362B-4A39-8B4A-39A840A6C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12564" y="2825496"/>
            <a:ext cx="242316" cy="73152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B2239"/>
            </a:solidFill>
            <a:tailEnd type="triangle" w="med" len="med"/>
          </a:ln>
        </p:spPr>
      </p:sp>
      <p:sp>
        <p:nvSpPr>
          <p:cNvPr id="17455" name="Rounded Rectangle 17454">
            <a:extLst xmlns:a="http://schemas.openxmlformats.org/drawingml/2006/main">
              <a:ext uri="{FF2B5EF4-FFF2-40B4-BE49-F238E27FC236}">
                <a16:creationId xmlns:a16="http://schemas.microsoft.com/office/drawing/2014/main" id="{0343EDD2-39A4-48EF-91F7-A485195A2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2487168"/>
            <a:ext cx="2606040" cy="676656"/>
          </a:xfrm>
          <a:prstGeom xmlns:a="http://schemas.openxmlformats.org/drawingml/2006/main" prst="roundRect">
            <a:avLst>
              <a:gd name="adj" fmla="val 13513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56" name="Oval 17455">
            <a:extLst xmlns:a="http://schemas.openxmlformats.org/drawingml/2006/main">
              <a:ext uri="{FF2B5EF4-FFF2-40B4-BE49-F238E27FC236}">
                <a16:creationId xmlns:a16="http://schemas.microsoft.com/office/drawing/2014/main" id="{4D4E1DBA-B805-4843-A338-58E7BD5C2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8888" y="2660904"/>
            <a:ext cx="329184" cy="3291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FD1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03" name="Picture 1745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2396d5d32e42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84724" y="2726740"/>
            <a:ext cx="197510" cy="197510"/>
          </a:xfrm>
          <a:prstGeom xmlns:a="http://schemas.openxmlformats.org/drawingml/2006/main" prst="rect">
            <a:avLst/>
          </a:prstGeom>
        </p:spPr>
      </p:pic>
      <p:sp>
        <p:nvSpPr>
          <p:cNvPr id="17458" name="TextBox 17457">
            <a:extLst xmlns:a="http://schemas.openxmlformats.org/drawingml/2006/main">
              <a:ext uri="{FF2B5EF4-FFF2-40B4-BE49-F238E27FC236}">
                <a16:creationId xmlns:a16="http://schemas.microsoft.com/office/drawing/2014/main" id="{384506D3-F297-4149-A611-3EF2A8CC9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496312"/>
            <a:ext cx="2130552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Aviation &amp; Marine:</a:t>
            </a:r>
            <a:r>
              <a:rPr sz="9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aviation weather briefing (METAR / TAF); RSMC sea-area &amp; coastal warnings for fishers.</a:t>
            </a:r>
          </a:p>
        </p:txBody>
      </p:sp>
      <p:sp>
        <p:nvSpPr>
          <p:cNvPr id="17459" name="Connector 17458">
            <a:extLst xmlns:a="http://schemas.openxmlformats.org/drawingml/2006/main">
              <a:ext uri="{FF2B5EF4-FFF2-40B4-BE49-F238E27FC236}">
                <a16:creationId xmlns:a16="http://schemas.microsoft.com/office/drawing/2014/main" id="{F31BA113-1A09-438E-BAF9-FCDF2979A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2880360" y="3401568"/>
            <a:ext cx="242315" cy="192024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B2239"/>
            </a:solidFill>
            <a:tailEnd type="triangle" w="med" len="med"/>
          </a:ln>
        </p:spPr>
      </p:sp>
      <p:sp>
        <p:nvSpPr>
          <p:cNvPr id="17460" name="Rounded Rectangle 17459">
            <a:extLst xmlns:a="http://schemas.openxmlformats.org/drawingml/2006/main">
              <a:ext uri="{FF2B5EF4-FFF2-40B4-BE49-F238E27FC236}">
                <a16:creationId xmlns:a16="http://schemas.microsoft.com/office/drawing/2014/main" id="{3DD4B4A2-0B8E-4403-9082-F3A8420CC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3255264"/>
            <a:ext cx="2606040" cy="676656"/>
          </a:xfrm>
          <a:prstGeom xmlns:a="http://schemas.openxmlformats.org/drawingml/2006/main" prst="roundRect">
            <a:avLst>
              <a:gd name="adj" fmla="val 13513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61" name="Oval 17460">
            <a:extLst xmlns:a="http://schemas.openxmlformats.org/drawingml/2006/main">
              <a:ext uri="{FF2B5EF4-FFF2-40B4-BE49-F238E27FC236}">
                <a16:creationId xmlns:a16="http://schemas.microsoft.com/office/drawing/2014/main" id="{1E8852C9-4730-432A-A02E-21F444A1A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" y="3429000"/>
            <a:ext cx="329184" cy="3291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A0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08" name="Picture 1746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8c25027d864f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4164" y="3494836"/>
            <a:ext cx="197510" cy="197510"/>
          </a:xfrm>
          <a:prstGeom xmlns:a="http://schemas.openxmlformats.org/drawingml/2006/main" prst="rect">
            <a:avLst/>
          </a:prstGeom>
        </p:spPr>
      </p:pic>
      <p:sp>
        <p:nvSpPr>
          <p:cNvPr id="17463" name="TextBox 17462">
            <a:extLst xmlns:a="http://schemas.openxmlformats.org/drawingml/2006/main">
              <a:ext uri="{FF2B5EF4-FFF2-40B4-BE49-F238E27FC236}">
                <a16:creationId xmlns:a16="http://schemas.microsoft.com/office/drawing/2014/main" id="{5010D55F-03DA-4A1B-94A6-F7A03F3B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264408"/>
            <a:ext cx="2130552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A3412"/>
                </a:solidFill>
                <a:latin typeface="Arial"/>
                <a:ea typeface="Arial"/>
                <a:cs typeface="Arial"/>
              </a:rPr>
              <a:t>Smart Cities &amp; Urban Planners:</a:t>
            </a:r>
            <a:r>
              <a:rPr sz="9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smart city weather monitoring: heat, flood risk and air quality.</a:t>
            </a:r>
          </a:p>
        </p:txBody>
      </p:sp>
      <p:sp>
        <p:nvSpPr>
          <p:cNvPr id="17464" name="Connector 17463">
            <a:extLst xmlns:a="http://schemas.openxmlformats.org/drawingml/2006/main">
              <a:ext uri="{FF2B5EF4-FFF2-40B4-BE49-F238E27FC236}">
                <a16:creationId xmlns:a16="http://schemas.microsoft.com/office/drawing/2014/main" id="{694BDEDF-043E-4416-96F0-F198EE567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2564" y="3401568"/>
            <a:ext cx="242316" cy="192024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B2239"/>
            </a:solidFill>
            <a:tailEnd type="triangle" w="med" len="med"/>
          </a:ln>
        </p:spPr>
      </p:sp>
      <p:sp>
        <p:nvSpPr>
          <p:cNvPr id="17465" name="Rounded Rectangle 17464">
            <a:extLst xmlns:a="http://schemas.openxmlformats.org/drawingml/2006/main">
              <a:ext uri="{FF2B5EF4-FFF2-40B4-BE49-F238E27FC236}">
                <a16:creationId xmlns:a16="http://schemas.microsoft.com/office/drawing/2014/main" id="{D36F2503-0EA1-4B45-88C0-C26EF71D9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3255264"/>
            <a:ext cx="2606040" cy="676656"/>
          </a:xfrm>
          <a:prstGeom xmlns:a="http://schemas.openxmlformats.org/drawingml/2006/main" prst="roundRect">
            <a:avLst>
              <a:gd name="adj" fmla="val 13513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66" name="Oval 17465">
            <a:extLst xmlns:a="http://schemas.openxmlformats.org/drawingml/2006/main">
              <a:ext uri="{FF2B5EF4-FFF2-40B4-BE49-F238E27FC236}">
                <a16:creationId xmlns:a16="http://schemas.microsoft.com/office/drawing/2014/main" id="{C9ACE506-A35F-42EE-A3B6-6B9A88773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8888" y="3429000"/>
            <a:ext cx="329184" cy="3291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5BC2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13" name="Picture 1746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f3e063d8b04a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84724" y="3494836"/>
            <a:ext cx="197510" cy="197510"/>
          </a:xfrm>
          <a:prstGeom xmlns:a="http://schemas.openxmlformats.org/drawingml/2006/main" prst="rect">
            <a:avLst/>
          </a:prstGeom>
        </p:spPr>
      </p:pic>
      <p:sp>
        <p:nvSpPr>
          <p:cNvPr id="17468" name="TextBox 17467">
            <a:extLst xmlns:a="http://schemas.openxmlformats.org/drawingml/2006/main">
              <a:ext uri="{FF2B5EF4-FFF2-40B4-BE49-F238E27FC236}">
                <a16:creationId xmlns:a16="http://schemas.microsoft.com/office/drawing/2014/main" id="{AACACAAB-B1D9-49FD-93A1-F1643C475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3264408"/>
            <a:ext cx="2130552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Researchers &amp; IMD:</a:t>
            </a:r>
            <a:r>
              <a:rPr sz="9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climate analytics for researchers: a century of records, plus what India asks.</a:t>
            </a:r>
          </a:p>
        </p:txBody>
      </p:sp>
      <p:sp>
        <p:nvSpPr>
          <p:cNvPr id="17469" name="Rounded Rectangle 17468">
            <a:extLst xmlns:a="http://schemas.openxmlformats.org/drawingml/2006/main">
              <a:ext uri="{FF2B5EF4-FFF2-40B4-BE49-F238E27FC236}">
                <a16:creationId xmlns:a16="http://schemas.microsoft.com/office/drawing/2014/main" id="{0AE9969D-5C5F-4F03-9613-21CAF437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79" y="1938528"/>
            <a:ext cx="441655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D8FD1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420624" tIns="0" rIns="73152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Expected Benefits</a:t>
            </a:r>
          </a:p>
        </p:txBody>
      </p:sp>
      <p:pic>
        <p:nvPicPr>
          <p:cNvPr id="17616" name="Picture 1746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ab0b62588747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07807" y="1984248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17471" name="Rounded Rectangle 17470">
            <a:extLst xmlns:a="http://schemas.openxmlformats.org/drawingml/2006/main">
              <a:ext uri="{FF2B5EF4-FFF2-40B4-BE49-F238E27FC236}">
                <a16:creationId xmlns:a16="http://schemas.microsoft.com/office/drawing/2014/main" id="{88AA3337-6DCE-4650-B98F-4FFA2FF9E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79" y="2313432"/>
            <a:ext cx="4416552" cy="512064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C5D5E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72" name="Oval 17471">
            <a:extLst xmlns:a="http://schemas.openxmlformats.org/drawingml/2006/main">
              <a:ext uri="{FF2B5EF4-FFF2-40B4-BE49-F238E27FC236}">
                <a16:creationId xmlns:a16="http://schemas.microsoft.com/office/drawing/2014/main" id="{155728FD-53FD-410E-82ED-B48544816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88" y="2386584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23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19" name="Picture 1747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12ba71f6154f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35240" y="2459736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17474" name="TextBox 17473">
            <a:extLst xmlns:a="http://schemas.openxmlformats.org/drawingml/2006/main">
              <a:ext uri="{FF2B5EF4-FFF2-40B4-BE49-F238E27FC236}">
                <a16:creationId xmlns:a16="http://schemas.microsoft.com/office/drawing/2014/main" id="{34CFF894-65CC-43CC-BE0D-07E5921CB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79" y="2313432"/>
            <a:ext cx="1024128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0B2239"/>
                </a:solidFill>
                <a:latin typeface="Times New Roman"/>
                <a:ea typeface="Times New Roman"/>
                <a:cs typeface="Times New Roman"/>
              </a:rPr>
              <a:t>Social</a:t>
            </a:r>
          </a:p>
        </p:txBody>
      </p:sp>
      <p:sp>
        <p:nvSpPr>
          <p:cNvPr id="17475" name="TextBox 17474">
            <a:extLst xmlns:a="http://schemas.openxmlformats.org/drawingml/2006/main">
              <a:ext uri="{FF2B5EF4-FFF2-40B4-BE49-F238E27FC236}">
                <a16:creationId xmlns:a16="http://schemas.microsoft.com/office/drawing/2014/main" id="{47B843A9-ADAF-4108-BF89-2556B5871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19" y="2313432"/>
            <a:ext cx="2898648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IMD's forecasts reach the </a:t>
            </a:r>
            <a:r>
              <a:rPr sz="80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last mile</a:t>
            </a: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in 22 languages through </a:t>
            </a:r>
            <a:r>
              <a:rPr sz="80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Sarvam AI</a:t>
            </a: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voice, SMS &amp; IVR. </a:t>
            </a:r>
            <a:r>
              <a:rPr sz="80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Trust</a:t>
            </a: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grows when every alert traces to IMD.</a:t>
            </a:r>
          </a:p>
        </p:txBody>
      </p:sp>
      <p:sp>
        <p:nvSpPr>
          <p:cNvPr id="17476" name="Rounded Rectangle 17475">
            <a:extLst xmlns:a="http://schemas.openxmlformats.org/drawingml/2006/main">
              <a:ext uri="{FF2B5EF4-FFF2-40B4-BE49-F238E27FC236}">
                <a16:creationId xmlns:a16="http://schemas.microsoft.com/office/drawing/2014/main" id="{D3BDFDB7-E60C-4D72-BC80-3F8BD5174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79" y="2862072"/>
            <a:ext cx="4416552" cy="512064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C5D5E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77" name="Oval 17476">
            <a:extLst xmlns:a="http://schemas.openxmlformats.org/drawingml/2006/main">
              <a:ext uri="{FF2B5EF4-FFF2-40B4-BE49-F238E27FC236}">
                <a16:creationId xmlns:a16="http://schemas.microsoft.com/office/drawing/2014/main" id="{DB5060D5-6CE6-457C-812F-5C6EF3D55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88" y="2935224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24" name="Picture 1747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a32772b0b147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35240" y="3008376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17479" name="TextBox 17478">
            <a:extLst xmlns:a="http://schemas.openxmlformats.org/drawingml/2006/main">
              <a:ext uri="{FF2B5EF4-FFF2-40B4-BE49-F238E27FC236}">
                <a16:creationId xmlns:a16="http://schemas.microsoft.com/office/drawing/2014/main" id="{43568AD7-05D1-4FE6-987C-BC3D664CC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79" y="2862072"/>
            <a:ext cx="1024128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0B2239"/>
                </a:solidFill>
                <a:latin typeface="Times New Roman"/>
                <a:ea typeface="Times New Roman"/>
                <a:cs typeface="Times New Roman"/>
              </a:rPr>
              <a:t>Economic</a:t>
            </a:r>
          </a:p>
        </p:txBody>
      </p:sp>
      <p:sp>
        <p:nvSpPr>
          <p:cNvPr id="17480" name="TextBox 17479">
            <a:extLst xmlns:a="http://schemas.openxmlformats.org/drawingml/2006/main">
              <a:ext uri="{FF2B5EF4-FFF2-40B4-BE49-F238E27FC236}">
                <a16:creationId xmlns:a16="http://schemas.microsoft.com/office/drawing/2014/main" id="{BC2A9168-1BA8-4C50-9C8E-EB64BBB4B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19" y="2862072"/>
            <a:ext cx="2898648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Advisories are worth </a:t>
            </a:r>
            <a:r>
              <a:rPr sz="80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₹12,500 a year</a:t>
            </a: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to a rain-fed farm household; run on </a:t>
            </a:r>
            <a:r>
              <a:rPr sz="80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Indian government compute</a:t>
            </a: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, no foreign fees.</a:t>
            </a:r>
          </a:p>
        </p:txBody>
      </p:sp>
      <p:sp>
        <p:nvSpPr>
          <p:cNvPr id="17481" name="Rounded Rectangle 17480">
            <a:extLst xmlns:a="http://schemas.openxmlformats.org/drawingml/2006/main">
              <a:ext uri="{FF2B5EF4-FFF2-40B4-BE49-F238E27FC236}">
                <a16:creationId xmlns:a16="http://schemas.microsoft.com/office/drawing/2014/main" id="{097947F0-3F69-4BB6-B18C-1C153411F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79" y="3410711"/>
            <a:ext cx="4416552" cy="512064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C5D5E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82" name="Oval 17481">
            <a:extLst xmlns:a="http://schemas.openxmlformats.org/drawingml/2006/main">
              <a:ext uri="{FF2B5EF4-FFF2-40B4-BE49-F238E27FC236}">
                <a16:creationId xmlns:a16="http://schemas.microsoft.com/office/drawing/2014/main" id="{77C83FCF-7740-49C8-B4FD-4DD971B27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88" y="3483863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6E9A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29" name="Picture 1748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bba2cb8d5044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35240" y="3557015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17484" name="TextBox 17483">
            <a:extLst xmlns:a="http://schemas.openxmlformats.org/drawingml/2006/main">
              <a:ext uri="{FF2B5EF4-FFF2-40B4-BE49-F238E27FC236}">
                <a16:creationId xmlns:a16="http://schemas.microsoft.com/office/drawing/2014/main" id="{1335C6A6-3139-41CB-A31E-AA9F80CC7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79" y="3410711"/>
            <a:ext cx="1024128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0B2239"/>
                </a:solidFill>
                <a:latin typeface="Times New Roman"/>
                <a:ea typeface="Times New Roman"/>
                <a:cs typeface="Times New Roman"/>
              </a:rPr>
              <a:t>Environmental</a:t>
            </a:r>
          </a:p>
        </p:txBody>
      </p:sp>
      <p:sp>
        <p:nvSpPr>
          <p:cNvPr id="17485" name="TextBox 17484">
            <a:extLst xmlns:a="http://schemas.openxmlformats.org/drawingml/2006/main">
              <a:ext uri="{FF2B5EF4-FFF2-40B4-BE49-F238E27FC236}">
                <a16:creationId xmlns:a16="http://schemas.microsoft.com/office/drawing/2014/main" id="{BB5DFAC0-DC4C-4138-A4EA-DD4CE4EE0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19" y="3410711"/>
            <a:ext cx="2898648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Weather-timed spraying &amp; irrigation</a:t>
            </a: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cut wash-off and water waste; open records power </a:t>
            </a:r>
            <a:r>
              <a:rPr sz="80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local adaptation</a:t>
            </a: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(SDG 13 · 2 · 11).</a:t>
            </a:r>
          </a:p>
        </p:txBody>
      </p:sp>
      <p:sp>
        <p:nvSpPr>
          <p:cNvPr id="17486" name="Rounded Rectangle 17485">
            <a:extLst xmlns:a="http://schemas.openxmlformats.org/drawingml/2006/main">
              <a:ext uri="{FF2B5EF4-FFF2-40B4-BE49-F238E27FC236}">
                <a16:creationId xmlns:a16="http://schemas.microsoft.com/office/drawing/2014/main" id="{2CBFDE0F-5DD5-4C8F-8DCD-45B7DBDF0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4041648"/>
            <a:ext cx="11640312" cy="2221992"/>
          </a:xfrm>
          <a:prstGeom xmlns:a="http://schemas.openxmlformats.org/drawingml/2006/main" prst="roundRect">
            <a:avLst>
              <a:gd name="adj" fmla="val 5761"/>
            </a:avLst>
          </a:prstGeom>
          <a:gradFill xmlns:a="http://schemas.openxmlformats.org/drawingml/2006/main" rotWithShape="1">
            <a:gsLst>
              <a:gs pos="0">
                <a:srgbClr val="081A2C"/>
              </a:gs>
              <a:gs pos="100000">
                <a:srgbClr val="123E63"/>
              </a:gs>
            </a:gsLst>
            <a:lin ang="0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33" name="Picture 1748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2fb114eb434a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4151376"/>
            <a:ext cx="2011680" cy="2011680"/>
          </a:xfrm>
          <a:prstGeom xmlns:a="http://schemas.openxmlformats.org/drawingml/2006/main" prst="rect">
            <a:avLst/>
          </a:prstGeom>
        </p:spPr>
      </p:pic>
      <p:sp>
        <p:nvSpPr>
          <p:cNvPr id="17488" name="TextBox 17487">
            <a:extLst xmlns:a="http://schemas.openxmlformats.org/drawingml/2006/main">
              <a:ext uri="{FF2B5EF4-FFF2-40B4-BE49-F238E27FC236}">
                <a16:creationId xmlns:a16="http://schemas.microsoft.com/office/drawing/2014/main" id="{5EBC77FF-B97E-489D-B872-B906B539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2032" y="4096511"/>
            <a:ext cx="65836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DISASTER-DAY STORYBOARD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: 72 hours of a cyclone</a:t>
            </a:r>
          </a:p>
        </p:txBody>
      </p:sp>
      <p:sp>
        <p:nvSpPr>
          <p:cNvPr id="17489" name="TextBox 17488">
            <a:extLst xmlns:a="http://schemas.openxmlformats.org/drawingml/2006/main">
              <a:ext uri="{FF2B5EF4-FFF2-40B4-BE49-F238E27FC236}">
                <a16:creationId xmlns:a16="http://schemas.microsoft.com/office/drawing/2014/main" id="{A39D128C-627A-4481-B358-E9C18FF2F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4096511"/>
            <a:ext cx="213055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0">
                <a:solidFill>
                  <a:srgbClr val="B7CFE6"/>
                </a:solidFill>
                <a:latin typeface="Arial"/>
                <a:ea typeface="Arial"/>
                <a:cs typeface="Arial"/>
              </a:rPr>
              <a:t>Illustrative, modelled on Cyclone Biparjoy (Kutch, June 2023): IMD's warnings moved 1 lakh+ people to safety</a:t>
            </a:r>
          </a:p>
        </p:txBody>
      </p:sp>
      <p:sp>
        <p:nvSpPr>
          <p:cNvPr id="17490" name="Oval 17489">
            <a:extLst xmlns:a="http://schemas.openxmlformats.org/drawingml/2006/main">
              <a:ext uri="{FF2B5EF4-FFF2-40B4-BE49-F238E27FC236}">
                <a16:creationId xmlns:a16="http://schemas.microsoft.com/office/drawing/2014/main" id="{F3181FB1-22A6-4423-9CF3-FF6583D2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9168" y="4215384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91" name="TextBox 17490">
            <a:extLst xmlns:a="http://schemas.openxmlformats.org/drawingml/2006/main">
              <a:ext uri="{FF2B5EF4-FFF2-40B4-BE49-F238E27FC236}">
                <a16:creationId xmlns:a16="http://schemas.microsoft.com/office/drawing/2014/main" id="{930C2DAE-94F3-4049-8473-1FD1B1E0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8896" y="415137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 warning</a:t>
            </a:r>
          </a:p>
        </p:txBody>
      </p:sp>
      <p:sp>
        <p:nvSpPr>
          <p:cNvPr id="17492" name="Oval 17491">
            <a:extLst xmlns:a="http://schemas.openxmlformats.org/drawingml/2006/main">
              <a:ext uri="{FF2B5EF4-FFF2-40B4-BE49-F238E27FC236}">
                <a16:creationId xmlns:a16="http://schemas.microsoft.com/office/drawing/2014/main" id="{39CD25CC-453D-4926-83A3-ABD72DC8A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544" y="4215384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800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93" name="TextBox 17492">
            <a:extLst xmlns:a="http://schemas.openxmlformats.org/drawingml/2006/main">
              <a:ext uri="{FF2B5EF4-FFF2-40B4-BE49-F238E27FC236}">
                <a16:creationId xmlns:a16="http://schemas.microsoft.com/office/drawing/2014/main" id="{EAC54DE5-037B-47DF-B639-272710B61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415137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watch</a:t>
            </a:r>
          </a:p>
        </p:txBody>
      </p:sp>
      <p:sp>
        <p:nvSpPr>
          <p:cNvPr id="17494" name="Oval 17493">
            <a:extLst xmlns:a="http://schemas.openxmlformats.org/drawingml/2006/main">
              <a:ext uri="{FF2B5EF4-FFF2-40B4-BE49-F238E27FC236}">
                <a16:creationId xmlns:a16="http://schemas.microsoft.com/office/drawing/2014/main" id="{34472149-1721-438A-978C-048A0D24D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2460" y="4215384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7D22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95" name="TextBox 17494">
            <a:extLst xmlns:a="http://schemas.openxmlformats.org/drawingml/2006/main">
              <a:ext uri="{FF2B5EF4-FFF2-40B4-BE49-F238E27FC236}">
                <a16:creationId xmlns:a16="http://schemas.microsoft.com/office/drawing/2014/main" id="{FC2756AB-CED1-409F-B955-80D9AE757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188" y="415137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alert</a:t>
            </a:r>
          </a:p>
        </p:txBody>
      </p:sp>
      <p:sp>
        <p:nvSpPr>
          <p:cNvPr id="17496" name="Oval 17495">
            <a:extLst xmlns:a="http://schemas.openxmlformats.org/drawingml/2006/main">
              <a:ext uri="{FF2B5EF4-FFF2-40B4-BE49-F238E27FC236}">
                <a16:creationId xmlns:a16="http://schemas.microsoft.com/office/drawing/2014/main" id="{7E3E0EBA-B526-47A9-92C5-FEB611541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3376" y="4215384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263D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97" name="TextBox 17496">
            <a:extLst xmlns:a="http://schemas.openxmlformats.org/drawingml/2006/main">
              <a:ext uri="{FF2B5EF4-FFF2-40B4-BE49-F238E27FC236}">
                <a16:creationId xmlns:a16="http://schemas.microsoft.com/office/drawing/2014/main" id="{FA53D087-A265-4264-A208-5007CBC80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415137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warning</a:t>
            </a:r>
          </a:p>
        </p:txBody>
      </p:sp>
      <p:sp>
        <p:nvSpPr>
          <p:cNvPr id="17498" name="Connector 17497">
            <a:extLst xmlns:a="http://schemas.openxmlformats.org/drawingml/2006/main">
              <a:ext uri="{FF2B5EF4-FFF2-40B4-BE49-F238E27FC236}">
                <a16:creationId xmlns:a16="http://schemas.microsoft.com/office/drawing/2014/main" id="{99E0288C-3021-44D9-ADD1-0D87C3CD5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4645152"/>
            <a:ext cx="9162288" cy="0"/>
          </a:xfrm>
          <a:prstGeom xmlns:a="http://schemas.openxmlformats.org/drawingml/2006/main" prst="line">
            <a:avLst/>
          </a:prstGeom>
          <a:ln xmlns:a="http://schemas.openxmlformats.org/drawingml/2006/main" w="31750">
            <a:solidFill>
              <a:srgbClr val="3F6A94"/>
            </a:solidFill>
            <a:tailEnd type="triangle" w="med" len="med"/>
          </a:ln>
        </p:spPr>
      </p:sp>
      <p:sp>
        <p:nvSpPr>
          <p:cNvPr id="17499" name="Rounded Rectangle 17498">
            <a:extLst xmlns:a="http://schemas.openxmlformats.org/drawingml/2006/main">
              <a:ext uri="{FF2B5EF4-FFF2-40B4-BE49-F238E27FC236}">
                <a16:creationId xmlns:a16="http://schemas.microsoft.com/office/drawing/2014/main" id="{2161E7BF-9038-4C2B-8313-76BDFA7FB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08" y="4480560"/>
            <a:ext cx="841248" cy="329184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A800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0B2239"/>
                </a:solidFill>
                <a:latin typeface="Times New Roman"/>
                <a:ea typeface="Times New Roman"/>
                <a:cs typeface="Times New Roman"/>
              </a:rPr>
              <a:t>T – 72 h</a:t>
            </a:r>
          </a:p>
        </p:txBody>
      </p:sp>
      <p:sp>
        <p:nvSpPr>
          <p:cNvPr id="17500" name="Rounded Rectangle 17499">
            <a:extLst xmlns:a="http://schemas.openxmlformats.org/drawingml/2006/main">
              <a:ext uri="{FF2B5EF4-FFF2-40B4-BE49-F238E27FC236}">
                <a16:creationId xmlns:a16="http://schemas.microsoft.com/office/drawing/2014/main" id="{6423AE06-18AC-4348-A1F6-918623F91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08" y="4882896"/>
            <a:ext cx="1761134" cy="1261872"/>
          </a:xfrm>
          <a:prstGeom xmlns:a="http://schemas.openxmlformats.org/drawingml/2006/main" prst="roundRect">
            <a:avLst>
              <a:gd name="adj" fmla="val 7246"/>
            </a:avLst>
          </a:prstGeom>
          <a:solidFill xmlns:a="http://schemas.openxmlformats.org/drawingml/2006/main">
            <a:srgbClr val="163A5C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47" name="Picture 1750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08f5b5c9e748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60903" y="4956048"/>
            <a:ext cx="182880" cy="182880"/>
          </a:xfrm>
          <a:prstGeom xmlns:a="http://schemas.openxmlformats.org/drawingml/2006/main" prst="rect">
            <a:avLst/>
          </a:prstGeom>
        </p:spPr>
      </p:pic>
      <p:sp>
        <p:nvSpPr>
          <p:cNvPr id="17502" name="TextBox 17501">
            <a:extLst xmlns:a="http://schemas.openxmlformats.org/drawingml/2006/main">
              <a:ext uri="{FF2B5EF4-FFF2-40B4-BE49-F238E27FC236}">
                <a16:creationId xmlns:a16="http://schemas.microsoft.com/office/drawing/2014/main" id="{8B155D0B-16D3-444A-981C-03D5B2DB9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9503" y="4910328"/>
            <a:ext cx="139537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8AD8F5"/>
                </a:solidFill>
                <a:latin typeface="Arial"/>
                <a:ea typeface="Arial"/>
                <a:cs typeface="Arial"/>
              </a:rPr>
              <a:t>Yellow watch</a:t>
            </a:r>
          </a:p>
        </p:txBody>
      </p:sp>
      <p:sp>
        <p:nvSpPr>
          <p:cNvPr id="17503" name="TextBox 17502">
            <a:extLst xmlns:a="http://schemas.openxmlformats.org/drawingml/2006/main">
              <a:ext uri="{FF2B5EF4-FFF2-40B4-BE49-F238E27FC236}">
                <a16:creationId xmlns:a16="http://schemas.microsoft.com/office/drawing/2014/main" id="{F9905718-81BE-4D65-9FE1-1CFD995C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5193792"/>
            <a:ext cx="1651406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farmer asks by voice and hears the rain window plus IMD's own advice: harvest early.</a:t>
            </a:r>
          </a:p>
        </p:txBody>
      </p:sp>
      <p:sp>
        <p:nvSpPr>
          <p:cNvPr id="17504" name="Rounded Rectangle 17503">
            <a:extLst xmlns:a="http://schemas.openxmlformats.org/drawingml/2006/main">
              <a:ext uri="{FF2B5EF4-FFF2-40B4-BE49-F238E27FC236}">
                <a16:creationId xmlns:a16="http://schemas.microsoft.com/office/drawing/2014/main" id="{2E31506E-7A43-4E66-A109-58E382C70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5888736"/>
            <a:ext cx="1651406" cy="192024"/>
          </a:xfrm>
          <a:prstGeom xmlns:a="http://schemas.openxmlformats.org/drawingml/2006/main" prst="roundRect">
            <a:avLst>
              <a:gd name="adj" fmla="val 47619"/>
            </a:avLst>
          </a:prstGeom>
          <a:solidFill xmlns:a="http://schemas.openxmlformats.org/drawingml/2006/main">
            <a:srgbClr val="081A2C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1" i="0">
                <a:solidFill>
                  <a:srgbClr val="8AD8F5"/>
                </a:solidFill>
                <a:latin typeface="Arial"/>
                <a:ea typeface="Arial"/>
                <a:cs typeface="Arial"/>
              </a:rPr>
              <a:t>Sarvam voice · Krishi Salah</a:t>
            </a:r>
          </a:p>
        </p:txBody>
      </p:sp>
      <p:sp>
        <p:nvSpPr>
          <p:cNvPr id="17505" name="Rounded Rectangle 17504">
            <a:extLst xmlns:a="http://schemas.openxmlformats.org/drawingml/2006/main">
              <a:ext uri="{FF2B5EF4-FFF2-40B4-BE49-F238E27FC236}">
                <a16:creationId xmlns:a16="http://schemas.microsoft.com/office/drawing/2014/main" id="{27CD5903-1727-412A-855F-9A4BB09CA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1182" y="4480560"/>
            <a:ext cx="841248" cy="329184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7D22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 – 48 h</a:t>
            </a:r>
          </a:p>
        </p:txBody>
      </p:sp>
      <p:sp>
        <p:nvSpPr>
          <p:cNvPr id="17506" name="Rounded Rectangle 17505">
            <a:extLst xmlns:a="http://schemas.openxmlformats.org/drawingml/2006/main">
              <a:ext uri="{FF2B5EF4-FFF2-40B4-BE49-F238E27FC236}">
                <a16:creationId xmlns:a16="http://schemas.microsoft.com/office/drawing/2014/main" id="{97977D46-75A4-4EA0-A4D1-686E212F9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1182" y="4882896"/>
            <a:ext cx="1761134" cy="1261872"/>
          </a:xfrm>
          <a:prstGeom xmlns:a="http://schemas.openxmlformats.org/drawingml/2006/main" prst="roundRect">
            <a:avLst>
              <a:gd name="adj" fmla="val 7246"/>
            </a:avLst>
          </a:prstGeom>
          <a:solidFill xmlns:a="http://schemas.openxmlformats.org/drawingml/2006/main">
            <a:srgbClr val="163A5C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53" name="Picture 1750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eca3f91ffb4e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13478" y="4956048"/>
            <a:ext cx="182880" cy="182880"/>
          </a:xfrm>
          <a:prstGeom xmlns:a="http://schemas.openxmlformats.org/drawingml/2006/main" prst="rect">
            <a:avLst/>
          </a:prstGeom>
        </p:spPr>
      </p:pic>
      <p:sp>
        <p:nvSpPr>
          <p:cNvPr id="17508" name="TextBox 17507">
            <a:extLst xmlns:a="http://schemas.openxmlformats.org/drawingml/2006/main">
              <a:ext uri="{FF2B5EF4-FFF2-40B4-BE49-F238E27FC236}">
                <a16:creationId xmlns:a16="http://schemas.microsoft.com/office/drawing/2014/main" id="{43B140EF-6E3A-4C63-812D-4272F24AD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2078" y="4910328"/>
            <a:ext cx="139537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8AD8F5"/>
                </a:solidFill>
                <a:latin typeface="Arial"/>
                <a:ea typeface="Arial"/>
                <a:cs typeface="Arial"/>
              </a:rPr>
              <a:t>IMD raises Orange</a:t>
            </a:r>
          </a:p>
        </p:txBody>
      </p:sp>
      <p:sp>
        <p:nvSpPr>
          <p:cNvPr id="17509" name="TextBox 17508">
            <a:extLst xmlns:a="http://schemas.openxmlformats.org/drawingml/2006/main">
              <a:ext uri="{FF2B5EF4-FFF2-40B4-BE49-F238E27FC236}">
                <a16:creationId xmlns:a16="http://schemas.microsoft.com/office/drawing/2014/main" id="{5EB92DAA-ED1C-4164-9449-AACA5C671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046" y="5193792"/>
            <a:ext cx="1651406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change reaches every subscribed phone in the district within a minute by push, SMS and IVR.</a:t>
            </a:r>
          </a:p>
        </p:txBody>
      </p:sp>
      <p:sp>
        <p:nvSpPr>
          <p:cNvPr id="17510" name="Rounded Rectangle 17509">
            <a:extLst xmlns:a="http://schemas.openxmlformats.org/drawingml/2006/main">
              <a:ext uri="{FF2B5EF4-FFF2-40B4-BE49-F238E27FC236}">
                <a16:creationId xmlns:a16="http://schemas.microsoft.com/office/drawing/2014/main" id="{6A793C3A-6447-47DF-8EF5-AFF9AF63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046" y="5888736"/>
            <a:ext cx="1651406" cy="192024"/>
          </a:xfrm>
          <a:prstGeom xmlns:a="http://schemas.openxmlformats.org/drawingml/2006/main" prst="roundRect">
            <a:avLst>
              <a:gd name="adj" fmla="val 47619"/>
            </a:avLst>
          </a:prstGeom>
          <a:solidFill xmlns:a="http://schemas.openxmlformats.org/drawingml/2006/main">
            <a:srgbClr val="081A2C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1" i="0">
                <a:solidFill>
                  <a:srgbClr val="8AD8F5"/>
                </a:solidFill>
                <a:latin typeface="Arial"/>
                <a:ea typeface="Arial"/>
                <a:cs typeface="Arial"/>
              </a:rPr>
              <a:t>Chetavani Relay</a:t>
            </a:r>
          </a:p>
        </p:txBody>
      </p:sp>
      <p:sp>
        <p:nvSpPr>
          <p:cNvPr id="17511" name="Rounded Rectangle 17510">
            <a:extLst xmlns:a="http://schemas.openxmlformats.org/drawingml/2006/main">
              <a:ext uri="{FF2B5EF4-FFF2-40B4-BE49-F238E27FC236}">
                <a16:creationId xmlns:a16="http://schemas.microsoft.com/office/drawing/2014/main" id="{E64DC8B9-0310-41BE-87B0-E210CA0B1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3756" y="4480560"/>
            <a:ext cx="841248" cy="329184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263D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 – 24 h</a:t>
            </a:r>
          </a:p>
        </p:txBody>
      </p:sp>
      <p:sp>
        <p:nvSpPr>
          <p:cNvPr id="17512" name="Rounded Rectangle 17511">
            <a:extLst xmlns:a="http://schemas.openxmlformats.org/drawingml/2006/main">
              <a:ext uri="{FF2B5EF4-FFF2-40B4-BE49-F238E27FC236}">
                <a16:creationId xmlns:a16="http://schemas.microsoft.com/office/drawing/2014/main" id="{1B1A5BB1-B5DC-49CA-A40B-07F67C73D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3756" y="4882896"/>
            <a:ext cx="1761134" cy="1261872"/>
          </a:xfrm>
          <a:prstGeom xmlns:a="http://schemas.openxmlformats.org/drawingml/2006/main" prst="roundRect">
            <a:avLst>
              <a:gd name="adj" fmla="val 7246"/>
            </a:avLst>
          </a:prstGeom>
          <a:solidFill xmlns:a="http://schemas.openxmlformats.org/drawingml/2006/main">
            <a:srgbClr val="163A5C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59" name="Picture 175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02600bd25647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66052" y="4956048"/>
            <a:ext cx="182880" cy="182880"/>
          </a:xfrm>
          <a:prstGeom xmlns:a="http://schemas.openxmlformats.org/drawingml/2006/main" prst="rect">
            <a:avLst/>
          </a:prstGeom>
        </p:spPr>
      </p:pic>
      <p:sp>
        <p:nvSpPr>
          <p:cNvPr id="17514" name="TextBox 17513">
            <a:extLst xmlns:a="http://schemas.openxmlformats.org/drawingml/2006/main">
              <a:ext uri="{FF2B5EF4-FFF2-40B4-BE49-F238E27FC236}">
                <a16:creationId xmlns:a16="http://schemas.microsoft.com/office/drawing/2014/main" id="{5A528677-63AE-4A3D-974A-B01104678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4652" y="4910328"/>
            <a:ext cx="139537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8AD8F5"/>
                </a:solidFill>
                <a:latin typeface="Arial"/>
                <a:ea typeface="Arial"/>
                <a:cs typeface="Arial"/>
              </a:rPr>
              <a:t>Red warning</a:t>
            </a:r>
          </a:p>
        </p:txBody>
      </p:sp>
      <p:sp>
        <p:nvSpPr>
          <p:cNvPr id="17515" name="TextBox 17514">
            <a:extLst xmlns:a="http://schemas.openxmlformats.org/drawingml/2006/main">
              <a:ext uri="{FF2B5EF4-FFF2-40B4-BE49-F238E27FC236}">
                <a16:creationId xmlns:a16="http://schemas.microsoft.com/office/drawing/2014/main" id="{BC44ECEA-51AA-4E51-8AF4-23A0B627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8620" y="5193792"/>
            <a:ext cx="1651406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district officer pulls a what-changed brief with its source and forwards it to every taluka.</a:t>
            </a:r>
          </a:p>
        </p:txBody>
      </p:sp>
      <p:sp>
        <p:nvSpPr>
          <p:cNvPr id="17516" name="Rounded Rectangle 17515">
            <a:extLst xmlns:a="http://schemas.openxmlformats.org/drawingml/2006/main">
              <a:ext uri="{FF2B5EF4-FFF2-40B4-BE49-F238E27FC236}">
                <a16:creationId xmlns:a16="http://schemas.microsoft.com/office/drawing/2014/main" id="{C599DE14-C700-4A60-BB72-7BB86C6A5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8620" y="5888736"/>
            <a:ext cx="1651406" cy="192024"/>
          </a:xfrm>
          <a:prstGeom xmlns:a="http://schemas.openxmlformats.org/drawingml/2006/main" prst="roundRect">
            <a:avLst>
              <a:gd name="adj" fmla="val 47619"/>
            </a:avLst>
          </a:prstGeom>
          <a:solidFill xmlns:a="http://schemas.openxmlformats.org/drawingml/2006/main">
            <a:srgbClr val="081A2C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1" i="0">
                <a:solidFill>
                  <a:srgbClr val="8AD8F5"/>
                </a:solidFill>
                <a:latin typeface="Arial"/>
                <a:ea typeface="Arial"/>
                <a:cs typeface="Arial"/>
              </a:rPr>
              <a:t>Pramaan Receipt</a:t>
            </a:r>
          </a:p>
        </p:txBody>
      </p:sp>
      <p:sp>
        <p:nvSpPr>
          <p:cNvPr id="17517" name="Rounded Rectangle 17516">
            <a:extLst xmlns:a="http://schemas.openxmlformats.org/drawingml/2006/main">
              <a:ext uri="{FF2B5EF4-FFF2-40B4-BE49-F238E27FC236}">
                <a16:creationId xmlns:a16="http://schemas.microsoft.com/office/drawing/2014/main" id="{01A1696B-53CA-4749-AD62-5194F78BB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6331" y="4480560"/>
            <a:ext cx="841248" cy="329184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E2436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 – 0</a:t>
            </a:r>
          </a:p>
        </p:txBody>
      </p:sp>
      <p:sp>
        <p:nvSpPr>
          <p:cNvPr id="17518" name="Rounded Rectangle 17517">
            <a:extLst xmlns:a="http://schemas.openxmlformats.org/drawingml/2006/main">
              <a:ext uri="{FF2B5EF4-FFF2-40B4-BE49-F238E27FC236}">
                <a16:creationId xmlns:a16="http://schemas.microsoft.com/office/drawing/2014/main" id="{849201F3-26F0-4D56-8625-71DC642A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6331" y="4882896"/>
            <a:ext cx="1761134" cy="1261872"/>
          </a:xfrm>
          <a:prstGeom xmlns:a="http://schemas.openxmlformats.org/drawingml/2006/main" prst="roundRect">
            <a:avLst>
              <a:gd name="adj" fmla="val 7246"/>
            </a:avLst>
          </a:prstGeom>
          <a:solidFill xmlns:a="http://schemas.openxmlformats.org/drawingml/2006/main">
            <a:srgbClr val="163A5C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65" name="Picture 175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8155222b5646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8627" y="4956048"/>
            <a:ext cx="182880" cy="182880"/>
          </a:xfrm>
          <a:prstGeom xmlns:a="http://schemas.openxmlformats.org/drawingml/2006/main" prst="rect">
            <a:avLst/>
          </a:prstGeom>
        </p:spPr>
      </p:pic>
      <p:sp>
        <p:nvSpPr>
          <p:cNvPr id="17520" name="TextBox 17519">
            <a:extLst xmlns:a="http://schemas.openxmlformats.org/drawingml/2006/main">
              <a:ext uri="{FF2B5EF4-FFF2-40B4-BE49-F238E27FC236}">
                <a16:creationId xmlns:a16="http://schemas.microsoft.com/office/drawing/2014/main" id="{8484453A-7ED0-4C85-A421-D64AD916B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7227" y="4910328"/>
            <a:ext cx="139537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8AD8F5"/>
                </a:solidFill>
                <a:latin typeface="Arial"/>
                <a:ea typeface="Arial"/>
                <a:cs typeface="Arial"/>
              </a:rPr>
              <a:t>Landfall</a:t>
            </a:r>
          </a:p>
        </p:txBody>
      </p:sp>
      <p:sp>
        <p:nvSpPr>
          <p:cNvPr id="17521" name="TextBox 17520">
            <a:extLst xmlns:a="http://schemas.openxmlformats.org/drawingml/2006/main">
              <a:ext uri="{FF2B5EF4-FFF2-40B4-BE49-F238E27FC236}">
                <a16:creationId xmlns:a16="http://schemas.microsoft.com/office/drawing/2014/main" id="{BD703221-9293-4AEA-A71A-EA2DE570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195" y="5193792"/>
            <a:ext cx="1651406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Networks choke: the cached last answer and the IVR line keep working; fishers hear the RSMC sea-area warning.</a:t>
            </a:r>
          </a:p>
        </p:txBody>
      </p:sp>
      <p:sp>
        <p:nvSpPr>
          <p:cNvPr id="17522" name="Rounded Rectangle 17521">
            <a:extLst xmlns:a="http://schemas.openxmlformats.org/drawingml/2006/main">
              <a:ext uri="{FF2B5EF4-FFF2-40B4-BE49-F238E27FC236}">
                <a16:creationId xmlns:a16="http://schemas.microsoft.com/office/drawing/2014/main" id="{2608F6FC-9A36-442D-9AA2-5A19C236E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195" y="5888736"/>
            <a:ext cx="1651406" cy="192024"/>
          </a:xfrm>
          <a:prstGeom xmlns:a="http://schemas.openxmlformats.org/drawingml/2006/main" prst="roundRect">
            <a:avLst>
              <a:gd name="adj" fmla="val 47619"/>
            </a:avLst>
          </a:prstGeom>
          <a:solidFill xmlns:a="http://schemas.openxmlformats.org/drawingml/2006/main">
            <a:srgbClr val="081A2C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1" i="0">
                <a:solidFill>
                  <a:srgbClr val="8AD8F5"/>
                </a:solidFill>
                <a:latin typeface="Arial"/>
                <a:ea typeface="Arial"/>
                <a:cs typeface="Arial"/>
              </a:rPr>
              <a:t>Offline cache · IVR</a:t>
            </a:r>
          </a:p>
        </p:txBody>
      </p:sp>
      <p:sp>
        <p:nvSpPr>
          <p:cNvPr id="17523" name="Rounded Rectangle 17522">
            <a:extLst xmlns:a="http://schemas.openxmlformats.org/drawingml/2006/main">
              <a:ext uri="{FF2B5EF4-FFF2-40B4-BE49-F238E27FC236}">
                <a16:creationId xmlns:a16="http://schemas.microsoft.com/office/drawing/2014/main" id="{FFEA19B7-B2E2-4FDC-854A-FBF395922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8905" y="4480560"/>
            <a:ext cx="841248" cy="329184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 + 24 h</a:t>
            </a:r>
          </a:p>
        </p:txBody>
      </p:sp>
      <p:sp>
        <p:nvSpPr>
          <p:cNvPr id="17524" name="Rounded Rectangle 17523">
            <a:extLst xmlns:a="http://schemas.openxmlformats.org/drawingml/2006/main">
              <a:ext uri="{FF2B5EF4-FFF2-40B4-BE49-F238E27FC236}">
                <a16:creationId xmlns:a16="http://schemas.microsoft.com/office/drawing/2014/main" id="{792A7E39-0612-4660-B625-B656A000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8905" y="4882896"/>
            <a:ext cx="1761134" cy="1261872"/>
          </a:xfrm>
          <a:prstGeom xmlns:a="http://schemas.openxmlformats.org/drawingml/2006/main" prst="roundRect">
            <a:avLst>
              <a:gd name="adj" fmla="val 7246"/>
            </a:avLst>
          </a:prstGeom>
          <a:solidFill xmlns:a="http://schemas.openxmlformats.org/drawingml/2006/main">
            <a:srgbClr val="163A5C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71" name="Picture 175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c0091811e14f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71201" y="4956048"/>
            <a:ext cx="182880" cy="182880"/>
          </a:xfrm>
          <a:prstGeom xmlns:a="http://schemas.openxmlformats.org/drawingml/2006/main" prst="rect">
            <a:avLst/>
          </a:prstGeom>
        </p:spPr>
      </p:pic>
      <p:sp>
        <p:nvSpPr>
          <p:cNvPr id="17526" name="TextBox 17525">
            <a:extLst xmlns:a="http://schemas.openxmlformats.org/drawingml/2006/main">
              <a:ext uri="{FF2B5EF4-FFF2-40B4-BE49-F238E27FC236}">
                <a16:creationId xmlns:a16="http://schemas.microsoft.com/office/drawing/2014/main" id="{4473832D-2755-4B16-9E8D-6C228DA99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9801" y="4910328"/>
            <a:ext cx="139537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8AD8F5"/>
                </a:solidFill>
                <a:latin typeface="Arial"/>
                <a:ea typeface="Arial"/>
                <a:cs typeface="Arial"/>
              </a:rPr>
              <a:t>Recovery</a:t>
            </a:r>
          </a:p>
        </p:txBody>
      </p:sp>
      <p:sp>
        <p:nvSpPr>
          <p:cNvPr id="17527" name="TextBox 17526">
            <a:extLst xmlns:a="http://schemas.openxmlformats.org/drawingml/2006/main">
              <a:ext uri="{FF2B5EF4-FFF2-40B4-BE49-F238E27FC236}">
                <a16:creationId xmlns:a16="http://schemas.microsoft.com/office/drawing/2014/main" id="{73E9B244-EF1F-4FE5-BE5B-360E0EC47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3769" y="5193792"/>
            <a:ext cx="1651406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Relief teams ask for rainfall totals and river discharge; every figure comes with its source and time.</a:t>
            </a:r>
          </a:p>
        </p:txBody>
      </p:sp>
      <p:sp>
        <p:nvSpPr>
          <p:cNvPr id="17528" name="Rounded Rectangle 17527">
            <a:extLst xmlns:a="http://schemas.openxmlformats.org/drawingml/2006/main">
              <a:ext uri="{FF2B5EF4-FFF2-40B4-BE49-F238E27FC236}">
                <a16:creationId xmlns:a16="http://schemas.microsoft.com/office/drawing/2014/main" id="{9C5725CB-C3F1-4D3F-8C4F-0BF71F536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3769" y="5888736"/>
            <a:ext cx="1651406" cy="192024"/>
          </a:xfrm>
          <a:prstGeom xmlns:a="http://schemas.openxmlformats.org/drawingml/2006/main" prst="roundRect">
            <a:avLst>
              <a:gd name="adj" fmla="val 47619"/>
            </a:avLst>
          </a:prstGeom>
          <a:solidFill xmlns:a="http://schemas.openxmlformats.org/drawingml/2006/main">
            <a:srgbClr val="081A2C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1" i="0">
                <a:solidFill>
                  <a:srgbClr val="8AD8F5"/>
                </a:solidFill>
                <a:latin typeface="Arial"/>
                <a:ea typeface="Arial"/>
                <a:cs typeface="Arial"/>
              </a:rPr>
              <a:t>Mausam Setu · Jalvayu Lens</a:t>
            </a:r>
          </a:p>
        </p:txBody>
      </p:sp>
      <p:pic>
        <p:nvPicPr>
          <p:cNvPr id="176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05dbcaaf3547a6"/>
          <a:stretch xmlns:a="http://schemas.openxmlformats.org/drawingml/2006/main"/>
        </p:blipFill>
        <p:spPr>
          <a:xfrm xmlns:a="http://schemas.openxmlformats.org/drawingml/2006/main">
            <a:off x="9780822" y="1524"/>
            <a:ext cx="2248320" cy="106232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4762"/>
            <a:ext cx="12191999" cy="503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0C0"/>
          </a:solidFill>
          <a:ln xmlns:a="http://schemas.openxmlformats.org/drawingml/2006/main" w="9525">
            <a:noFill/>
          </a:ln>
          <a:effectLst xmlns:a="http://schemas.openxmlformats.org/drawingml/2006/main"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1200" cap="none" spc="0" baseline="0">
              <a:ln>
                <a:noFill/>
              </a:ln>
              <a:solidFill>
                <a:srgbClr val="C0504D">
                  <a:lumMod val="75000"/>
                </a:srgb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409" name="Title 1">
            <a:extLst xmlns:a="http://schemas.openxmlformats.org/drawingml/2006/main">
              <a:ext uri="{FF2B5EF4-FFF2-40B4-BE49-F238E27FC236}">
                <a16:creationId xmlns:a16="http://schemas.microsoft.com/office/drawing/2014/main" id="{053143EA-72CA-4202-BE32-81C3E5302E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RESEARCH  AND REFERENCES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2D57381-0807-41C5-AB89-4286D87544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r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677C3CE7-23F7-4828-823C-E0205DF2CF97}" type="slidenum">
              <a:rPr sz="1200" b="1" i="0" u="none" cap="none" spc="0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6</a:t>
            </a:fld>
            <a:endParaRPr sz="1200" b="1" i="0" u="none" kern="1200" cap="none" spc="0" baseline="0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B379E409-9ABE-407B-8FB6-9DB729E108C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2651760" y="6356353"/>
            <a:ext cx="7223760" cy="365125"/>
          </a:xfrm>
        </p:spPr>
        <p:txBody>
          <a:bodyPr xmlns:a="http://schemas.openxmlformats.org/drawingml/2006/main" wrap="none"/>
          <a:lstStyle xmlns:a="http://schemas.openxmlformats.org/drawingml/2006/main"/>
          <a:p xmlns:a="http://schemas.openxmlformats.org/drawingml/2006/main"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200" b="0" i="0" u="none" cap="none" spc="0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@SIH Idea Submission · SIH26068 · WeatherGPT · Team Void Pointers (118709)</a:t>
            </a:r>
            <a:endParaRPr sz="1200" b="0" i="0" u="none" kern="1200" cap="none" spc="0" baseline="0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5DBCE864-823D-4A13-9607-5DA1F0ED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773" y="252246"/>
            <a:ext cx="1251857" cy="807334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4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lIns="18288" rIns="18288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/>
              <a:t>Void Pointers</a:t>
            </a:r>
            <a:endParaRPr/>
          </a:p>
        </p:txBody>
      </p:sp>
      <p:pic>
        <p:nvPicPr>
          <p:cNvPr id="17589" name="Picture 1740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3d690ce07845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6428232"/>
            <a:ext cx="334959" cy="219456"/>
          </a:xfrm>
          <a:prstGeom xmlns:a="http://schemas.openxmlformats.org/drawingml/2006/main" prst="rect">
            <a:avLst/>
          </a:prstGeom>
        </p:spPr>
      </p:pic>
      <p:sp>
        <p:nvSpPr>
          <p:cNvPr id="17411" name="TextBox 17410">
            <a:extLst xmlns:a="http://schemas.openxmlformats.org/drawingml/2006/main">
              <a:ext uri="{FF2B5EF4-FFF2-40B4-BE49-F238E27FC236}">
                <a16:creationId xmlns:a16="http://schemas.microsoft.com/office/drawing/2014/main" id="{B6D92F37-BD9F-4A56-A9F9-751F13260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19" y="786384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1">
                <a:solidFill>
                  <a:srgbClr val="55666E"/>
                </a:solidFill>
                <a:latin typeface="Times New Roman"/>
                <a:ea typeface="Times New Roman"/>
                <a:cs typeface="Times New Roman"/>
              </a:rPr>
              <a:t>Details and links of the reference and research work</a:t>
            </a:r>
          </a:p>
        </p:txBody>
      </p:sp>
      <p:sp>
        <p:nvSpPr>
          <p:cNvPr id="17412" name="Rounded Rectangle 17411">
            <a:extLst xmlns:a="http://schemas.openxmlformats.org/drawingml/2006/main">
              <a:ext uri="{FF2B5EF4-FFF2-40B4-BE49-F238E27FC236}">
                <a16:creationId xmlns:a16="http://schemas.microsoft.com/office/drawing/2014/main" id="{6E2890BB-8353-4E23-86F7-521FA6134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097280"/>
            <a:ext cx="8138160" cy="5166360"/>
          </a:xfrm>
          <a:prstGeom xmlns:a="http://schemas.openxmlformats.org/drawingml/2006/main" prst="roundRect">
            <a:avLst>
              <a:gd name="adj" fmla="val 24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0B2239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13" name="Pentagon 17412">
            <a:extLst xmlns:a="http://schemas.openxmlformats.org/drawingml/2006/main">
              <a:ext uri="{FF2B5EF4-FFF2-40B4-BE49-F238E27FC236}">
                <a16:creationId xmlns:a16="http://schemas.microsoft.com/office/drawing/2014/main" id="{350387DB-82BF-4AC7-B46D-9F00C7D5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188720"/>
            <a:ext cx="1432560" cy="512064"/>
          </a:xfrm>
          <a:prstGeom xmlns:a="http://schemas.openxmlformats.org/drawingml/2006/main" prst="homePlate">
            <a:avLst>
              <a:gd name="adj" fmla="val 30000"/>
            </a:avLst>
          </a:prstGeom>
          <a:solidFill xmlns:a="http://schemas.openxmlformats.org/drawingml/2006/main">
            <a:srgbClr val="0F6E9A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593" name="Picture 174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4b4ab979143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1362456"/>
            <a:ext cx="155448" cy="155448"/>
          </a:xfrm>
          <a:prstGeom xmlns:a="http://schemas.openxmlformats.org/drawingml/2006/main" prst="rect">
            <a:avLst/>
          </a:prstGeom>
        </p:spPr>
      </p:pic>
      <p:sp>
        <p:nvSpPr>
          <p:cNvPr id="17415" name="TextBox 17414">
            <a:extLst xmlns:a="http://schemas.openxmlformats.org/drawingml/2006/main">
              <a:ext uri="{FF2B5EF4-FFF2-40B4-BE49-F238E27FC236}">
                <a16:creationId xmlns:a16="http://schemas.microsoft.com/office/drawing/2014/main" id="{A56C303F-ACE4-44B2-8BAA-9B1E95132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8839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PS decoded</a:t>
            </a:r>
          </a:p>
          <a:p xmlns:a="http://schemas.openxmlformats.org/drawingml/2006/main">
            <a:pPr algn="l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MoES · IMD needs</a:t>
            </a:r>
          </a:p>
        </p:txBody>
      </p:sp>
      <p:sp>
        <p:nvSpPr>
          <p:cNvPr id="17416" name="Chevron 17415">
            <a:extLst xmlns:a="http://schemas.openxmlformats.org/drawingml/2006/main">
              <a:ext uri="{FF2B5EF4-FFF2-40B4-BE49-F238E27FC236}">
                <a16:creationId xmlns:a16="http://schemas.microsoft.com/office/drawing/2014/main" id="{E7540868-AA05-4375-9E13-5A3FD2DBE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0304" y="1188720"/>
            <a:ext cx="1432560" cy="512064"/>
          </a:xfrm>
          <a:prstGeom xmlns:a="http://schemas.openxmlformats.org/drawingml/2006/main" prst="chevron">
            <a:avLst>
              <a:gd name="adj" fmla="val 30000"/>
            </a:avLst>
          </a:prstGeom>
          <a:solidFill xmlns:a="http://schemas.openxmlformats.org/drawingml/2006/main">
            <a:srgbClr val="3D8FD1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596" name="Picture 174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4b4ab979143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898904" y="1362456"/>
            <a:ext cx="155448" cy="155448"/>
          </a:xfrm>
          <a:prstGeom xmlns:a="http://schemas.openxmlformats.org/drawingml/2006/main" prst="rect">
            <a:avLst/>
          </a:prstGeom>
        </p:spPr>
      </p:pic>
      <p:sp>
        <p:nvSpPr>
          <p:cNvPr id="17418" name="TextBox 17417">
            <a:extLst xmlns:a="http://schemas.openxmlformats.org/drawingml/2006/main">
              <a:ext uri="{FF2B5EF4-FFF2-40B4-BE49-F238E27FC236}">
                <a16:creationId xmlns:a16="http://schemas.microsoft.com/office/drawing/2014/main" id="{472A2D86-3EB2-434E-BCB1-DEE7D45B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1784" y="1188720"/>
            <a:ext cx="8839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70 sources</a:t>
            </a:r>
          </a:p>
          <a:p xmlns:a="http://schemas.openxmlformats.org/drawingml/2006/main">
            <a:pPr algn="l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live-probed</a:t>
            </a:r>
          </a:p>
        </p:txBody>
      </p:sp>
      <p:sp>
        <p:nvSpPr>
          <p:cNvPr id="17419" name="Chevron 17418">
            <a:extLst xmlns:a="http://schemas.openxmlformats.org/drawingml/2006/main">
              <a:ext uri="{FF2B5EF4-FFF2-40B4-BE49-F238E27FC236}">
                <a16:creationId xmlns:a16="http://schemas.microsoft.com/office/drawing/2014/main" id="{04EA7263-B0B1-4458-956E-FEA28B02F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4848" y="1188720"/>
            <a:ext cx="1432560" cy="512064"/>
          </a:xfrm>
          <a:prstGeom xmlns:a="http://schemas.openxmlformats.org/drawingml/2006/main" prst="chevron">
            <a:avLst>
              <a:gd name="adj" fmla="val 30000"/>
            </a:avLst>
          </a:prstGeom>
          <a:solidFill xmlns:a="http://schemas.openxmlformats.org/drawingml/2006/main">
            <a:srgbClr val="5B5BC2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599" name="Picture 174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4b4ab979143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03448" y="1362456"/>
            <a:ext cx="155448" cy="155448"/>
          </a:xfrm>
          <a:prstGeom xmlns:a="http://schemas.openxmlformats.org/drawingml/2006/main" prst="rect">
            <a:avLst/>
          </a:prstGeom>
        </p:spPr>
      </p:pic>
      <p:sp>
        <p:nvSpPr>
          <p:cNvPr id="17421" name="TextBox 17420">
            <a:extLst xmlns:a="http://schemas.openxmlformats.org/drawingml/2006/main">
              <a:ext uri="{FF2B5EF4-FFF2-40B4-BE49-F238E27FC236}">
                <a16:creationId xmlns:a16="http://schemas.microsoft.com/office/drawing/2014/main" id="{EBCE8C88-3B25-471E-A8DD-461BDC63B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6328" y="1188720"/>
            <a:ext cx="8839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 systems</a:t>
            </a:r>
          </a:p>
          <a:p xmlns:a="http://schemas.openxmlformats.org/drawingml/2006/main">
            <a:pPr algn="l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benchmarked</a:t>
            </a:r>
          </a:p>
        </p:txBody>
      </p:sp>
      <p:sp>
        <p:nvSpPr>
          <p:cNvPr id="17422" name="Chevron 17421">
            <a:extLst xmlns:a="http://schemas.openxmlformats.org/drawingml/2006/main">
              <a:ext uri="{FF2B5EF4-FFF2-40B4-BE49-F238E27FC236}">
                <a16:creationId xmlns:a16="http://schemas.microsoft.com/office/drawing/2014/main" id="{699FE2C4-ED95-45A1-929E-A144FA747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1188720"/>
            <a:ext cx="1432560" cy="512064"/>
          </a:xfrm>
          <a:prstGeom xmlns:a="http://schemas.openxmlformats.org/drawingml/2006/main" prst="chevron">
            <a:avLst>
              <a:gd name="adj" fmla="val 30000"/>
            </a:avLst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02" name="Picture 174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4b4ab979143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07992" y="1362456"/>
            <a:ext cx="155448" cy="155448"/>
          </a:xfrm>
          <a:prstGeom xmlns:a="http://schemas.openxmlformats.org/drawingml/2006/main" prst="rect">
            <a:avLst/>
          </a:prstGeom>
        </p:spPr>
      </p:pic>
      <p:sp>
        <p:nvSpPr>
          <p:cNvPr id="17424" name="TextBox 17423">
            <a:extLst xmlns:a="http://schemas.openxmlformats.org/drawingml/2006/main">
              <a:ext uri="{FF2B5EF4-FFF2-40B4-BE49-F238E27FC236}">
                <a16:creationId xmlns:a16="http://schemas.microsoft.com/office/drawing/2014/main" id="{90B6BBA7-D6F2-4873-9A94-C0C0015F7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1188720"/>
            <a:ext cx="8839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Architecture</a:t>
            </a:r>
          </a:p>
          <a:p xmlns:a="http://schemas.openxmlformats.org/drawingml/2006/main">
            <a:pPr algn="l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designed</a:t>
            </a:r>
          </a:p>
        </p:txBody>
      </p:sp>
      <p:sp>
        <p:nvSpPr>
          <p:cNvPr id="17425" name="Chevron 17424">
            <a:extLst xmlns:a="http://schemas.openxmlformats.org/drawingml/2006/main">
              <a:ext uri="{FF2B5EF4-FFF2-40B4-BE49-F238E27FC236}">
                <a16:creationId xmlns:a16="http://schemas.microsoft.com/office/drawing/2014/main" id="{7FC2B493-30E7-4E64-AA81-5D71E301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3936" y="1188720"/>
            <a:ext cx="1432560" cy="512064"/>
          </a:xfrm>
          <a:prstGeom xmlns:a="http://schemas.openxmlformats.org/drawingml/2006/main" prst="chevron">
            <a:avLst>
              <a:gd name="adj" fmla="val 30000"/>
            </a:avLst>
          </a:prstGeom>
          <a:solidFill xmlns:a="http://schemas.openxmlformats.org/drawingml/2006/main">
            <a:srgbClr val="D97A0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05" name="Picture 174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4b4ab979143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12536" y="1362456"/>
            <a:ext cx="155448" cy="155448"/>
          </a:xfrm>
          <a:prstGeom xmlns:a="http://schemas.openxmlformats.org/drawingml/2006/main" prst="rect">
            <a:avLst/>
          </a:prstGeom>
        </p:spPr>
      </p:pic>
      <p:sp>
        <p:nvSpPr>
          <p:cNvPr id="17427" name="TextBox 17426">
            <a:extLst xmlns:a="http://schemas.openxmlformats.org/drawingml/2006/main">
              <a:ext uri="{FF2B5EF4-FFF2-40B4-BE49-F238E27FC236}">
                <a16:creationId xmlns:a16="http://schemas.microsoft.com/office/drawing/2014/main" id="{941BA709-D3C8-4E7A-AFCA-A4863A9E3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416" y="1188720"/>
            <a:ext cx="8839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Prototype</a:t>
            </a:r>
          </a:p>
          <a:p xmlns:a="http://schemas.openxmlformats.org/drawingml/2006/main">
            <a:pPr algn="l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306 turns run</a:t>
            </a:r>
          </a:p>
        </p:txBody>
      </p:sp>
      <p:sp>
        <p:nvSpPr>
          <p:cNvPr id="17428" name="Chevron 17427">
            <a:extLst xmlns:a="http://schemas.openxmlformats.org/drawingml/2006/main">
              <a:ext uri="{FF2B5EF4-FFF2-40B4-BE49-F238E27FC236}">
                <a16:creationId xmlns:a16="http://schemas.microsoft.com/office/drawing/2014/main" id="{88B941C1-47AB-4E1B-A739-0B5B80D19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8480" y="1188720"/>
            <a:ext cx="1432560" cy="512064"/>
          </a:xfrm>
          <a:prstGeom xmlns:a="http://schemas.openxmlformats.org/drawingml/2006/main" prst="chevron">
            <a:avLst>
              <a:gd name="adj" fmla="val 30000"/>
            </a:avLst>
          </a:prstGeom>
          <a:solidFill xmlns:a="http://schemas.openxmlformats.org/drawingml/2006/main">
            <a:srgbClr val="D1423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08" name="Picture 174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872ebffb3148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17080" y="1362456"/>
            <a:ext cx="155448" cy="155448"/>
          </a:xfrm>
          <a:prstGeom xmlns:a="http://schemas.openxmlformats.org/drawingml/2006/main" prst="rect">
            <a:avLst/>
          </a:prstGeom>
        </p:spPr>
      </p:pic>
      <p:sp>
        <p:nvSpPr>
          <p:cNvPr id="17430" name="TextBox 17429">
            <a:extLst xmlns:a="http://schemas.openxmlformats.org/drawingml/2006/main">
              <a:ext uri="{FF2B5EF4-FFF2-40B4-BE49-F238E27FC236}">
                <a16:creationId xmlns:a16="http://schemas.microsoft.com/office/drawing/2014/main" id="{FBD73631-08BC-42CD-A19C-A2367136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9960" y="1188720"/>
            <a:ext cx="8839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Now building</a:t>
            </a:r>
          </a:p>
          <a:p xmlns:a="http://schemas.openxmlformats.org/drawingml/2006/main">
            <a:pPr algn="l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live push · WIS 2.0</a:t>
            </a:r>
          </a:p>
        </p:txBody>
      </p:sp>
      <p:sp>
        <p:nvSpPr>
          <p:cNvPr id="17431" name="TextBox 17430">
            <a:extLst xmlns:a="http://schemas.openxmlformats.org/drawingml/2006/main">
              <a:ext uri="{FF2B5EF4-FFF2-40B4-BE49-F238E27FC236}">
                <a16:creationId xmlns:a16="http://schemas.microsoft.com/office/drawing/2014/main" id="{DE45A13E-7C35-4E16-9644-D695BE3DA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1792224"/>
            <a:ext cx="257175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350" b="1" i="0">
                <a:solidFill>
                  <a:srgbClr val="0A4F70"/>
                </a:solidFill>
                <a:latin typeface="Times New Roman"/>
                <a:ea typeface="Times New Roman"/>
                <a:cs typeface="Times New Roman"/>
              </a:rPr>
              <a:t>Capability comparison</a:t>
            </a:r>
          </a:p>
        </p:txBody>
      </p:sp>
      <p:sp>
        <p:nvSpPr>
          <p:cNvPr id="17432" name="TextBox 17431">
            <a:extLst xmlns:a="http://schemas.openxmlformats.org/drawingml/2006/main">
              <a:ext uri="{FF2B5EF4-FFF2-40B4-BE49-F238E27FC236}">
                <a16:creationId xmlns:a16="http://schemas.microsoft.com/office/drawing/2014/main" id="{E6B868F6-BC27-4884-B1AE-F91E9E3DF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1792224"/>
            <a:ext cx="224027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>
                <a:solidFill>
                  <a:srgbClr val="55666E"/>
                </a:solidFill>
                <a:latin typeface="Arial"/>
                <a:ea typeface="Arial"/>
                <a:cs typeface="Arial"/>
              </a:rPr>
              <a:t>✓ yes · ~ partial · × no</a:t>
            </a:r>
          </a:p>
        </p:txBody>
      </p:sp>
      <p:sp>
        <p:nvSpPr>
          <p:cNvPr id="17433" name="Rounded Rectangle 17432">
            <a:extLst xmlns:a="http://schemas.openxmlformats.org/drawingml/2006/main">
              <a:ext uri="{FF2B5EF4-FFF2-40B4-BE49-F238E27FC236}">
                <a16:creationId xmlns:a16="http://schemas.microsoft.com/office/drawing/2014/main" id="{2DFB12A4-D6D3-4697-AD12-0FFC3A0A1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2084831"/>
            <a:ext cx="630936" cy="2121408"/>
          </a:xfrm>
          <a:prstGeom xmlns:a="http://schemas.openxmlformats.org/drawingml/2006/main" prst="roundRect">
            <a:avLst>
              <a:gd name="adj" fmla="val 11594"/>
            </a:avLst>
          </a:prstGeom>
          <a:solidFill xmlns:a="http://schemas.openxmlformats.org/drawingml/2006/main">
            <a:srgbClr val="0B2239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34" name="TextBox 17433">
            <a:extLst xmlns:a="http://schemas.openxmlformats.org/drawingml/2006/main">
              <a:ext uri="{FF2B5EF4-FFF2-40B4-BE49-F238E27FC236}">
                <a16:creationId xmlns:a16="http://schemas.microsoft.com/office/drawing/2014/main" id="{93E4AA7D-6C91-461F-8728-7407B0244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2103120"/>
            <a:ext cx="685799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IMD apps</a:t>
            </a:r>
          </a:p>
        </p:txBody>
      </p:sp>
      <p:sp>
        <p:nvSpPr>
          <p:cNvPr id="17435" name="TextBox 17434">
            <a:extLst xmlns:a="http://schemas.openxmlformats.org/drawingml/2006/main">
              <a:ext uri="{FF2B5EF4-FFF2-40B4-BE49-F238E27FC236}">
                <a16:creationId xmlns:a16="http://schemas.microsoft.com/office/drawing/2014/main" id="{7747BEAE-6860-4ED9-A95E-116A9E32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2103120"/>
            <a:ext cx="685799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Weather apps</a:t>
            </a:r>
          </a:p>
        </p:txBody>
      </p:sp>
      <p:sp>
        <p:nvSpPr>
          <p:cNvPr id="17436" name="TextBox 17435">
            <a:extLst xmlns:a="http://schemas.openxmlformats.org/drawingml/2006/main">
              <a:ext uri="{FF2B5EF4-FFF2-40B4-BE49-F238E27FC236}">
                <a16:creationId xmlns:a16="http://schemas.microsoft.com/office/drawing/2014/main" id="{CEBF2F5E-DD52-4637-93D3-A80ED884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103120"/>
            <a:ext cx="685799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AI chatbots</a:t>
            </a:r>
          </a:p>
        </p:txBody>
      </p:sp>
      <p:sp>
        <p:nvSpPr>
          <p:cNvPr id="17437" name="TextBox 17436">
            <a:extLst xmlns:a="http://schemas.openxmlformats.org/drawingml/2006/main">
              <a:ext uri="{FF2B5EF4-FFF2-40B4-BE49-F238E27FC236}">
                <a16:creationId xmlns:a16="http://schemas.microsoft.com/office/drawing/2014/main" id="{5FE548C8-9C94-4453-9E27-91BB95DD6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103120"/>
            <a:ext cx="685799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FFC766"/>
                </a:solidFill>
                <a:latin typeface="Arial"/>
                <a:ea typeface="Arial"/>
                <a:cs typeface="Arial"/>
              </a:rPr>
              <a:t>WeatherGPT</a:t>
            </a:r>
          </a:p>
        </p:txBody>
      </p:sp>
      <p:sp>
        <p:nvSpPr>
          <p:cNvPr id="17438" name="Rectangle 17437">
            <a:extLst xmlns:a="http://schemas.openxmlformats.org/drawingml/2006/main">
              <a:ext uri="{FF2B5EF4-FFF2-40B4-BE49-F238E27FC236}">
                <a16:creationId xmlns:a16="http://schemas.microsoft.com/office/drawing/2014/main" id="{E21C28C7-D4AD-48BB-B9EE-367E006DF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2359152"/>
            <a:ext cx="420624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39" name="TextBox 17438">
            <a:extLst xmlns:a="http://schemas.openxmlformats.org/drawingml/2006/main">
              <a:ext uri="{FF2B5EF4-FFF2-40B4-BE49-F238E27FC236}">
                <a16:creationId xmlns:a16="http://schemas.microsoft.com/office/drawing/2014/main" id="{97A52052-4B23-40C8-B0FD-DE9B9DE61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" y="2359152"/>
            <a:ext cx="207568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Data stays in India</a:t>
            </a:r>
          </a:p>
        </p:txBody>
      </p:sp>
      <p:sp>
        <p:nvSpPr>
          <p:cNvPr id="17440" name="Oval 17439">
            <a:extLst xmlns:a="http://schemas.openxmlformats.org/drawingml/2006/main">
              <a:ext uri="{FF2B5EF4-FFF2-40B4-BE49-F238E27FC236}">
                <a16:creationId xmlns:a16="http://schemas.microsoft.com/office/drawing/2014/main" id="{D5320A21-D863-4B6C-8BAF-3F045DABC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5496" y="2382012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20" name="Picture 1744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4b4ab979143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62803" y="2419319"/>
            <a:ext cx="80832" cy="80832"/>
          </a:xfrm>
          <a:prstGeom xmlns:a="http://schemas.openxmlformats.org/drawingml/2006/main" prst="rect">
            <a:avLst/>
          </a:prstGeom>
        </p:spPr>
      </p:pic>
      <p:sp>
        <p:nvSpPr>
          <p:cNvPr id="17442" name="Oval 17441">
            <a:extLst xmlns:a="http://schemas.openxmlformats.org/drawingml/2006/main">
              <a:ext uri="{FF2B5EF4-FFF2-40B4-BE49-F238E27FC236}">
                <a16:creationId xmlns:a16="http://schemas.microsoft.com/office/drawing/2014/main" id="{EE9AE3D1-4685-44D1-A75F-81A2A4C4E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296" y="2382012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D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22" name="Picture 1744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c0d2077cf4d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53266" y="2423982"/>
            <a:ext cx="71506" cy="71506"/>
          </a:xfrm>
          <a:prstGeom xmlns:a="http://schemas.openxmlformats.org/drawingml/2006/main" prst="rect">
            <a:avLst/>
          </a:prstGeom>
        </p:spPr>
      </p:pic>
      <p:sp>
        <p:nvSpPr>
          <p:cNvPr id="17444" name="Oval 17443">
            <a:extLst xmlns:a="http://schemas.openxmlformats.org/drawingml/2006/main">
              <a:ext uri="{FF2B5EF4-FFF2-40B4-BE49-F238E27FC236}">
                <a16:creationId xmlns:a16="http://schemas.microsoft.com/office/drawing/2014/main" id="{1BB68696-96AF-4054-8949-FA089BE64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096" y="2382012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D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24" name="Picture 1744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c0d2077cf4d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39066" y="2423982"/>
            <a:ext cx="71506" cy="71506"/>
          </a:xfrm>
          <a:prstGeom xmlns:a="http://schemas.openxmlformats.org/drawingml/2006/main" prst="rect">
            <a:avLst/>
          </a:prstGeom>
        </p:spPr>
      </p:pic>
      <p:sp>
        <p:nvSpPr>
          <p:cNvPr id="17446" name="Oval 17445">
            <a:extLst xmlns:a="http://schemas.openxmlformats.org/drawingml/2006/main">
              <a:ext uri="{FF2B5EF4-FFF2-40B4-BE49-F238E27FC236}">
                <a16:creationId xmlns:a16="http://schemas.microsoft.com/office/drawing/2014/main" id="{A07DD8E2-B59B-45F3-99ED-FD6F7BB6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2896" y="2382012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900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~</a:t>
            </a:r>
          </a:p>
        </p:txBody>
      </p:sp>
      <p:sp>
        <p:nvSpPr>
          <p:cNvPr id="17448" name="TextBox 17447">
            <a:extLst xmlns:a="http://schemas.openxmlformats.org/drawingml/2006/main">
              <a:ext uri="{FF2B5EF4-FFF2-40B4-BE49-F238E27FC236}">
                <a16:creationId xmlns:a16="http://schemas.microsoft.com/office/drawing/2014/main" id="{49C42473-F57F-4C92-B29B-E281B0075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" y="2560320"/>
            <a:ext cx="207568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Ask in natural language</a:t>
            </a:r>
          </a:p>
        </p:txBody>
      </p:sp>
      <p:sp>
        <p:nvSpPr>
          <p:cNvPr id="17449" name="Oval 17448">
            <a:extLst xmlns:a="http://schemas.openxmlformats.org/drawingml/2006/main">
              <a:ext uri="{FF2B5EF4-FFF2-40B4-BE49-F238E27FC236}">
                <a16:creationId xmlns:a16="http://schemas.microsoft.com/office/drawing/2014/main" id="{480FD8A6-A888-4B37-B4BC-8FFDBDC21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5496" y="2583180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D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28" name="Picture 1744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c0d2077cf4d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67466" y="2625150"/>
            <a:ext cx="71506" cy="71506"/>
          </a:xfrm>
          <a:prstGeom xmlns:a="http://schemas.openxmlformats.org/drawingml/2006/main" prst="rect">
            <a:avLst/>
          </a:prstGeom>
        </p:spPr>
      </p:pic>
      <p:sp>
        <p:nvSpPr>
          <p:cNvPr id="17451" name="Oval 17450">
            <a:extLst xmlns:a="http://schemas.openxmlformats.org/drawingml/2006/main">
              <a:ext uri="{FF2B5EF4-FFF2-40B4-BE49-F238E27FC236}">
                <a16:creationId xmlns:a16="http://schemas.microsoft.com/office/drawing/2014/main" id="{76FCD94E-6E21-45DC-B4F7-EB36C4561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296" y="2583180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D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30" name="Picture 1745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c0d2077cf4d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53266" y="2625150"/>
            <a:ext cx="71506" cy="71506"/>
          </a:xfrm>
          <a:prstGeom xmlns:a="http://schemas.openxmlformats.org/drawingml/2006/main" prst="rect">
            <a:avLst/>
          </a:prstGeom>
        </p:spPr>
      </p:pic>
      <p:sp>
        <p:nvSpPr>
          <p:cNvPr id="17453" name="Oval 17452">
            <a:extLst xmlns:a="http://schemas.openxmlformats.org/drawingml/2006/main">
              <a:ext uri="{FF2B5EF4-FFF2-40B4-BE49-F238E27FC236}">
                <a16:creationId xmlns:a16="http://schemas.microsoft.com/office/drawing/2014/main" id="{997122F1-F021-4CDD-8FE3-4AB500FC2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096" y="2583180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32" name="Picture 1745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4b4ab979143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34403" y="2620487"/>
            <a:ext cx="80832" cy="80832"/>
          </a:xfrm>
          <a:prstGeom xmlns:a="http://schemas.openxmlformats.org/drawingml/2006/main" prst="rect">
            <a:avLst/>
          </a:prstGeom>
        </p:spPr>
      </p:pic>
      <p:sp>
        <p:nvSpPr>
          <p:cNvPr id="17455" name="Oval 17454">
            <a:extLst xmlns:a="http://schemas.openxmlformats.org/drawingml/2006/main">
              <a:ext uri="{FF2B5EF4-FFF2-40B4-BE49-F238E27FC236}">
                <a16:creationId xmlns:a16="http://schemas.microsoft.com/office/drawing/2014/main" id="{5AEAC3FC-D5B7-4609-8CDC-5DA045984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2896" y="2583180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34" name="Picture 1745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4b4ab979143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20203" y="2620487"/>
            <a:ext cx="80832" cy="80832"/>
          </a:xfrm>
          <a:prstGeom xmlns:a="http://schemas.openxmlformats.org/drawingml/2006/main" prst="rect">
            <a:avLst/>
          </a:prstGeom>
        </p:spPr>
      </p:pic>
      <p:sp>
        <p:nvSpPr>
          <p:cNvPr id="17457" name="Rectangle 17456">
            <a:extLst xmlns:a="http://schemas.openxmlformats.org/drawingml/2006/main">
              <a:ext uri="{FF2B5EF4-FFF2-40B4-BE49-F238E27FC236}">
                <a16:creationId xmlns:a16="http://schemas.microsoft.com/office/drawing/2014/main" id="{0737372C-AC69-4CFD-A9BD-AD3CA0EA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2761488"/>
            <a:ext cx="420624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58" name="TextBox 17457">
            <a:extLst xmlns:a="http://schemas.openxmlformats.org/drawingml/2006/main">
              <a:ext uri="{FF2B5EF4-FFF2-40B4-BE49-F238E27FC236}">
                <a16:creationId xmlns:a16="http://schemas.microsoft.com/office/drawing/2014/main" id="{BF8199AE-8202-4FD0-BF45-BCAFF6886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" y="2761488"/>
            <a:ext cx="207568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Official IMD warnings</a:t>
            </a:r>
          </a:p>
        </p:txBody>
      </p:sp>
      <p:sp>
        <p:nvSpPr>
          <p:cNvPr id="17459" name="Oval 17458">
            <a:extLst xmlns:a="http://schemas.openxmlformats.org/drawingml/2006/main">
              <a:ext uri="{FF2B5EF4-FFF2-40B4-BE49-F238E27FC236}">
                <a16:creationId xmlns:a16="http://schemas.microsoft.com/office/drawing/2014/main" id="{7117D9B6-4D38-466B-AC14-24961404B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5496" y="2784348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38" name="Picture 1745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4b4ab979143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62803" y="2821655"/>
            <a:ext cx="80832" cy="80832"/>
          </a:xfrm>
          <a:prstGeom xmlns:a="http://schemas.openxmlformats.org/drawingml/2006/main" prst="rect">
            <a:avLst/>
          </a:prstGeom>
        </p:spPr>
      </p:pic>
      <p:sp>
        <p:nvSpPr>
          <p:cNvPr id="17461" name="Oval 17460">
            <a:extLst xmlns:a="http://schemas.openxmlformats.org/drawingml/2006/main">
              <a:ext uri="{FF2B5EF4-FFF2-40B4-BE49-F238E27FC236}">
                <a16:creationId xmlns:a16="http://schemas.microsoft.com/office/drawing/2014/main" id="{109B6346-EF11-41C8-99F6-683025F3D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296" y="2784348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D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40" name="Picture 1746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c0d2077cf4d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53266" y="2826318"/>
            <a:ext cx="71506" cy="71506"/>
          </a:xfrm>
          <a:prstGeom xmlns:a="http://schemas.openxmlformats.org/drawingml/2006/main" prst="rect">
            <a:avLst/>
          </a:prstGeom>
        </p:spPr>
      </p:pic>
      <p:sp>
        <p:nvSpPr>
          <p:cNvPr id="17463" name="Oval 17462">
            <a:extLst xmlns:a="http://schemas.openxmlformats.org/drawingml/2006/main">
              <a:ext uri="{FF2B5EF4-FFF2-40B4-BE49-F238E27FC236}">
                <a16:creationId xmlns:a16="http://schemas.microsoft.com/office/drawing/2014/main" id="{642D5365-E2C1-4CBE-8881-0E1E8D338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096" y="2784348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D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42" name="Picture 1746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c0d2077cf4d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39066" y="2826318"/>
            <a:ext cx="71506" cy="71506"/>
          </a:xfrm>
          <a:prstGeom xmlns:a="http://schemas.openxmlformats.org/drawingml/2006/main" prst="rect">
            <a:avLst/>
          </a:prstGeom>
        </p:spPr>
      </p:pic>
      <p:sp>
        <p:nvSpPr>
          <p:cNvPr id="17465" name="Oval 17464">
            <a:extLst xmlns:a="http://schemas.openxmlformats.org/drawingml/2006/main">
              <a:ext uri="{FF2B5EF4-FFF2-40B4-BE49-F238E27FC236}">
                <a16:creationId xmlns:a16="http://schemas.microsoft.com/office/drawing/2014/main" id="{D13602C5-3DAF-42F9-82AF-FD3B0272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2896" y="2784348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44" name="Picture 1746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4b4ab979143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20203" y="2821655"/>
            <a:ext cx="80832" cy="80832"/>
          </a:xfrm>
          <a:prstGeom xmlns:a="http://schemas.openxmlformats.org/drawingml/2006/main" prst="rect">
            <a:avLst/>
          </a:prstGeom>
        </p:spPr>
      </p:pic>
      <p:sp>
        <p:nvSpPr>
          <p:cNvPr id="17467" name="TextBox 17466">
            <a:extLst xmlns:a="http://schemas.openxmlformats.org/drawingml/2006/main">
              <a:ext uri="{FF2B5EF4-FFF2-40B4-BE49-F238E27FC236}">
                <a16:creationId xmlns:a16="http://schemas.microsoft.com/office/drawing/2014/main" id="{A8764DB0-0375-4D3A-8CEA-86111780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" y="2962656"/>
            <a:ext cx="207568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No invented numbers</a:t>
            </a:r>
          </a:p>
        </p:txBody>
      </p:sp>
      <p:sp>
        <p:nvSpPr>
          <p:cNvPr id="17468" name="Oval 17467">
            <a:extLst xmlns:a="http://schemas.openxmlformats.org/drawingml/2006/main">
              <a:ext uri="{FF2B5EF4-FFF2-40B4-BE49-F238E27FC236}">
                <a16:creationId xmlns:a16="http://schemas.microsoft.com/office/drawing/2014/main" id="{6173853D-CC70-494C-AA3D-3D73A3D62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5496" y="2985516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47" name="Picture 1746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4b4ab979143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62803" y="3022823"/>
            <a:ext cx="80832" cy="80832"/>
          </a:xfrm>
          <a:prstGeom xmlns:a="http://schemas.openxmlformats.org/drawingml/2006/main" prst="rect">
            <a:avLst/>
          </a:prstGeom>
        </p:spPr>
      </p:pic>
      <p:sp>
        <p:nvSpPr>
          <p:cNvPr id="17470" name="Oval 17469">
            <a:extLst xmlns:a="http://schemas.openxmlformats.org/drawingml/2006/main">
              <a:ext uri="{FF2B5EF4-FFF2-40B4-BE49-F238E27FC236}">
                <a16:creationId xmlns:a16="http://schemas.microsoft.com/office/drawing/2014/main" id="{C47F639B-465F-4616-81DA-6CE4160FF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296" y="2985516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49" name="Picture 1747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4b4ab979143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48603" y="3022823"/>
            <a:ext cx="80832" cy="80832"/>
          </a:xfrm>
          <a:prstGeom xmlns:a="http://schemas.openxmlformats.org/drawingml/2006/main" prst="rect">
            <a:avLst/>
          </a:prstGeom>
        </p:spPr>
      </p:pic>
      <p:sp>
        <p:nvSpPr>
          <p:cNvPr id="17472" name="Oval 17471">
            <a:extLst xmlns:a="http://schemas.openxmlformats.org/drawingml/2006/main">
              <a:ext uri="{FF2B5EF4-FFF2-40B4-BE49-F238E27FC236}">
                <a16:creationId xmlns:a16="http://schemas.microsoft.com/office/drawing/2014/main" id="{E1A5B2C8-309E-4C55-AAAE-B25F6E9C1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096" y="2985516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D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51" name="Picture 1747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c0d2077cf4d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39066" y="3027486"/>
            <a:ext cx="71506" cy="71506"/>
          </a:xfrm>
          <a:prstGeom xmlns:a="http://schemas.openxmlformats.org/drawingml/2006/main" prst="rect">
            <a:avLst/>
          </a:prstGeom>
        </p:spPr>
      </p:pic>
      <p:sp>
        <p:nvSpPr>
          <p:cNvPr id="17474" name="Oval 17473">
            <a:extLst xmlns:a="http://schemas.openxmlformats.org/drawingml/2006/main">
              <a:ext uri="{FF2B5EF4-FFF2-40B4-BE49-F238E27FC236}">
                <a16:creationId xmlns:a16="http://schemas.microsoft.com/office/drawing/2014/main" id="{4E4AD16A-77AA-4000-A282-2B5639E5B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2896" y="2985516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900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~</a:t>
            </a:r>
          </a:p>
        </p:txBody>
      </p:sp>
      <p:sp>
        <p:nvSpPr>
          <p:cNvPr id="17476" name="Rectangle 17475">
            <a:extLst xmlns:a="http://schemas.openxmlformats.org/drawingml/2006/main">
              <a:ext uri="{FF2B5EF4-FFF2-40B4-BE49-F238E27FC236}">
                <a16:creationId xmlns:a16="http://schemas.microsoft.com/office/drawing/2014/main" id="{DF5BC7F1-9FE7-4E78-A24C-4B65E95D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3163824"/>
            <a:ext cx="420624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77" name="TextBox 17476">
            <a:extLst xmlns:a="http://schemas.openxmlformats.org/drawingml/2006/main">
              <a:ext uri="{FF2B5EF4-FFF2-40B4-BE49-F238E27FC236}">
                <a16:creationId xmlns:a16="http://schemas.microsoft.com/office/drawing/2014/main" id="{D94A76A6-5C14-4ACE-B3E0-E250A264C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" y="3163824"/>
            <a:ext cx="207568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Source shown on every answer</a:t>
            </a:r>
          </a:p>
        </p:txBody>
      </p:sp>
      <p:sp>
        <p:nvSpPr>
          <p:cNvPr id="17478" name="Oval 17477">
            <a:extLst xmlns:a="http://schemas.openxmlformats.org/drawingml/2006/main">
              <a:ext uri="{FF2B5EF4-FFF2-40B4-BE49-F238E27FC236}">
                <a16:creationId xmlns:a16="http://schemas.microsoft.com/office/drawing/2014/main" id="{16F2F5A0-B859-4B51-8368-42074F595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5496" y="3186684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A06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~</a:t>
            </a:r>
          </a:p>
        </p:txBody>
      </p:sp>
      <p:sp>
        <p:nvSpPr>
          <p:cNvPr id="17479" name="Oval 17478">
            <a:extLst xmlns:a="http://schemas.openxmlformats.org/drawingml/2006/main">
              <a:ext uri="{FF2B5EF4-FFF2-40B4-BE49-F238E27FC236}">
                <a16:creationId xmlns:a16="http://schemas.microsoft.com/office/drawing/2014/main" id="{8AB4D6BA-8222-42B6-AA12-09ED0E78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296" y="3186684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D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57" name="Picture 1747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c0d2077cf4d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53266" y="3228654"/>
            <a:ext cx="71506" cy="71506"/>
          </a:xfrm>
          <a:prstGeom xmlns:a="http://schemas.openxmlformats.org/drawingml/2006/main" prst="rect">
            <a:avLst/>
          </a:prstGeom>
        </p:spPr>
      </p:pic>
      <p:sp>
        <p:nvSpPr>
          <p:cNvPr id="17481" name="Oval 17480">
            <a:extLst xmlns:a="http://schemas.openxmlformats.org/drawingml/2006/main">
              <a:ext uri="{FF2B5EF4-FFF2-40B4-BE49-F238E27FC236}">
                <a16:creationId xmlns:a16="http://schemas.microsoft.com/office/drawing/2014/main" id="{93478AE6-D81D-463E-A640-1BCEAA00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096" y="3186684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D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59" name="Picture 1748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c0d2077cf4d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39066" y="3228654"/>
            <a:ext cx="71506" cy="71506"/>
          </a:xfrm>
          <a:prstGeom xmlns:a="http://schemas.openxmlformats.org/drawingml/2006/main" prst="rect">
            <a:avLst/>
          </a:prstGeom>
        </p:spPr>
      </p:pic>
      <p:sp>
        <p:nvSpPr>
          <p:cNvPr id="17483" name="Oval 17482">
            <a:extLst xmlns:a="http://schemas.openxmlformats.org/drawingml/2006/main">
              <a:ext uri="{FF2B5EF4-FFF2-40B4-BE49-F238E27FC236}">
                <a16:creationId xmlns:a16="http://schemas.microsoft.com/office/drawing/2014/main" id="{487BCEA7-484A-4107-8F52-23499484D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2896" y="3186684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900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~</a:t>
            </a:r>
          </a:p>
        </p:txBody>
      </p:sp>
      <p:sp>
        <p:nvSpPr>
          <p:cNvPr id="17485" name="TextBox 17484">
            <a:extLst xmlns:a="http://schemas.openxmlformats.org/drawingml/2006/main">
              <a:ext uri="{FF2B5EF4-FFF2-40B4-BE49-F238E27FC236}">
                <a16:creationId xmlns:a16="http://schemas.microsoft.com/office/drawing/2014/main" id="{B3F376DE-93E9-4BC3-B460-6C41AC977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" y="3364992"/>
            <a:ext cx="207568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22 languages + voice</a:t>
            </a:r>
          </a:p>
        </p:txBody>
      </p:sp>
      <p:sp>
        <p:nvSpPr>
          <p:cNvPr id="17486" name="Oval 17485">
            <a:extLst xmlns:a="http://schemas.openxmlformats.org/drawingml/2006/main">
              <a:ext uri="{FF2B5EF4-FFF2-40B4-BE49-F238E27FC236}">
                <a16:creationId xmlns:a16="http://schemas.microsoft.com/office/drawing/2014/main" id="{DA29DBC6-C167-4DD8-8155-0A69E16A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5496" y="3387852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A06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~</a:t>
            </a:r>
          </a:p>
        </p:txBody>
      </p:sp>
      <p:sp>
        <p:nvSpPr>
          <p:cNvPr id="17487" name="Oval 17486">
            <a:extLst xmlns:a="http://schemas.openxmlformats.org/drawingml/2006/main">
              <a:ext uri="{FF2B5EF4-FFF2-40B4-BE49-F238E27FC236}">
                <a16:creationId xmlns:a16="http://schemas.microsoft.com/office/drawing/2014/main" id="{F21EE82A-1B51-43AA-8F74-21DD6916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296" y="3387852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A06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~</a:t>
            </a:r>
          </a:p>
        </p:txBody>
      </p:sp>
      <p:sp>
        <p:nvSpPr>
          <p:cNvPr id="17488" name="Oval 17487">
            <a:extLst xmlns:a="http://schemas.openxmlformats.org/drawingml/2006/main">
              <a:ext uri="{FF2B5EF4-FFF2-40B4-BE49-F238E27FC236}">
                <a16:creationId xmlns:a16="http://schemas.microsoft.com/office/drawing/2014/main" id="{E1AE4AC0-E486-42A2-ADFA-A95364E9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096" y="3387852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A06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~</a:t>
            </a:r>
          </a:p>
        </p:txBody>
      </p:sp>
      <p:sp>
        <p:nvSpPr>
          <p:cNvPr id="17489" name="Oval 17488">
            <a:extLst xmlns:a="http://schemas.openxmlformats.org/drawingml/2006/main">
              <a:ext uri="{FF2B5EF4-FFF2-40B4-BE49-F238E27FC236}">
                <a16:creationId xmlns:a16="http://schemas.microsoft.com/office/drawing/2014/main" id="{8E7C05B5-0C0A-484B-A0CC-FBBB86EFC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2896" y="3387852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900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~</a:t>
            </a:r>
          </a:p>
        </p:txBody>
      </p:sp>
      <p:sp>
        <p:nvSpPr>
          <p:cNvPr id="17491" name="Rectangle 17490">
            <a:extLst xmlns:a="http://schemas.openxmlformats.org/drawingml/2006/main">
              <a:ext uri="{FF2B5EF4-FFF2-40B4-BE49-F238E27FC236}">
                <a16:creationId xmlns:a16="http://schemas.microsoft.com/office/drawing/2014/main" id="{40D7BC48-5A30-46BE-96BD-5D2F15FB2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3566160"/>
            <a:ext cx="420624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492" name="TextBox 17491">
            <a:extLst xmlns:a="http://schemas.openxmlformats.org/drawingml/2006/main">
              <a:ext uri="{FF2B5EF4-FFF2-40B4-BE49-F238E27FC236}">
                <a16:creationId xmlns:a16="http://schemas.microsoft.com/office/drawing/2014/main" id="{8B4B4E6D-6CEB-4F87-A995-A9185330F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" y="3566160"/>
            <a:ext cx="207568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SMS / IVR reach</a:t>
            </a:r>
          </a:p>
        </p:txBody>
      </p:sp>
      <p:sp>
        <p:nvSpPr>
          <p:cNvPr id="17493" name="Oval 17492">
            <a:extLst xmlns:a="http://schemas.openxmlformats.org/drawingml/2006/main">
              <a:ext uri="{FF2B5EF4-FFF2-40B4-BE49-F238E27FC236}">
                <a16:creationId xmlns:a16="http://schemas.microsoft.com/office/drawing/2014/main" id="{7FFB8448-180D-4F88-993A-B7DAD471E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5496" y="3589020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A06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~</a:t>
            </a:r>
          </a:p>
        </p:txBody>
      </p:sp>
      <p:sp>
        <p:nvSpPr>
          <p:cNvPr id="17494" name="Oval 17493">
            <a:extLst xmlns:a="http://schemas.openxmlformats.org/drawingml/2006/main">
              <a:ext uri="{FF2B5EF4-FFF2-40B4-BE49-F238E27FC236}">
                <a16:creationId xmlns:a16="http://schemas.microsoft.com/office/drawing/2014/main" id="{3B8A0FC5-86C0-4305-ADB3-31AAE50F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296" y="3589020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D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70" name="Picture 1749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c0d2077cf4d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53266" y="3630990"/>
            <a:ext cx="71506" cy="71506"/>
          </a:xfrm>
          <a:prstGeom xmlns:a="http://schemas.openxmlformats.org/drawingml/2006/main" prst="rect">
            <a:avLst/>
          </a:prstGeom>
        </p:spPr>
      </p:pic>
      <p:sp>
        <p:nvSpPr>
          <p:cNvPr id="17496" name="Oval 17495">
            <a:extLst xmlns:a="http://schemas.openxmlformats.org/drawingml/2006/main">
              <a:ext uri="{FF2B5EF4-FFF2-40B4-BE49-F238E27FC236}">
                <a16:creationId xmlns:a16="http://schemas.microsoft.com/office/drawing/2014/main" id="{66789B16-E02C-4CF4-B640-9DCB124A6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096" y="3589020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D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72" name="Picture 1749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c0d2077cf4d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39066" y="3630990"/>
            <a:ext cx="71506" cy="71506"/>
          </a:xfrm>
          <a:prstGeom xmlns:a="http://schemas.openxmlformats.org/drawingml/2006/main" prst="rect">
            <a:avLst/>
          </a:prstGeom>
        </p:spPr>
      </p:pic>
      <p:sp>
        <p:nvSpPr>
          <p:cNvPr id="17498" name="Oval 17497">
            <a:extLst xmlns:a="http://schemas.openxmlformats.org/drawingml/2006/main">
              <a:ext uri="{FF2B5EF4-FFF2-40B4-BE49-F238E27FC236}">
                <a16:creationId xmlns:a16="http://schemas.microsoft.com/office/drawing/2014/main" id="{2BF4BC5C-3208-4236-85C3-6BD92A7DA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2896" y="3589020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900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~</a:t>
            </a:r>
          </a:p>
        </p:txBody>
      </p:sp>
      <p:sp>
        <p:nvSpPr>
          <p:cNvPr id="17500" name="TextBox 17499">
            <a:extLst xmlns:a="http://schemas.openxmlformats.org/drawingml/2006/main">
              <a:ext uri="{FF2B5EF4-FFF2-40B4-BE49-F238E27FC236}">
                <a16:creationId xmlns:a16="http://schemas.microsoft.com/office/drawing/2014/main" id="{3E56A537-43A8-41B9-882E-D4F897CB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" y="3767328"/>
            <a:ext cx="207568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Forecast · advice · climate in one</a:t>
            </a:r>
          </a:p>
        </p:txBody>
      </p:sp>
      <p:sp>
        <p:nvSpPr>
          <p:cNvPr id="17501" name="Oval 17500">
            <a:extLst xmlns:a="http://schemas.openxmlformats.org/drawingml/2006/main">
              <a:ext uri="{FF2B5EF4-FFF2-40B4-BE49-F238E27FC236}">
                <a16:creationId xmlns:a16="http://schemas.microsoft.com/office/drawing/2014/main" id="{15BBB207-F0D2-4065-80C8-DB6037838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5496" y="3790188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D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76" name="Picture 1750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c0d2077cf4d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67466" y="3832158"/>
            <a:ext cx="71506" cy="71506"/>
          </a:xfrm>
          <a:prstGeom xmlns:a="http://schemas.openxmlformats.org/drawingml/2006/main" prst="rect">
            <a:avLst/>
          </a:prstGeom>
        </p:spPr>
      </p:pic>
      <p:sp>
        <p:nvSpPr>
          <p:cNvPr id="17503" name="Oval 17502">
            <a:extLst xmlns:a="http://schemas.openxmlformats.org/drawingml/2006/main">
              <a:ext uri="{FF2B5EF4-FFF2-40B4-BE49-F238E27FC236}">
                <a16:creationId xmlns:a16="http://schemas.microsoft.com/office/drawing/2014/main" id="{EF924081-CD83-4C42-B128-24DBAC7AA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296" y="3790188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D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78" name="Picture 1750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c0d2077cf4d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53266" y="3832158"/>
            <a:ext cx="71506" cy="71506"/>
          </a:xfrm>
          <a:prstGeom xmlns:a="http://schemas.openxmlformats.org/drawingml/2006/main" prst="rect">
            <a:avLst/>
          </a:prstGeom>
        </p:spPr>
      </p:pic>
      <p:sp>
        <p:nvSpPr>
          <p:cNvPr id="17505" name="Oval 17504">
            <a:extLst xmlns:a="http://schemas.openxmlformats.org/drawingml/2006/main">
              <a:ext uri="{FF2B5EF4-FFF2-40B4-BE49-F238E27FC236}">
                <a16:creationId xmlns:a16="http://schemas.microsoft.com/office/drawing/2014/main" id="{9D425F12-749F-4842-8512-D3879F768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096" y="3790188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D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80" name="Picture 1750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c0d2077cf4d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39066" y="3832158"/>
            <a:ext cx="71506" cy="71506"/>
          </a:xfrm>
          <a:prstGeom xmlns:a="http://schemas.openxmlformats.org/drawingml/2006/main" prst="rect">
            <a:avLst/>
          </a:prstGeom>
        </p:spPr>
      </p:pic>
      <p:sp>
        <p:nvSpPr>
          <p:cNvPr id="17507" name="Oval 17506">
            <a:extLst xmlns:a="http://schemas.openxmlformats.org/drawingml/2006/main">
              <a:ext uri="{FF2B5EF4-FFF2-40B4-BE49-F238E27FC236}">
                <a16:creationId xmlns:a16="http://schemas.microsoft.com/office/drawing/2014/main" id="{2DCF819C-979B-4D23-A004-A28D1345F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2896" y="3790188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82" name="Picture 1750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4b4ab979143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20203" y="3827495"/>
            <a:ext cx="80832" cy="80832"/>
          </a:xfrm>
          <a:prstGeom xmlns:a="http://schemas.openxmlformats.org/drawingml/2006/main" prst="rect">
            <a:avLst/>
          </a:prstGeom>
        </p:spPr>
      </p:pic>
      <p:sp>
        <p:nvSpPr>
          <p:cNvPr id="17509" name="Rectangle 17508">
            <a:extLst xmlns:a="http://schemas.openxmlformats.org/drawingml/2006/main">
              <a:ext uri="{FF2B5EF4-FFF2-40B4-BE49-F238E27FC236}">
                <a16:creationId xmlns:a16="http://schemas.microsoft.com/office/drawing/2014/main" id="{9903A9BF-1B8A-4FDC-9CDD-CB0366514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3968496"/>
            <a:ext cx="420624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510" name="TextBox 17509">
            <a:extLst xmlns:a="http://schemas.openxmlformats.org/drawingml/2006/main">
              <a:ext uri="{FF2B5EF4-FFF2-40B4-BE49-F238E27FC236}">
                <a16:creationId xmlns:a16="http://schemas.microsoft.com/office/drawing/2014/main" id="{D87874DF-5381-46A7-957A-50D2F5013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" y="3968496"/>
            <a:ext cx="207568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IMD + global models, compared</a:t>
            </a:r>
          </a:p>
        </p:txBody>
      </p:sp>
      <p:sp>
        <p:nvSpPr>
          <p:cNvPr id="17511" name="Oval 17510">
            <a:extLst xmlns:a="http://schemas.openxmlformats.org/drawingml/2006/main">
              <a:ext uri="{FF2B5EF4-FFF2-40B4-BE49-F238E27FC236}">
                <a16:creationId xmlns:a16="http://schemas.microsoft.com/office/drawing/2014/main" id="{1D80B83C-E489-4762-9CC6-3DB80BD0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5496" y="3991356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D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86" name="Picture 175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c0d2077cf4d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67466" y="4033326"/>
            <a:ext cx="71506" cy="71506"/>
          </a:xfrm>
          <a:prstGeom xmlns:a="http://schemas.openxmlformats.org/drawingml/2006/main" prst="rect">
            <a:avLst/>
          </a:prstGeom>
        </p:spPr>
      </p:pic>
      <p:sp>
        <p:nvSpPr>
          <p:cNvPr id="17513" name="Oval 17512">
            <a:extLst xmlns:a="http://schemas.openxmlformats.org/drawingml/2006/main">
              <a:ext uri="{FF2B5EF4-FFF2-40B4-BE49-F238E27FC236}">
                <a16:creationId xmlns:a16="http://schemas.microsoft.com/office/drawing/2014/main" id="{342FE176-4C3C-49D3-9755-93570949B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296" y="3991356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D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88" name="Picture 175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c0d2077cf4d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53266" y="4033326"/>
            <a:ext cx="71506" cy="71506"/>
          </a:xfrm>
          <a:prstGeom xmlns:a="http://schemas.openxmlformats.org/drawingml/2006/main" prst="rect">
            <a:avLst/>
          </a:prstGeom>
        </p:spPr>
      </p:pic>
      <p:sp>
        <p:nvSpPr>
          <p:cNvPr id="17515" name="Oval 17514">
            <a:extLst xmlns:a="http://schemas.openxmlformats.org/drawingml/2006/main">
              <a:ext uri="{FF2B5EF4-FFF2-40B4-BE49-F238E27FC236}">
                <a16:creationId xmlns:a16="http://schemas.microsoft.com/office/drawing/2014/main" id="{5310BC40-3965-4005-9CC0-09412AB3F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096" y="3991356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D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90" name="Picture 175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c0d2077cf4d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39066" y="4033326"/>
            <a:ext cx="71506" cy="71506"/>
          </a:xfrm>
          <a:prstGeom xmlns:a="http://schemas.openxmlformats.org/drawingml/2006/main" prst="rect">
            <a:avLst/>
          </a:prstGeom>
        </p:spPr>
      </p:pic>
      <p:sp>
        <p:nvSpPr>
          <p:cNvPr id="17517" name="Oval 17516">
            <a:extLst xmlns:a="http://schemas.openxmlformats.org/drawingml/2006/main">
              <a:ext uri="{FF2B5EF4-FFF2-40B4-BE49-F238E27FC236}">
                <a16:creationId xmlns:a16="http://schemas.microsoft.com/office/drawing/2014/main" id="{E0CDB9E2-BA95-4336-ADA6-6C4C2FC66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2896" y="3991356"/>
            <a:ext cx="155448" cy="1554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E5B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692" name="Picture 1751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4b4ab979143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20203" y="4028663"/>
            <a:ext cx="80832" cy="80832"/>
          </a:xfrm>
          <a:prstGeom xmlns:a="http://schemas.openxmlformats.org/drawingml/2006/main" prst="rect">
            <a:avLst/>
          </a:prstGeom>
        </p:spPr>
      </p:pic>
      <p:sp>
        <p:nvSpPr>
          <p:cNvPr id="17519" name="TextBox 17518">
            <a:extLst xmlns:a="http://schemas.openxmlformats.org/drawingml/2006/main">
              <a:ext uri="{FF2B5EF4-FFF2-40B4-BE49-F238E27FC236}">
                <a16:creationId xmlns:a16="http://schemas.microsoft.com/office/drawing/2014/main" id="{1D590FD9-905B-48D2-9793-24897DFE6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4224528"/>
            <a:ext cx="48920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IMD apps studied:  </a:t>
            </a: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  <a:hlinkClick xmlns:r="http://schemas.openxmlformats.org/officeDocument/2006/relationships" r:id="Ra3395d493dca4194"/>
              </a:rPr>
              <a:t>Mausam app</a:t>
            </a: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 ·  </a:t>
            </a: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  <a:hlinkClick xmlns:r="http://schemas.openxmlformats.org/officeDocument/2006/relationships" r:id="R256b5d3050c4453e"/>
              </a:rPr>
              <a:t>Meghdoot</a:t>
            </a: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 ·  </a:t>
            </a: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  <a:hlinkClick xmlns:r="http://schemas.openxmlformats.org/officeDocument/2006/relationships" r:id="R7affc1c0d8d74b8a"/>
              </a:rPr>
              <a:t>Mausamgram</a:t>
            </a:r>
          </a:p>
        </p:txBody>
      </p:sp>
      <p:sp>
        <p:nvSpPr>
          <p:cNvPr id="17520" name="TextBox 17519">
            <a:extLst xmlns:a="http://schemas.openxmlformats.org/drawingml/2006/main">
              <a:ext uri="{FF2B5EF4-FFF2-40B4-BE49-F238E27FC236}">
                <a16:creationId xmlns:a16="http://schemas.microsoft.com/office/drawing/2014/main" id="{CD79BCA0-8889-4E1B-BC69-38E229040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792224"/>
            <a:ext cx="2788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350" b="1" i="0">
                <a:solidFill>
                  <a:srgbClr val="0A4F70"/>
                </a:solidFill>
                <a:latin typeface="Times New Roman"/>
                <a:ea typeface="Times New Roman"/>
                <a:cs typeface="Times New Roman"/>
              </a:rPr>
              <a:t>Field &amp; Applied Research</a:t>
            </a:r>
          </a:p>
        </p:txBody>
      </p:sp>
      <p:sp>
        <p:nvSpPr>
          <p:cNvPr id="17521" name="TextBox 17520">
            <a:extLst xmlns:a="http://schemas.openxmlformats.org/drawingml/2006/main">
              <a:ext uri="{FF2B5EF4-FFF2-40B4-BE49-F238E27FC236}">
                <a16:creationId xmlns:a16="http://schemas.microsoft.com/office/drawing/2014/main" id="{79E9F183-68A2-4CAA-9ABE-5C5D7203A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103120"/>
            <a:ext cx="278892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marL="118872" indent="-118872" algn="l">
              <a:lnSpc>
                <a:spcPct val="93000"/>
              </a:lnSpc>
              <a:spcBef>
                <a:spcPts val="0"/>
              </a:spcBef>
              <a:spcAft>
                <a:spcPts val="300"/>
              </a:spcAft>
              <a:buClr>
                <a:srgbClr val="0F6E9A"/>
              </a:buClr>
              <a:buFont typeface="Arial"/>
              <a:buChar char="•"/>
            </a:pPr>
            <a:r>
              <a:rPr sz="90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70 official sources</a:t>
            </a:r>
            <a:r>
              <a:rPr sz="9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live-probed; </a:t>
            </a:r>
            <a:r>
              <a:rPr sz="90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public routes to IMD's own products</a:t>
            </a:r>
            <a:r>
              <a:rPr sz="9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found (Mausamgram, nowcast, stations).</a:t>
            </a:r>
          </a:p>
          <a:p xmlns:a="http://schemas.openxmlformats.org/drawingml/2006/main">
            <a:pPr marL="118872" indent="-118872" algn="l">
              <a:lnSpc>
                <a:spcPct val="93000"/>
              </a:lnSpc>
              <a:spcBef>
                <a:spcPts val="0"/>
              </a:spcBef>
              <a:spcAft>
                <a:spcPts val="300"/>
              </a:spcAft>
              <a:buClr>
                <a:srgbClr val="0F6E9A"/>
              </a:buClr>
              <a:buFont typeface="Arial"/>
              <a:buChar char="•"/>
            </a:pPr>
            <a:r>
              <a:rPr sz="90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306-turn atlas: 273 passed outcomes (22 Sep), including honest refusals; not forecast accuracy.</a:t>
            </a:r>
          </a:p>
          <a:p xmlns:a="http://schemas.openxmlformats.org/drawingml/2006/main">
            <a:pPr marL="118872" indent="-118872" algn="l">
              <a:lnSpc>
                <a:spcPct val="93000"/>
              </a:lnSpc>
              <a:spcBef>
                <a:spcPts val="0"/>
              </a:spcBef>
              <a:spcAft>
                <a:spcPts val="300"/>
              </a:spcAft>
              <a:buClr>
                <a:srgbClr val="0F6E9A"/>
              </a:buClr>
              <a:buFont typeface="Arial"/>
              <a:buChar char="•"/>
            </a:pPr>
            <a:r>
              <a:rPr sz="90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8 multi-turn probes:</a:t>
            </a:r>
            <a:r>
              <a:rPr sz="9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7 held end to end.</a:t>
            </a:r>
          </a:p>
          <a:p xmlns:a="http://schemas.openxmlformats.org/drawingml/2006/main">
            <a:pPr marL="118872" indent="-118872" algn="l">
              <a:lnSpc>
                <a:spcPct val="93000"/>
              </a:lnSpc>
              <a:spcBef>
                <a:spcPts val="0"/>
              </a:spcBef>
              <a:spcAft>
                <a:spcPts val="300"/>
              </a:spcAft>
              <a:buClr>
                <a:srgbClr val="0F6E9A"/>
              </a:buClr>
              <a:buFont typeface="Arial"/>
              <a:buChar char="•"/>
            </a:pPr>
            <a:r>
              <a:rPr sz="9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Aligned with </a:t>
            </a:r>
            <a:r>
              <a:rPr sz="90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Mission Mausam</a:t>
            </a:r>
            <a:r>
              <a:rPr sz="9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, the </a:t>
            </a:r>
            <a:r>
              <a:rPr sz="90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IndiaAI Mission</a:t>
            </a:r>
            <a:r>
              <a:rPr sz="9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, </a:t>
            </a:r>
            <a:r>
              <a:rPr sz="90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Bhashini</a:t>
            </a:r>
            <a:r>
              <a:rPr sz="9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and the UN </a:t>
            </a:r>
            <a:r>
              <a:rPr sz="90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Early Warnings for All</a:t>
            </a:r>
            <a:r>
              <a:rPr sz="9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7522" name="Rounded Rectangle 17521">
            <a:extLst xmlns:a="http://schemas.openxmlformats.org/drawingml/2006/main">
              <a:ext uri="{FF2B5EF4-FFF2-40B4-BE49-F238E27FC236}">
                <a16:creationId xmlns:a16="http://schemas.microsoft.com/office/drawing/2014/main" id="{22AFA2A7-3509-428D-A509-71F416FF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639312"/>
            <a:ext cx="2788920" cy="768096"/>
          </a:xfrm>
          <a:prstGeom xmlns:a="http://schemas.openxmlformats.org/drawingml/2006/main" prst="roundRect">
            <a:avLst>
              <a:gd name="adj" fmla="val 9523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C5D5E2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523" name="TextBox 17522">
            <a:extLst xmlns:a="http://schemas.openxmlformats.org/drawingml/2006/main">
              <a:ext uri="{FF2B5EF4-FFF2-40B4-BE49-F238E27FC236}">
                <a16:creationId xmlns:a16="http://schemas.microsoft.com/office/drawing/2014/main" id="{0CF72DB6-25ED-40FC-9101-94DDDF16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9552" y="3648456"/>
            <a:ext cx="269747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1" i="0">
                <a:solidFill>
                  <a:srgbClr val="0A4F70"/>
                </a:solidFill>
                <a:latin typeface="Arial"/>
                <a:ea typeface="Arial"/>
                <a:cs typeface="Arial"/>
              </a:rPr>
              <a:t>WHAT THE RESEARCH CHANGED</a:t>
            </a:r>
          </a:p>
        </p:txBody>
      </p:sp>
      <p:sp>
        <p:nvSpPr>
          <p:cNvPr id="17524" name="TextBox 17523">
            <a:extLst xmlns:a="http://schemas.openxmlformats.org/drawingml/2006/main">
              <a:ext uri="{FF2B5EF4-FFF2-40B4-BE49-F238E27FC236}">
                <a16:creationId xmlns:a16="http://schemas.microsoft.com/office/drawing/2014/main" id="{62EA9898-1624-4901-9E42-3B518DBB4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9552" y="3831336"/>
            <a:ext cx="2697479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Hallucination surveys → </a:t>
            </a:r>
            <a:r>
              <a:rPr sz="800" b="1" i="0">
                <a:solidFill>
                  <a:srgbClr val="14683E"/>
                </a:solidFill>
                <a:latin typeface="Arial"/>
                <a:ea typeface="Arial"/>
                <a:cs typeface="Arial"/>
              </a:rPr>
              <a:t>Satya Gate</a:t>
            </a:r>
          </a:p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RAG literature → </a:t>
            </a:r>
            <a:r>
              <a:rPr sz="800" b="1" i="0">
                <a:solidFill>
                  <a:srgbClr val="14683E"/>
                </a:solidFill>
                <a:latin typeface="Arial"/>
                <a:ea typeface="Arial"/>
                <a:cs typeface="Arial"/>
              </a:rPr>
              <a:t>cited bulletin answers</a:t>
            </a:r>
          </a:p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NCAER advisory value → </a:t>
            </a:r>
            <a:r>
              <a:rPr sz="800" b="1" i="0">
                <a:solidFill>
                  <a:srgbClr val="14683E"/>
                </a:solidFill>
                <a:latin typeface="Arial"/>
                <a:ea typeface="Arial"/>
                <a:cs typeface="Arial"/>
              </a:rPr>
              <a:t>Krishi Salah</a:t>
            </a:r>
          </a:p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CAP 1.2 · WIS 2.0 → </a:t>
            </a:r>
            <a:r>
              <a:rPr sz="800" b="1" i="0">
                <a:solidFill>
                  <a:srgbClr val="14683E"/>
                </a:solidFill>
                <a:latin typeface="Arial"/>
                <a:ea typeface="Arial"/>
                <a:cs typeface="Arial"/>
              </a:rPr>
              <a:t>Chetavani Relay</a:t>
            </a:r>
          </a:p>
        </p:txBody>
      </p:sp>
      <p:sp>
        <p:nvSpPr>
          <p:cNvPr id="17525" name="TextBox 17524">
            <a:extLst xmlns:a="http://schemas.openxmlformats.org/drawingml/2006/main">
              <a:ext uri="{FF2B5EF4-FFF2-40B4-BE49-F238E27FC236}">
                <a16:creationId xmlns:a16="http://schemas.microsoft.com/office/drawing/2014/main" id="{BE1EAB2B-E87D-4E13-9DA6-E4436C59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4480560"/>
            <a:ext cx="7863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0A4F70"/>
                </a:solidFill>
                <a:latin typeface="Times New Roman"/>
                <a:ea typeface="Times New Roman"/>
                <a:cs typeface="Times New Roman"/>
              </a:rPr>
              <a:t>Official Data, Standards &amp; Research Sources</a:t>
            </a:r>
          </a:p>
        </p:txBody>
      </p:sp>
      <p:sp>
        <p:nvSpPr>
          <p:cNvPr id="17526" name="TextBox 17525">
            <a:extLst xmlns:a="http://schemas.openxmlformats.org/drawingml/2006/main">
              <a:ext uri="{FF2B5EF4-FFF2-40B4-BE49-F238E27FC236}">
                <a16:creationId xmlns:a16="http://schemas.microsoft.com/office/drawing/2014/main" id="{E7729A5A-A750-4040-A18F-61F67695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4754880"/>
            <a:ext cx="393192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marL="118872" indent="-118872" algn="l">
              <a:lnSpc>
                <a:spcPct val="92000"/>
              </a:lnSpc>
              <a:spcBef>
                <a:spcPts val="0"/>
              </a:spcBef>
              <a:spcAft>
                <a:spcPts val="250"/>
              </a:spcAft>
              <a:buClr>
                <a:srgbClr val="0F6E9A"/>
              </a:buClr>
              <a:buFont typeface="Arial"/>
              <a:buChar char="•"/>
            </a:pPr>
            <a:r>
              <a:rPr sz="850" b="1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SIH26068: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Ministry of Earth Sciences · India Meteorological Department.  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  <a:hlinkClick xmlns:r="http://schemas.openxmlformats.org/officeDocument/2006/relationships" r:id="R793a13933ada4a38"/>
              </a:rPr>
              <a:t>sih.gov.in/sih2026PS</a:t>
            </a:r>
          </a:p>
          <a:p xmlns:a="http://schemas.openxmlformats.org/drawingml/2006/main">
            <a:pPr marL="118872" indent="-118872" algn="l">
              <a:lnSpc>
                <a:spcPct val="92000"/>
              </a:lnSpc>
              <a:spcBef>
                <a:spcPts val="0"/>
              </a:spcBef>
              <a:spcAft>
                <a:spcPts val="250"/>
              </a:spcAft>
              <a:buClr>
                <a:srgbClr val="0F6E9A"/>
              </a:buClr>
              <a:buFont typeface="Arial"/>
              <a:buChar char="•"/>
            </a:pPr>
            <a:r>
              <a:rPr sz="850" b="1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IMD Mausam: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forecasts, warnings, bulletins.  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  <a:hlinkClick xmlns:r="http://schemas.openxmlformats.org/officeDocument/2006/relationships" r:id="R784e77b81a0841e1"/>
              </a:rPr>
              <a:t>mausam.imd.gov.in</a:t>
            </a:r>
          </a:p>
          <a:p xmlns:a="http://schemas.openxmlformats.org/drawingml/2006/main">
            <a:pPr marL="118872" indent="-118872" algn="l">
              <a:lnSpc>
                <a:spcPct val="92000"/>
              </a:lnSpc>
              <a:spcBef>
                <a:spcPts val="0"/>
              </a:spcBef>
              <a:spcAft>
                <a:spcPts val="250"/>
              </a:spcAft>
              <a:buClr>
                <a:srgbClr val="0F6E9A"/>
              </a:buClr>
              <a:buFont typeface="Arial"/>
              <a:buChar char="•"/>
            </a:pPr>
            <a:r>
              <a:rPr sz="850" b="1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IMD GeoServer: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district-warning layers.  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  <a:hlinkClick xmlns:r="http://schemas.openxmlformats.org/officeDocument/2006/relationships" r:id="R883eea99eec44102"/>
              </a:rPr>
              <a:t>reactjs.imd.gov.in/geoserver</a:t>
            </a:r>
          </a:p>
          <a:p xmlns:a="http://schemas.openxmlformats.org/drawingml/2006/main">
            <a:pPr marL="118872" indent="-118872" algn="l">
              <a:lnSpc>
                <a:spcPct val="92000"/>
              </a:lnSpc>
              <a:spcBef>
                <a:spcPts val="0"/>
              </a:spcBef>
              <a:spcAft>
                <a:spcPts val="250"/>
              </a:spcAft>
              <a:buClr>
                <a:srgbClr val="0F6E9A"/>
              </a:buClr>
              <a:buFont typeface="Arial"/>
              <a:buChar char="•"/>
            </a:pPr>
            <a:r>
              <a:rPr sz="850" b="1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Mission Mausam: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Cabinet note, 2024.  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  <a:hlinkClick xmlns:r="http://schemas.openxmlformats.org/officeDocument/2006/relationships" r:id="R2b362bfbc0364671"/>
              </a:rPr>
              <a:t>pib.gov.in</a:t>
            </a:r>
          </a:p>
          <a:p xmlns:a="http://schemas.openxmlformats.org/drawingml/2006/main">
            <a:pPr marL="118872" indent="-118872" algn="l">
              <a:lnSpc>
                <a:spcPct val="92000"/>
              </a:lnSpc>
              <a:spcBef>
                <a:spcPts val="0"/>
              </a:spcBef>
              <a:spcAft>
                <a:spcPts val="250"/>
              </a:spcAft>
              <a:buClr>
                <a:srgbClr val="0F6E9A"/>
              </a:buClr>
              <a:buFont typeface="Arial"/>
              <a:buChar char="•"/>
            </a:pPr>
            <a:r>
              <a:rPr sz="850" b="1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WMO WIS 2.0 · OASIS CAP 1.2: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  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  <a:hlinkClick xmlns:r="http://schemas.openxmlformats.org/officeDocument/2006/relationships" r:id="R8aa6fba62f0248be"/>
              </a:rPr>
              <a:t>community.wmo.int</a:t>
            </a:r>
          </a:p>
          <a:p xmlns:a="http://schemas.openxmlformats.org/drawingml/2006/main">
            <a:pPr marL="118872" indent="-118872" algn="l">
              <a:lnSpc>
                <a:spcPct val="92000"/>
              </a:lnSpc>
              <a:spcBef>
                <a:spcPts val="0"/>
              </a:spcBef>
              <a:spcAft>
                <a:spcPts val="250"/>
              </a:spcAft>
              <a:buClr>
                <a:srgbClr val="0F6E9A"/>
              </a:buClr>
              <a:buFont typeface="Arial"/>
              <a:buChar char="•"/>
            </a:pPr>
            <a:r>
              <a:rPr sz="850" b="1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NDMA SACHET: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national CAP alert portal.  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  <a:hlinkClick xmlns:r="http://schemas.openxmlformats.org/officeDocument/2006/relationships" r:id="Rd8ef283d93fc48ea"/>
              </a:rPr>
              <a:t>sachet.ndma.gov.in</a:t>
            </a:r>
          </a:p>
          <a:p xmlns:a="http://schemas.openxmlformats.org/drawingml/2006/main">
            <a:pPr marL="118872" indent="-118872" algn="l">
              <a:lnSpc>
                <a:spcPct val="92000"/>
              </a:lnSpc>
              <a:spcBef>
                <a:spcPts val="0"/>
              </a:spcBef>
              <a:spcAft>
                <a:spcPts val="250"/>
              </a:spcAft>
              <a:buClr>
                <a:srgbClr val="0F6E9A"/>
              </a:buClr>
              <a:buFont typeface="Arial"/>
              <a:buChar char="•"/>
            </a:pPr>
            <a:r>
              <a:rPr sz="850" b="1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IMD Pune open data: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rainfall &amp; temperature since 1901.  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  <a:hlinkClick xmlns:r="http://schemas.openxmlformats.org/officeDocument/2006/relationships" r:id="R30d1cce9dc6c4a75"/>
              </a:rPr>
              <a:t>dsp.imdpune.gov.in</a:t>
            </a:r>
          </a:p>
          <a:p xmlns:a="http://schemas.openxmlformats.org/drawingml/2006/main">
            <a:pPr marL="118872" indent="-118872" algn="l">
              <a:lnSpc>
                <a:spcPct val="92000"/>
              </a:lnSpc>
              <a:spcBef>
                <a:spcPts val="0"/>
              </a:spcBef>
              <a:spcAft>
                <a:spcPts val="250"/>
              </a:spcAft>
              <a:buClr>
                <a:srgbClr val="0F6E9A"/>
              </a:buClr>
              <a:buFont typeface="Arial"/>
              <a:buChar char="•"/>
            </a:pPr>
            <a:r>
              <a:rPr sz="850" b="1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data.gov.in · CERT-In: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open IMD datasets · log directions.  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  <a:hlinkClick xmlns:r="http://schemas.openxmlformats.org/officeDocument/2006/relationships" r:id="R8b24f5659b774fe7"/>
              </a:rPr>
              <a:t>data.gov.in</a:t>
            </a:r>
          </a:p>
        </p:txBody>
      </p:sp>
      <p:sp>
        <p:nvSpPr>
          <p:cNvPr id="17527" name="TextBox 17526">
            <a:extLst xmlns:a="http://schemas.openxmlformats.org/drawingml/2006/main">
              <a:ext uri="{FF2B5EF4-FFF2-40B4-BE49-F238E27FC236}">
                <a16:creationId xmlns:a16="http://schemas.microsoft.com/office/drawing/2014/main" id="{BDA61DEE-44DA-41EB-AE4A-B22AA9DF5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4754880"/>
            <a:ext cx="38862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marL="118872" indent="-118872" algn="l">
              <a:lnSpc>
                <a:spcPct val="92000"/>
              </a:lnSpc>
              <a:spcBef>
                <a:spcPts val="0"/>
              </a:spcBef>
              <a:spcAft>
                <a:spcPts val="250"/>
              </a:spcAft>
              <a:buClr>
                <a:srgbClr val="0F6E9A"/>
              </a:buClr>
              <a:buFont typeface="Arial"/>
              <a:buChar char="•"/>
            </a:pPr>
            <a:r>
              <a:rPr sz="850" b="1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NOAA GFS · Open-Meteo: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numerical weather prediction.  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  <a:hlinkClick xmlns:r="http://schemas.openxmlformats.org/officeDocument/2006/relationships" r:id="Rf2af7bb1ef7c4e94"/>
              </a:rPr>
              <a:t>open-meteo.com</a:t>
            </a:r>
          </a:p>
          <a:p xmlns:a="http://schemas.openxmlformats.org/drawingml/2006/main">
            <a:pPr marL="118872" indent="-118872" algn="l">
              <a:lnSpc>
                <a:spcPct val="92000"/>
              </a:lnSpc>
              <a:spcBef>
                <a:spcPts val="0"/>
              </a:spcBef>
              <a:spcAft>
                <a:spcPts val="250"/>
              </a:spcAft>
              <a:buClr>
                <a:srgbClr val="0F6E9A"/>
              </a:buClr>
              <a:buFont typeface="Arial"/>
              <a:buChar char="•"/>
            </a:pPr>
            <a:r>
              <a:rPr sz="850" b="1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Lewis et al., 2020: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Retrieval-Augmented Generation.  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  <a:hlinkClick xmlns:r="http://schemas.openxmlformats.org/officeDocument/2006/relationships" r:id="R6ab898866909447b"/>
              </a:rPr>
              <a:t>arXiv:2005.11401</a:t>
            </a:r>
          </a:p>
          <a:p xmlns:a="http://schemas.openxmlformats.org/drawingml/2006/main">
            <a:pPr marL="118872" indent="-118872" algn="l">
              <a:lnSpc>
                <a:spcPct val="92000"/>
              </a:lnSpc>
              <a:spcBef>
                <a:spcPts val="0"/>
              </a:spcBef>
              <a:spcAft>
                <a:spcPts val="250"/>
              </a:spcAft>
              <a:buClr>
                <a:srgbClr val="0F6E9A"/>
              </a:buClr>
              <a:buFont typeface="Arial"/>
              <a:buChar char="•"/>
            </a:pPr>
            <a:r>
              <a:rPr sz="850" b="1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Ji et al., 2023: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hallucination in NLG, ACM CSUR.  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  <a:hlinkClick xmlns:r="http://schemas.openxmlformats.org/officeDocument/2006/relationships" r:id="Re478b317aee44244"/>
              </a:rPr>
              <a:t>arXiv:2202.03629</a:t>
            </a:r>
          </a:p>
          <a:p xmlns:a="http://schemas.openxmlformats.org/drawingml/2006/main">
            <a:pPr marL="118872" indent="-118872" algn="l">
              <a:lnSpc>
                <a:spcPct val="92000"/>
              </a:lnSpc>
              <a:spcBef>
                <a:spcPts val="0"/>
              </a:spcBef>
              <a:spcAft>
                <a:spcPts val="250"/>
              </a:spcAft>
              <a:buClr>
                <a:srgbClr val="0F6E9A"/>
              </a:buClr>
              <a:buFont typeface="Arial"/>
              <a:buChar char="•"/>
            </a:pPr>
            <a:r>
              <a:rPr sz="850" b="1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NCAER, 2020: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value of weather advisories.  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  <a:hlinkClick xmlns:r="http://schemas.openxmlformats.org/officeDocument/2006/relationships" r:id="R26127da7972345c4"/>
              </a:rPr>
              <a:t>NCAER2020.pdf</a:t>
            </a:r>
          </a:p>
          <a:p xmlns:a="http://schemas.openxmlformats.org/drawingml/2006/main">
            <a:pPr marL="118872" indent="-118872" algn="l">
              <a:lnSpc>
                <a:spcPct val="92000"/>
              </a:lnSpc>
              <a:spcBef>
                <a:spcPts val="0"/>
              </a:spcBef>
              <a:spcAft>
                <a:spcPts val="250"/>
              </a:spcAft>
              <a:buClr>
                <a:srgbClr val="0F6E9A"/>
              </a:buClr>
              <a:buFont typeface="Arial"/>
              <a:buChar char="•"/>
            </a:pPr>
            <a:r>
              <a:rPr sz="850" b="1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CSE · Down To Earth: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Climate India 2025.  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  <a:hlinkClick xmlns:r="http://schemas.openxmlformats.org/officeDocument/2006/relationships" r:id="Ra777ab81e2f04519"/>
              </a:rPr>
              <a:t>cseindia.org</a:t>
            </a:r>
          </a:p>
          <a:p xmlns:a="http://schemas.openxmlformats.org/drawingml/2006/main">
            <a:pPr marL="118872" indent="-118872" algn="l">
              <a:lnSpc>
                <a:spcPct val="92000"/>
              </a:lnSpc>
              <a:spcBef>
                <a:spcPts val="0"/>
              </a:spcBef>
              <a:spcAft>
                <a:spcPts val="250"/>
              </a:spcAft>
              <a:buClr>
                <a:srgbClr val="0F6E9A"/>
              </a:buClr>
              <a:buFont typeface="Arial"/>
              <a:buChar char="•"/>
            </a:pPr>
            <a:r>
              <a:rPr sz="850" b="1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Sarvam AI: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sovereign LLM, IndiaAI Mission; Saaras, Bulbul, Translate.  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  <a:hlinkClick xmlns:r="http://schemas.openxmlformats.org/officeDocument/2006/relationships" r:id="R387b46d0aa9a4c67"/>
              </a:rPr>
              <a:t>sarvam.ai/models</a:t>
            </a:r>
          </a:p>
          <a:p xmlns:a="http://schemas.openxmlformats.org/drawingml/2006/main">
            <a:pPr marL="118872" indent="-118872" algn="l">
              <a:lnSpc>
                <a:spcPct val="92000"/>
              </a:lnSpc>
              <a:spcBef>
                <a:spcPts val="0"/>
              </a:spcBef>
              <a:spcAft>
                <a:spcPts val="250"/>
              </a:spcAft>
              <a:buClr>
                <a:srgbClr val="0F6E9A"/>
              </a:buClr>
              <a:buFont typeface="Arial"/>
              <a:buChar char="•"/>
            </a:pPr>
            <a:r>
              <a:rPr sz="850" b="1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IndiaAI compute: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</a:rPr>
              <a:t> sovereign GPUs for Indian models.  </a:t>
            </a:r>
            <a:r>
              <a:rPr sz="850" b="0" i="0">
                <a:solidFill>
                  <a:srgbClr val="1B2A30"/>
                </a:solidFill>
                <a:latin typeface="Arial"/>
                <a:ea typeface="Arial"/>
                <a:cs typeface="Arial"/>
                <a:hlinkClick xmlns:r="http://schemas.openxmlformats.org/officeDocument/2006/relationships" r:id="R99444248e10f471b"/>
              </a:rPr>
              <a:t>indiaai.gov.in</a:t>
            </a:r>
          </a:p>
        </p:txBody>
      </p:sp>
      <p:sp>
        <p:nvSpPr>
          <p:cNvPr id="17528" name="Rounded Rectangle 17527">
            <a:extLst xmlns:a="http://schemas.openxmlformats.org/drawingml/2006/main">
              <a:ext uri="{FF2B5EF4-FFF2-40B4-BE49-F238E27FC236}">
                <a16:creationId xmlns:a16="http://schemas.microsoft.com/office/drawing/2014/main" id="{46C594B7-802D-4F5C-9B0B-139C6DED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2208" y="1097280"/>
            <a:ext cx="3392423" cy="5166360"/>
          </a:xfrm>
          <a:prstGeom xmlns:a="http://schemas.openxmlformats.org/drawingml/2006/main" prst="roundRect">
            <a:avLst>
              <a:gd name="adj" fmla="val 3773"/>
            </a:avLst>
          </a:prstGeom>
          <a:solidFill xmlns:a="http://schemas.openxmlformats.org/drawingml/2006/main">
            <a:srgbClr val="0B2239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529" name="TextBox 17528">
            <a:extLst xmlns:a="http://schemas.openxmlformats.org/drawingml/2006/main">
              <a:ext uri="{FF2B5EF4-FFF2-40B4-BE49-F238E27FC236}">
                <a16:creationId xmlns:a16="http://schemas.microsoft.com/office/drawing/2014/main" id="{57E0B342-3E61-4DF4-B4E2-D24B9BA15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2208" y="1161288"/>
            <a:ext cx="3392423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8AD8F5"/>
                </a:solidFill>
                <a:latin typeface="Times New Roman"/>
                <a:ea typeface="Times New Roman"/>
                <a:cs typeface="Times New Roman"/>
              </a:rPr>
              <a:t>Watch the demo · 7:15</a:t>
            </a:r>
          </a:p>
        </p:txBody>
      </p:sp>
      <p:sp>
        <p:nvSpPr>
          <p:cNvPr id="17530" name="Rounded Rectangle 17529">
            <a:extLst xmlns:a="http://schemas.openxmlformats.org/drawingml/2006/main">
              <a:ext uri="{FF2B5EF4-FFF2-40B4-BE49-F238E27FC236}">
                <a16:creationId xmlns:a16="http://schemas.microsoft.com/office/drawing/2014/main" id="{7E85DA26-E31D-4C9F-B6D2-3D4B2B910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2056" y="1517904"/>
            <a:ext cx="1252728" cy="1252728"/>
          </a:xfrm>
          <a:prstGeom xmlns:a="http://schemas.openxmlformats.org/drawingml/2006/main" prst="roundRect">
            <a:avLst>
              <a:gd name="adj" fmla="val 43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7705" name="Picture 17530" descr="Scan or click to watch the WeatherGPT submission demo">
            <ns0:hlinkClick xmlns:ns0="http://schemas.openxmlformats.org/drawingml/2006/main" xmlns:ns1="http://schemas.openxmlformats.org/officeDocument/2006/relationships" ns1:id="rIdSubmission3" tooltip="Click to watch the demo"/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d60f200fa44c8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46920" y="1572768"/>
            <a:ext cx="1143000" cy="1143000"/>
          </a:xfrm>
          <a:prstGeom xmlns:a="http://schemas.openxmlformats.org/drawingml/2006/main" prst="rect">
            <a:avLst/>
          </a:prstGeom>
        </p:spPr>
      </p:pic>
      <p:sp>
        <p:nvSpPr>
          <p:cNvPr id="17532" name="TextBox 17531" descr="Scan or click to watch the WeatherGPT submission demo">
            <a:extLst xmlns:a="http://schemas.openxmlformats.org/drawingml/2006/main">
              <a:ext uri="{FF2B5EF4-FFF2-40B4-BE49-F238E27FC236}">
                <a16:creationId xmlns:a16="http://schemas.microsoft.com/office/drawing/2014/main" id="{5CE18C52-DE9F-44E5-8A0B-0EADFCCB98F8}"/>
              </a:ext>
            </a:extLst>
            <ns2:hlinkClick xmlns:ns2="http://schemas.openxmlformats.org/drawingml/2006/main" xmlns:ns3="http://schemas.openxmlformats.org/officeDocument/2006/relationships" ns3:id="rIdSubmission4" tooltip="Click to watch the demo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2816352"/>
            <a:ext cx="3209544" cy="3429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8AD8F5"/>
                </a:solidFill>
                <a:latin typeface="Arial"/>
                <a:ea typeface="Arial"/>
                <a:cs typeface="Arial"/>
              </a:rPr>
              <a:t>Scan or click the QR code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>
                <a:solidFill>
                  <a:srgbClr val="8AD8F5"/>
                </a:solidFill>
                <a:latin typeface="Arial"/>
                <a:ea typeface="Arial"/>
                <a:cs typeface="Arial"/>
              </a:rPr>
              <a:t>youtu.be/NVT6EnklEVQ</a:t>
            </a:r>
          </a:p>
        </p:txBody>
      </p:sp>
      <p:sp>
        <p:nvSpPr>
          <p:cNvPr id="17533" name="Rounded Rectangle 17532">
            <a:extLst xmlns:a="http://schemas.openxmlformats.org/drawingml/2006/main">
              <a:ext uri="{FF2B5EF4-FFF2-40B4-BE49-F238E27FC236}">
                <a16:creationId xmlns:a16="http://schemas.microsoft.com/office/drawing/2014/main" id="{5A030CFE-B25D-48C4-BE07-B6AD6E8E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1936" y="3474720"/>
            <a:ext cx="3172967" cy="2679192"/>
          </a:xfrm>
          <a:prstGeom xmlns:a="http://schemas.openxmlformats.org/drawingml/2006/main" prst="roundRect">
            <a:avLst>
              <a:gd name="adj" fmla="val 3412"/>
            </a:avLst>
          </a:prstGeom>
          <a:solidFill xmlns:a="http://schemas.openxmlformats.org/drawingml/2006/main">
            <a:srgbClr val="163A5C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7534" name="TextBox 17533">
            <a:extLst xmlns:a="http://schemas.openxmlformats.org/drawingml/2006/main">
              <a:ext uri="{FF2B5EF4-FFF2-40B4-BE49-F238E27FC236}">
                <a16:creationId xmlns:a16="http://schemas.microsoft.com/office/drawing/2014/main" id="{B62F72BC-D9D0-4540-8EA9-6D1E818DE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1936" y="3511296"/>
            <a:ext cx="3172967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8AD8F5"/>
                </a:solidFill>
                <a:latin typeface="Times New Roman"/>
                <a:ea typeface="Times New Roman"/>
                <a:cs typeface="Times New Roman"/>
              </a:rPr>
              <a:t>IMD's evaluation parameters → our answer</a:t>
            </a:r>
          </a:p>
        </p:txBody>
      </p:sp>
      <p:sp>
        <p:nvSpPr>
          <p:cNvPr id="17535" name="TextBox 17534">
            <a:extLst xmlns:a="http://schemas.openxmlformats.org/drawingml/2006/main">
              <a:ext uri="{FF2B5EF4-FFF2-40B4-BE49-F238E27FC236}">
                <a16:creationId xmlns:a16="http://schemas.microsoft.com/office/drawing/2014/main" id="{86B30E7E-F28F-4890-A862-75175B685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088" y="3813048"/>
            <a:ext cx="3026663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Accuracy &amp; relevance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CFE0F2"/>
                </a:solidFill>
                <a:latin typeface="Arial"/>
                <a:ea typeface="Arial"/>
                <a:cs typeface="Arial"/>
              </a:rPr>
              <a:t>Claim checks + receipts; forecast skill unvalidated</a:t>
            </a:r>
          </a:p>
        </p:txBody>
      </p:sp>
      <p:sp>
        <p:nvSpPr>
          <p:cNvPr id="17536" name="TextBox 17535">
            <a:extLst xmlns:a="http://schemas.openxmlformats.org/drawingml/2006/main">
              <a:ext uri="{FF2B5EF4-FFF2-40B4-BE49-F238E27FC236}">
                <a16:creationId xmlns:a16="http://schemas.microsoft.com/office/drawing/2014/main" id="{E9EABE31-6191-4AB1-9D3B-7410AF1E6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088" y="4144060"/>
            <a:ext cx="3026663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Response latency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CFE0F2"/>
                </a:solidFill>
                <a:latin typeface="Arial"/>
                <a:ea typeface="Arial"/>
                <a:cs typeface="Arial"/>
              </a:rPr>
              <a:t>Streaming UI; cold retrieval can take longer</a:t>
            </a:r>
          </a:p>
        </p:txBody>
      </p:sp>
      <p:sp>
        <p:nvSpPr>
          <p:cNvPr id="17537" name="TextBox 17536">
            <a:extLst xmlns:a="http://schemas.openxmlformats.org/drawingml/2006/main">
              <a:ext uri="{FF2B5EF4-FFF2-40B4-BE49-F238E27FC236}">
                <a16:creationId xmlns:a16="http://schemas.microsoft.com/office/drawing/2014/main" id="{1BDF8E32-D833-4CF2-9207-B8E6926BD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088" y="4475073"/>
            <a:ext cx="3026663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Multilingual capability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CFE0F2"/>
                </a:solidFill>
                <a:latin typeface="Arial"/>
                <a:ea typeface="Arial"/>
                <a:cs typeface="Arial"/>
              </a:rPr>
              <a:t>Hindi / Gujarati demos; broader acceptance open</a:t>
            </a:r>
          </a:p>
        </p:txBody>
      </p:sp>
      <p:sp>
        <p:nvSpPr>
          <p:cNvPr id="17538" name="TextBox 17537">
            <a:extLst xmlns:a="http://schemas.openxmlformats.org/drawingml/2006/main">
              <a:ext uri="{FF2B5EF4-FFF2-40B4-BE49-F238E27FC236}">
                <a16:creationId xmlns:a16="http://schemas.microsoft.com/office/drawing/2014/main" id="{DAE15FC2-E59A-4166-BB9E-CBCC3F690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088" y="4806086"/>
            <a:ext cx="3026663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UI &amp; accessibility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CFE0F2"/>
                </a:solidFill>
                <a:latin typeface="Arial"/>
                <a:ea typeface="Arial"/>
                <a:cs typeface="Arial"/>
              </a:rPr>
              <a:t>Responsive web; real-device acceptance open</a:t>
            </a:r>
          </a:p>
        </p:txBody>
      </p:sp>
      <p:sp>
        <p:nvSpPr>
          <p:cNvPr id="17539" name="TextBox 17538">
            <a:extLst xmlns:a="http://schemas.openxmlformats.org/drawingml/2006/main">
              <a:ext uri="{FF2B5EF4-FFF2-40B4-BE49-F238E27FC236}">
                <a16:creationId xmlns:a16="http://schemas.microsoft.com/office/drawing/2014/main" id="{7417C52F-164D-48EF-908C-19B314823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088" y="5137099"/>
            <a:ext cx="3026663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Scalability &amp; innovation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CFE0F2"/>
                </a:solidFill>
                <a:latin typeface="Arial"/>
                <a:ea typeface="Arial"/>
                <a:cs typeface="Arial"/>
              </a:rPr>
              <a:t>Local SQLite; production scale untested</a:t>
            </a:r>
          </a:p>
        </p:txBody>
      </p:sp>
      <p:sp>
        <p:nvSpPr>
          <p:cNvPr id="17540" name="TextBox 17539">
            <a:extLst xmlns:a="http://schemas.openxmlformats.org/drawingml/2006/main">
              <a:ext uri="{FF2B5EF4-FFF2-40B4-BE49-F238E27FC236}">
                <a16:creationId xmlns:a16="http://schemas.microsoft.com/office/drawing/2014/main" id="{3C85AAFA-869A-44C8-856C-9AF7A7FAB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088" y="5468112"/>
            <a:ext cx="3026663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Real-time integration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CFE0F2"/>
                </a:solidFill>
                <a:latin typeface="Arial"/>
                <a:ea typeface="Arial"/>
                <a:cs typeface="Arial"/>
              </a:rPr>
              <a:t>IMD warnings, nowcast, Mausamgram connected</a:t>
            </a:r>
          </a:p>
        </p:txBody>
      </p:sp>
      <p:sp>
        <p:nvSpPr>
          <p:cNvPr id="17541" name="TextBox 17540">
            <a:extLst xmlns:a="http://schemas.openxmlformats.org/drawingml/2006/main">
              <a:ext uri="{FF2B5EF4-FFF2-40B4-BE49-F238E27FC236}">
                <a16:creationId xmlns:a16="http://schemas.microsoft.com/office/drawing/2014/main" id="{163D08E1-F5B9-4163-B7A6-FD13B1DC9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088" y="5799124"/>
            <a:ext cx="3026663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ctr"/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Voice for rural access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CFE0F2"/>
                </a:solidFill>
                <a:latin typeface="Arial"/>
                <a:ea typeface="Arial"/>
                <a:cs typeface="Arial"/>
              </a:rPr>
              <a:t>Hindi ASR demo; spoken-answer UI incomplete</a:t>
            </a:r>
          </a:p>
        </p:txBody>
      </p:sp>
      <p:sp>
        <p:nvSpPr>
          <p:cNvPr id="17582" name="Submission source-code link" descr="Open GitHub source code, README and evidence">
            <a:extLst xmlns:a="http://schemas.openxmlformats.org/drawingml/2006/main">
              <a:ext uri="{FF2B5EF4-FFF2-40B4-BE49-F238E27FC236}">
                <a16:creationId xmlns:a16="http://schemas.microsoft.com/office/drawing/2014/main" id="{F9CFCB02-70F7-46D1-B817-940F2CEFC050}"/>
              </a:ext>
            </a:extLst>
            <ns4:hlinkClick xmlns:ns4="http://schemas.openxmlformats.org/drawingml/2006/main" xmlns:ns5="http://schemas.openxmlformats.org/officeDocument/2006/relationships" ns5:id="rIdSubmission5" tooltip="Open source code and evidence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209925"/>
            <a:ext cx="3048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773" b="1">
                <a:solidFill>
                  <a:srgbClr val="8AD8F5"/>
                </a:solidFill>
                <a:latin typeface="Arial"/>
                <a:ea typeface="Arial"/>
                <a:cs typeface="Arial"/>
              </a:defRPr>
            </a:pPr>
            <a:r>
              <a:rPr sz="773" b="1">
                <a:solidFill>
                  <a:srgbClr val="8AD8F5"/>
                </a:solidFill>
                <a:latin typeface="Arial"/>
                <a:ea typeface="Arial"/>
                <a:cs typeface="Arial"/>
              </a:rPr>
              <a:t>Open GitHub: code, README and evidence</a:t>
            </a:r>
          </a:p>
        </p:txBody>
      </p:sp>
      <p:pic>
        <p:nvPicPr>
          <p:cNvPr id="177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b9308c00064a37"/>
          <a:stretch xmlns:a="http://schemas.openxmlformats.org/drawingml/2006/main"/>
        </p:blipFill>
        <p:spPr>
          <a:xfrm xmlns:a="http://schemas.openxmlformats.org/drawingml/2006/main">
            <a:off x="9780822" y="1524"/>
            <a:ext cx="2248320" cy="106232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2026-09-27T11:43:01.5600000Z</dcterms:created>
  <dcterms:modified xsi:type="dcterms:W3CDTF">2026-09-27T11:43:01.5600000Z</dcterms:modified>
</coreProperties>
</file>